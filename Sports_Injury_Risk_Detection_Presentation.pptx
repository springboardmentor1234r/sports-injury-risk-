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al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5078" y="4040174"/>
            <a:ext cx="11442780" cy="5496238"/>
          </a:xfrm>
          <a:custGeom>
            <a:avLst/>
            <a:gdLst/>
            <a:ahLst/>
            <a:cxnLst/>
            <a:rect r="r" b="b" t="t" l="l"/>
            <a:pathLst>
              <a:path h="5496238" w="11442780">
                <a:moveTo>
                  <a:pt x="0" y="0"/>
                </a:moveTo>
                <a:lnTo>
                  <a:pt x="11442780" y="0"/>
                </a:lnTo>
                <a:lnTo>
                  <a:pt x="11442780" y="5496238"/>
                </a:lnTo>
                <a:lnTo>
                  <a:pt x="0" y="5496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3" t="-28960" r="-7097" b="-3014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0346" y="699305"/>
            <a:ext cx="17372245" cy="1249417"/>
            <a:chOff x="0" y="0"/>
            <a:chExt cx="3574536" cy="257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4536" cy="257082"/>
            </a:xfrm>
            <a:custGeom>
              <a:avLst/>
              <a:gdLst/>
              <a:ahLst/>
              <a:cxnLst/>
              <a:rect r="r" b="b" t="t" l="l"/>
              <a:pathLst>
                <a:path h="257082" w="3574536">
                  <a:moveTo>
                    <a:pt x="8704" y="0"/>
                  </a:moveTo>
                  <a:lnTo>
                    <a:pt x="3565832" y="0"/>
                  </a:lnTo>
                  <a:cubicBezTo>
                    <a:pt x="3568140" y="0"/>
                    <a:pt x="3570355" y="917"/>
                    <a:pt x="3571987" y="2549"/>
                  </a:cubicBezTo>
                  <a:cubicBezTo>
                    <a:pt x="3573619" y="4182"/>
                    <a:pt x="3574536" y="6396"/>
                    <a:pt x="3574536" y="8704"/>
                  </a:cubicBezTo>
                  <a:lnTo>
                    <a:pt x="3574536" y="248378"/>
                  </a:lnTo>
                  <a:cubicBezTo>
                    <a:pt x="3574536" y="250686"/>
                    <a:pt x="3573619" y="252900"/>
                    <a:pt x="3571987" y="254532"/>
                  </a:cubicBezTo>
                  <a:cubicBezTo>
                    <a:pt x="3570355" y="256165"/>
                    <a:pt x="3568140" y="257082"/>
                    <a:pt x="3565832" y="257082"/>
                  </a:cubicBezTo>
                  <a:lnTo>
                    <a:pt x="8704" y="257082"/>
                  </a:lnTo>
                  <a:cubicBezTo>
                    <a:pt x="6396" y="257082"/>
                    <a:pt x="4182" y="256165"/>
                    <a:pt x="2549" y="254532"/>
                  </a:cubicBezTo>
                  <a:cubicBezTo>
                    <a:pt x="917" y="252900"/>
                    <a:pt x="0" y="250686"/>
                    <a:pt x="0" y="248378"/>
                  </a:cubicBezTo>
                  <a:lnTo>
                    <a:pt x="0" y="8704"/>
                  </a:lnTo>
                  <a:cubicBezTo>
                    <a:pt x="0" y="6396"/>
                    <a:pt x="917" y="4182"/>
                    <a:pt x="2549" y="2549"/>
                  </a:cubicBezTo>
                  <a:cubicBezTo>
                    <a:pt x="4182" y="917"/>
                    <a:pt x="6396" y="0"/>
                    <a:pt x="8704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74536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22158" y="661205"/>
            <a:ext cx="17215024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6"/>
              </a:lnSpc>
            </a:pPr>
            <a:r>
              <a:rPr lang="en-US" sz="7705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Sports Injury Risk Detection System</a:t>
            </a:r>
          </a:p>
          <a:p>
            <a:pPr algn="l">
              <a:lnSpc>
                <a:spcPts val="4922"/>
              </a:lnSpc>
            </a:pPr>
          </a:p>
          <a:p>
            <a:pPr algn="l">
              <a:lnSpc>
                <a:spcPts val="4922"/>
              </a:lnSpc>
            </a:pPr>
            <a:r>
              <a:rPr lang="en-US" sz="41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AI-Powered Biomechanical Motion Analysis &amp; Real-Time Injury Prevention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8213" y="2519739"/>
            <a:ext cx="11039625" cy="6738561"/>
            <a:chOff x="0" y="0"/>
            <a:chExt cx="2271528" cy="13865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1528" cy="1386535"/>
            </a:xfrm>
            <a:custGeom>
              <a:avLst/>
              <a:gdLst/>
              <a:ahLst/>
              <a:cxnLst/>
              <a:rect r="r" b="b" t="t" l="l"/>
              <a:pathLst>
                <a:path h="1386535" w="2271528">
                  <a:moveTo>
                    <a:pt x="13697" y="0"/>
                  </a:moveTo>
                  <a:lnTo>
                    <a:pt x="2257831" y="0"/>
                  </a:lnTo>
                  <a:cubicBezTo>
                    <a:pt x="2261463" y="0"/>
                    <a:pt x="2264947" y="1443"/>
                    <a:pt x="2267516" y="4012"/>
                  </a:cubicBezTo>
                  <a:cubicBezTo>
                    <a:pt x="2270084" y="6580"/>
                    <a:pt x="2271528" y="10064"/>
                    <a:pt x="2271528" y="13697"/>
                  </a:cubicBezTo>
                  <a:lnTo>
                    <a:pt x="2271528" y="1372838"/>
                  </a:lnTo>
                  <a:cubicBezTo>
                    <a:pt x="2271528" y="1380403"/>
                    <a:pt x="2265395" y="1386535"/>
                    <a:pt x="2257831" y="1386535"/>
                  </a:cubicBezTo>
                  <a:lnTo>
                    <a:pt x="13697" y="1386535"/>
                  </a:lnTo>
                  <a:cubicBezTo>
                    <a:pt x="10064" y="1386535"/>
                    <a:pt x="6580" y="1385092"/>
                    <a:pt x="4012" y="1382523"/>
                  </a:cubicBezTo>
                  <a:cubicBezTo>
                    <a:pt x="1443" y="1379955"/>
                    <a:pt x="0" y="1376471"/>
                    <a:pt x="0" y="1372838"/>
                  </a:cubicBezTo>
                  <a:lnTo>
                    <a:pt x="0" y="13697"/>
                  </a:lnTo>
                  <a:cubicBezTo>
                    <a:pt x="0" y="6132"/>
                    <a:pt x="6132" y="0"/>
                    <a:pt x="13697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1528" cy="142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8213" y="789449"/>
            <a:ext cx="10588226" cy="1249417"/>
            <a:chOff x="0" y="0"/>
            <a:chExt cx="2178647" cy="2570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8647" cy="257082"/>
            </a:xfrm>
            <a:custGeom>
              <a:avLst/>
              <a:gdLst/>
              <a:ahLst/>
              <a:cxnLst/>
              <a:rect r="r" b="b" t="t" l="l"/>
              <a:pathLst>
                <a:path h="257082" w="2178647">
                  <a:moveTo>
                    <a:pt x="14281" y="0"/>
                  </a:moveTo>
                  <a:lnTo>
                    <a:pt x="2164366" y="0"/>
                  </a:lnTo>
                  <a:cubicBezTo>
                    <a:pt x="2172253" y="0"/>
                    <a:pt x="2178647" y="6394"/>
                    <a:pt x="2178647" y="14281"/>
                  </a:cubicBezTo>
                  <a:lnTo>
                    <a:pt x="2178647" y="242801"/>
                  </a:lnTo>
                  <a:cubicBezTo>
                    <a:pt x="2178647" y="250688"/>
                    <a:pt x="2172253" y="257082"/>
                    <a:pt x="2164366" y="257082"/>
                  </a:cubicBezTo>
                  <a:lnTo>
                    <a:pt x="14281" y="257082"/>
                  </a:lnTo>
                  <a:cubicBezTo>
                    <a:pt x="6394" y="257082"/>
                    <a:pt x="0" y="250688"/>
                    <a:pt x="0" y="242801"/>
                  </a:cubicBezTo>
                  <a:lnTo>
                    <a:pt x="0" y="14281"/>
                  </a:lnTo>
                  <a:cubicBezTo>
                    <a:pt x="0" y="6394"/>
                    <a:pt x="6394" y="0"/>
                    <a:pt x="14281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78647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59207" y="624526"/>
            <a:ext cx="4124359" cy="9037947"/>
          </a:xfrm>
          <a:custGeom>
            <a:avLst/>
            <a:gdLst/>
            <a:ahLst/>
            <a:cxnLst/>
            <a:rect r="r" b="b" t="t" l="l"/>
            <a:pathLst>
              <a:path h="9037947" w="4124359">
                <a:moveTo>
                  <a:pt x="0" y="0"/>
                </a:moveTo>
                <a:lnTo>
                  <a:pt x="4124359" y="0"/>
                </a:lnTo>
                <a:lnTo>
                  <a:pt x="4124359" y="9037948"/>
                </a:lnTo>
                <a:lnTo>
                  <a:pt x="0" y="9037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2826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4"/>
              </a:lnSpc>
            </a:pPr>
            <a:r>
              <a:rPr lang="en-US" sz="7804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Theme &amp; 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14922"/>
            <a:ext cx="10533942" cy="63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2"/>
              </a:lnSpc>
            </a:pPr>
            <a:r>
              <a:rPr lang="en-US" sz="4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Biomechanical Analysis at the Edge</a:t>
            </a:r>
          </a:p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Integrating computer vision and machine learning directly into athletic coaching workflows to analyze movement patterns.</a:t>
            </a:r>
          </a:p>
          <a:p>
            <a:pPr algn="l">
              <a:lnSpc>
                <a:spcPts val="4802"/>
              </a:lnSpc>
            </a:pPr>
            <a:r>
              <a:rPr lang="en-US" sz="4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Proactive Safety Measures</a:t>
            </a:r>
          </a:p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Scanning joint positions and calculating angles in real-time to catch biomechanical anomalies before they result in injuries.</a:t>
            </a:r>
          </a:p>
          <a:p>
            <a:pPr algn="l">
              <a:lnSpc>
                <a:spcPts val="4802"/>
              </a:lnSpc>
            </a:pPr>
            <a:r>
              <a:rPr lang="en-US" sz="4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Explainable Clinical Support</a:t>
            </a:r>
          </a:p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Providing athletes, coaches, and physiotherapists with detailed joint angle graphs, risk heatmaps, and Gemini AI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886" y="755291"/>
            <a:ext cx="9631144" cy="1249417"/>
            <a:chOff x="0" y="0"/>
            <a:chExt cx="1981717" cy="25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717" cy="257082"/>
            </a:xfrm>
            <a:custGeom>
              <a:avLst/>
              <a:gdLst/>
              <a:ahLst/>
              <a:cxnLst/>
              <a:rect r="r" b="b" t="t" l="l"/>
              <a:pathLst>
                <a:path h="257082" w="1981717">
                  <a:moveTo>
                    <a:pt x="15700" y="0"/>
                  </a:moveTo>
                  <a:lnTo>
                    <a:pt x="1966017" y="0"/>
                  </a:lnTo>
                  <a:cubicBezTo>
                    <a:pt x="1974688" y="0"/>
                    <a:pt x="1981717" y="7029"/>
                    <a:pt x="1981717" y="15700"/>
                  </a:cubicBezTo>
                  <a:lnTo>
                    <a:pt x="1981717" y="241382"/>
                  </a:lnTo>
                  <a:cubicBezTo>
                    <a:pt x="1981717" y="250052"/>
                    <a:pt x="1974688" y="257082"/>
                    <a:pt x="1966017" y="257082"/>
                  </a:cubicBezTo>
                  <a:lnTo>
                    <a:pt x="15700" y="257082"/>
                  </a:lnTo>
                  <a:cubicBezTo>
                    <a:pt x="7029" y="257082"/>
                    <a:pt x="0" y="250052"/>
                    <a:pt x="0" y="241382"/>
                  </a:cubicBezTo>
                  <a:lnTo>
                    <a:pt x="0" y="15700"/>
                  </a:lnTo>
                  <a:cubicBezTo>
                    <a:pt x="0" y="7029"/>
                    <a:pt x="7029" y="0"/>
                    <a:pt x="15700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1717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8137" y="2451764"/>
            <a:ext cx="16060264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Subjective Visual Inspections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Coaching staff relies on visual observation, missing subtle dynamic knee valgus collapses or dynamic asymmetry on loading.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Post-Injury Reactive Diagnostics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Traditional healthcare frameworks are reactive, diagnosing injuries after muscle tear or structural damage occurs.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High Laboratory Barriers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Gold-standard 3D motion capture labs require expensive multi-camera systems that are inaccessible for local clubs and schools.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5108" y="6916778"/>
            <a:ext cx="15617783" cy="2561960"/>
          </a:xfrm>
          <a:custGeom>
            <a:avLst/>
            <a:gdLst/>
            <a:ahLst/>
            <a:cxnLst/>
            <a:rect r="r" b="b" t="t" l="l"/>
            <a:pathLst>
              <a:path h="2561960" w="15617783">
                <a:moveTo>
                  <a:pt x="0" y="0"/>
                </a:moveTo>
                <a:lnTo>
                  <a:pt x="15617784" y="0"/>
                </a:lnTo>
                <a:lnTo>
                  <a:pt x="15617784" y="2561960"/>
                </a:lnTo>
                <a:lnTo>
                  <a:pt x="0" y="2561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501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8137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44303" y="6366539"/>
            <a:ext cx="21296261" cy="4469734"/>
            <a:chOff x="0" y="0"/>
            <a:chExt cx="5414632" cy="113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4632" cy="1136442"/>
            </a:xfrm>
            <a:custGeom>
              <a:avLst/>
              <a:gdLst/>
              <a:ahLst/>
              <a:cxnLst/>
              <a:rect r="r" b="b" t="t" l="l"/>
              <a:pathLst>
                <a:path h="1136442" w="5414632">
                  <a:moveTo>
                    <a:pt x="7100" y="0"/>
                  </a:moveTo>
                  <a:lnTo>
                    <a:pt x="5407532" y="0"/>
                  </a:lnTo>
                  <a:cubicBezTo>
                    <a:pt x="5409415" y="0"/>
                    <a:pt x="5411221" y="748"/>
                    <a:pt x="5412552" y="2080"/>
                  </a:cubicBezTo>
                  <a:cubicBezTo>
                    <a:pt x="5413884" y="3411"/>
                    <a:pt x="5414632" y="5217"/>
                    <a:pt x="5414632" y="7100"/>
                  </a:cubicBezTo>
                  <a:lnTo>
                    <a:pt x="5414632" y="1129342"/>
                  </a:lnTo>
                  <a:cubicBezTo>
                    <a:pt x="5414632" y="1131225"/>
                    <a:pt x="5413884" y="1133031"/>
                    <a:pt x="5412552" y="1134362"/>
                  </a:cubicBezTo>
                  <a:cubicBezTo>
                    <a:pt x="5411221" y="1135694"/>
                    <a:pt x="5409415" y="1136442"/>
                    <a:pt x="5407532" y="1136442"/>
                  </a:cubicBezTo>
                  <a:lnTo>
                    <a:pt x="7100" y="1136442"/>
                  </a:lnTo>
                  <a:cubicBezTo>
                    <a:pt x="5217" y="1136442"/>
                    <a:pt x="3411" y="1135694"/>
                    <a:pt x="2080" y="1134362"/>
                  </a:cubicBezTo>
                  <a:cubicBezTo>
                    <a:pt x="748" y="1133031"/>
                    <a:pt x="0" y="1131225"/>
                    <a:pt x="0" y="1129342"/>
                  </a:cubicBezTo>
                  <a:lnTo>
                    <a:pt x="0" y="7100"/>
                  </a:lnTo>
                  <a:cubicBezTo>
                    <a:pt x="0" y="5217"/>
                    <a:pt x="748" y="3411"/>
                    <a:pt x="2080" y="2080"/>
                  </a:cubicBezTo>
                  <a:cubicBezTo>
                    <a:pt x="3411" y="748"/>
                    <a:pt x="5217" y="0"/>
                    <a:pt x="7100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14632" cy="1174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504" y="789449"/>
            <a:ext cx="9574845" cy="1249417"/>
            <a:chOff x="0" y="0"/>
            <a:chExt cx="1970133" cy="25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0133" cy="257082"/>
            </a:xfrm>
            <a:custGeom>
              <a:avLst/>
              <a:gdLst/>
              <a:ahLst/>
              <a:cxnLst/>
              <a:rect r="r" b="b" t="t" l="l"/>
              <a:pathLst>
                <a:path h="257082" w="1970133">
                  <a:moveTo>
                    <a:pt x="15792" y="0"/>
                  </a:moveTo>
                  <a:lnTo>
                    <a:pt x="1954340" y="0"/>
                  </a:lnTo>
                  <a:cubicBezTo>
                    <a:pt x="1958529" y="0"/>
                    <a:pt x="1962546" y="1664"/>
                    <a:pt x="1965507" y="4625"/>
                  </a:cubicBezTo>
                  <a:cubicBezTo>
                    <a:pt x="1968469" y="7587"/>
                    <a:pt x="1970133" y="11604"/>
                    <a:pt x="1970133" y="15792"/>
                  </a:cubicBezTo>
                  <a:lnTo>
                    <a:pt x="1970133" y="241289"/>
                  </a:lnTo>
                  <a:cubicBezTo>
                    <a:pt x="1970133" y="250011"/>
                    <a:pt x="1963062" y="257082"/>
                    <a:pt x="1954340" y="257082"/>
                  </a:cubicBezTo>
                  <a:lnTo>
                    <a:pt x="15792" y="257082"/>
                  </a:lnTo>
                  <a:cubicBezTo>
                    <a:pt x="11604" y="257082"/>
                    <a:pt x="7587" y="255418"/>
                    <a:pt x="4625" y="252456"/>
                  </a:cubicBezTo>
                  <a:cubicBezTo>
                    <a:pt x="1664" y="249495"/>
                    <a:pt x="0" y="245478"/>
                    <a:pt x="0" y="241289"/>
                  </a:cubicBezTo>
                  <a:lnTo>
                    <a:pt x="0" y="15792"/>
                  </a:lnTo>
                  <a:cubicBezTo>
                    <a:pt x="0" y="11604"/>
                    <a:pt x="1664" y="7587"/>
                    <a:pt x="4625" y="4625"/>
                  </a:cubicBezTo>
                  <a:cubicBezTo>
                    <a:pt x="7587" y="1664"/>
                    <a:pt x="11604" y="0"/>
                    <a:pt x="15792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0133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8137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Project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81250"/>
            <a:ext cx="16060264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1.</a:t>
            </a: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 Camera Occlusion &amp; Angles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ingle-camera feeds suffer from limbs blocking each other (self-occlusion), making 3D joint angle calculations inaccurate during multi-directional movements.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2. Coo</a:t>
            </a: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rdinate Jitter &amp; Noise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Mic</a:t>
            </a: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ro-fluctuations in pixel tracking lead to massive spikes and false alerts when calculating time-sensitive metrics like velocity and deceleration.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3. C</a:t>
            </a: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lothing &amp; Lighting Interference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oose athletic apparel and dynamic outdoor lighting (shadows/sun glare) easily obscure true joint centers, throwing off the skeletal tracking overlay.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4. Different Athlete Body Types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tandard AI models fail to adapt to diverse heights, limb ratios, or natural pelvic widths, misclassifying normal body shapes as movement dysfunctions.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5. No Direct Impact Force Tracking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250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onsumer webcams cannot measure actual impact forces or joint torques (which require expensive laboratory force plates), forcing the system to rely on physics estimates.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6. Fluctuating Mobile Frame Rates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Mob</a:t>
            </a:r>
            <a:r>
              <a:rPr lang="en-US" sz="225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ile webcams and browser feeds experience CPU/thermal throttling, causing unstable frame rates that corrupt time-dependent biomechanical calculations.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3504" y="2231403"/>
            <a:ext cx="16137177" cy="7385462"/>
            <a:chOff x="0" y="0"/>
            <a:chExt cx="4102921" cy="1877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02921" cy="1877774"/>
            </a:xfrm>
            <a:custGeom>
              <a:avLst/>
              <a:gdLst/>
              <a:ahLst/>
              <a:cxnLst/>
              <a:rect r="r" b="b" t="t" l="l"/>
              <a:pathLst>
                <a:path h="1877774" w="4102921">
                  <a:moveTo>
                    <a:pt x="9370" y="0"/>
                  </a:moveTo>
                  <a:lnTo>
                    <a:pt x="4093551" y="0"/>
                  </a:lnTo>
                  <a:cubicBezTo>
                    <a:pt x="4098726" y="0"/>
                    <a:pt x="4102921" y="4195"/>
                    <a:pt x="4102921" y="9370"/>
                  </a:cubicBezTo>
                  <a:lnTo>
                    <a:pt x="4102921" y="1868403"/>
                  </a:lnTo>
                  <a:cubicBezTo>
                    <a:pt x="4102921" y="1873578"/>
                    <a:pt x="4098726" y="1877774"/>
                    <a:pt x="4093551" y="1877774"/>
                  </a:cubicBezTo>
                  <a:lnTo>
                    <a:pt x="9370" y="1877774"/>
                  </a:lnTo>
                  <a:cubicBezTo>
                    <a:pt x="6885" y="1877774"/>
                    <a:pt x="4502" y="1876786"/>
                    <a:pt x="2744" y="1875029"/>
                  </a:cubicBezTo>
                  <a:cubicBezTo>
                    <a:pt x="987" y="1873272"/>
                    <a:pt x="0" y="1870889"/>
                    <a:pt x="0" y="1868403"/>
                  </a:cubicBezTo>
                  <a:lnTo>
                    <a:pt x="0" y="9370"/>
                  </a:lnTo>
                  <a:cubicBezTo>
                    <a:pt x="0" y="4195"/>
                    <a:pt x="4195" y="0"/>
                    <a:pt x="9370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02921" cy="191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803" y="755291"/>
            <a:ext cx="9180753" cy="1249417"/>
            <a:chOff x="0" y="0"/>
            <a:chExt cx="1889044" cy="25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9044" cy="257082"/>
            </a:xfrm>
            <a:custGeom>
              <a:avLst/>
              <a:gdLst/>
              <a:ahLst/>
              <a:cxnLst/>
              <a:rect r="r" b="b" t="t" l="l"/>
              <a:pathLst>
                <a:path h="257082" w="1889044">
                  <a:moveTo>
                    <a:pt x="16470" y="0"/>
                  </a:moveTo>
                  <a:lnTo>
                    <a:pt x="1872573" y="0"/>
                  </a:lnTo>
                  <a:cubicBezTo>
                    <a:pt x="1876942" y="0"/>
                    <a:pt x="1881131" y="1735"/>
                    <a:pt x="1884220" y="4824"/>
                  </a:cubicBezTo>
                  <a:cubicBezTo>
                    <a:pt x="1887309" y="7913"/>
                    <a:pt x="1889044" y="12102"/>
                    <a:pt x="1889044" y="16470"/>
                  </a:cubicBezTo>
                  <a:lnTo>
                    <a:pt x="1889044" y="240611"/>
                  </a:lnTo>
                  <a:cubicBezTo>
                    <a:pt x="1889044" y="244980"/>
                    <a:pt x="1887309" y="249169"/>
                    <a:pt x="1884220" y="252258"/>
                  </a:cubicBezTo>
                  <a:cubicBezTo>
                    <a:pt x="1881131" y="255346"/>
                    <a:pt x="1876942" y="257082"/>
                    <a:pt x="1872573" y="257082"/>
                  </a:cubicBezTo>
                  <a:lnTo>
                    <a:pt x="16470" y="257082"/>
                  </a:lnTo>
                  <a:cubicBezTo>
                    <a:pt x="12102" y="257082"/>
                    <a:pt x="7913" y="255346"/>
                    <a:pt x="4824" y="252258"/>
                  </a:cubicBezTo>
                  <a:cubicBezTo>
                    <a:pt x="1735" y="249169"/>
                    <a:pt x="0" y="244980"/>
                    <a:pt x="0" y="240611"/>
                  </a:cubicBezTo>
                  <a:lnTo>
                    <a:pt x="0" y="16470"/>
                  </a:lnTo>
                  <a:cubicBezTo>
                    <a:pt x="0" y="12102"/>
                    <a:pt x="1735" y="7913"/>
                    <a:pt x="4824" y="4824"/>
                  </a:cubicBezTo>
                  <a:cubicBezTo>
                    <a:pt x="7913" y="1735"/>
                    <a:pt x="12102" y="0"/>
                    <a:pt x="16470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9044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28269" y="2857532"/>
            <a:ext cx="4125325" cy="7160803"/>
            <a:chOff x="0" y="0"/>
            <a:chExt cx="848832" cy="1473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8832" cy="1473416"/>
            </a:xfrm>
            <a:custGeom>
              <a:avLst/>
              <a:gdLst/>
              <a:ahLst/>
              <a:cxnLst/>
              <a:rect r="r" b="b" t="t" l="l"/>
              <a:pathLst>
                <a:path h="1473416" w="848832">
                  <a:moveTo>
                    <a:pt x="36654" y="0"/>
                  </a:moveTo>
                  <a:lnTo>
                    <a:pt x="812178" y="0"/>
                  </a:lnTo>
                  <a:cubicBezTo>
                    <a:pt x="832422" y="0"/>
                    <a:pt x="848832" y="16411"/>
                    <a:pt x="848832" y="36654"/>
                  </a:cubicBezTo>
                  <a:lnTo>
                    <a:pt x="848832" y="1436762"/>
                  </a:lnTo>
                  <a:cubicBezTo>
                    <a:pt x="848832" y="1446484"/>
                    <a:pt x="844970" y="1455807"/>
                    <a:pt x="838097" y="1462681"/>
                  </a:cubicBezTo>
                  <a:cubicBezTo>
                    <a:pt x="831223" y="1469555"/>
                    <a:pt x="821900" y="1473416"/>
                    <a:pt x="812178" y="1473416"/>
                  </a:cubicBezTo>
                  <a:lnTo>
                    <a:pt x="36654" y="1473416"/>
                  </a:lnTo>
                  <a:cubicBezTo>
                    <a:pt x="16411" y="1473416"/>
                    <a:pt x="0" y="1457006"/>
                    <a:pt x="0" y="1436762"/>
                  </a:cubicBezTo>
                  <a:lnTo>
                    <a:pt x="0" y="36654"/>
                  </a:lnTo>
                  <a:cubicBezTo>
                    <a:pt x="0" y="16411"/>
                    <a:pt x="16411" y="0"/>
                    <a:pt x="36654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48832" cy="1511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54135" y="2913831"/>
            <a:ext cx="3650259" cy="7160803"/>
            <a:chOff x="0" y="0"/>
            <a:chExt cx="751082" cy="1473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082" cy="1473416"/>
            </a:xfrm>
            <a:custGeom>
              <a:avLst/>
              <a:gdLst/>
              <a:ahLst/>
              <a:cxnLst/>
              <a:rect r="r" b="b" t="t" l="l"/>
              <a:pathLst>
                <a:path h="1473416" w="751082">
                  <a:moveTo>
                    <a:pt x="41424" y="0"/>
                  </a:moveTo>
                  <a:lnTo>
                    <a:pt x="709658" y="0"/>
                  </a:lnTo>
                  <a:cubicBezTo>
                    <a:pt x="732536" y="0"/>
                    <a:pt x="751082" y="18546"/>
                    <a:pt x="751082" y="41424"/>
                  </a:cubicBezTo>
                  <a:lnTo>
                    <a:pt x="751082" y="1431992"/>
                  </a:lnTo>
                  <a:cubicBezTo>
                    <a:pt x="751082" y="1454870"/>
                    <a:pt x="732536" y="1473416"/>
                    <a:pt x="709658" y="1473416"/>
                  </a:cubicBezTo>
                  <a:lnTo>
                    <a:pt x="41424" y="1473416"/>
                  </a:lnTo>
                  <a:cubicBezTo>
                    <a:pt x="18546" y="1473416"/>
                    <a:pt x="0" y="1454870"/>
                    <a:pt x="0" y="1431992"/>
                  </a:cubicBezTo>
                  <a:lnTo>
                    <a:pt x="0" y="41424"/>
                  </a:lnTo>
                  <a:cubicBezTo>
                    <a:pt x="0" y="18546"/>
                    <a:pt x="18546" y="0"/>
                    <a:pt x="41424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1082" cy="1511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2270" y="2857532"/>
            <a:ext cx="3984577" cy="7160803"/>
            <a:chOff x="0" y="0"/>
            <a:chExt cx="819872" cy="1473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9872" cy="1473416"/>
            </a:xfrm>
            <a:custGeom>
              <a:avLst/>
              <a:gdLst/>
              <a:ahLst/>
              <a:cxnLst/>
              <a:rect r="r" b="b" t="t" l="l"/>
              <a:pathLst>
                <a:path h="1473416" w="819872">
                  <a:moveTo>
                    <a:pt x="37949" y="0"/>
                  </a:moveTo>
                  <a:lnTo>
                    <a:pt x="781923" y="0"/>
                  </a:lnTo>
                  <a:cubicBezTo>
                    <a:pt x="802882" y="0"/>
                    <a:pt x="819872" y="16990"/>
                    <a:pt x="819872" y="37949"/>
                  </a:cubicBezTo>
                  <a:lnTo>
                    <a:pt x="819872" y="1435468"/>
                  </a:lnTo>
                  <a:cubicBezTo>
                    <a:pt x="819872" y="1456426"/>
                    <a:pt x="802882" y="1473416"/>
                    <a:pt x="781923" y="1473416"/>
                  </a:cubicBezTo>
                  <a:lnTo>
                    <a:pt x="37949" y="1473416"/>
                  </a:lnTo>
                  <a:cubicBezTo>
                    <a:pt x="16990" y="1473416"/>
                    <a:pt x="0" y="1456426"/>
                    <a:pt x="0" y="1435468"/>
                  </a:cubicBezTo>
                  <a:lnTo>
                    <a:pt x="0" y="37949"/>
                  </a:lnTo>
                  <a:cubicBezTo>
                    <a:pt x="0" y="16990"/>
                    <a:pt x="16990" y="0"/>
                    <a:pt x="37949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9872" cy="1511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98137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636722" y="2857532"/>
            <a:ext cx="3984577" cy="7160803"/>
            <a:chOff x="0" y="0"/>
            <a:chExt cx="819872" cy="14734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9872" cy="1473416"/>
            </a:xfrm>
            <a:custGeom>
              <a:avLst/>
              <a:gdLst/>
              <a:ahLst/>
              <a:cxnLst/>
              <a:rect r="r" b="b" t="t" l="l"/>
              <a:pathLst>
                <a:path h="1473416" w="819872">
                  <a:moveTo>
                    <a:pt x="37949" y="0"/>
                  </a:moveTo>
                  <a:lnTo>
                    <a:pt x="781923" y="0"/>
                  </a:lnTo>
                  <a:cubicBezTo>
                    <a:pt x="802882" y="0"/>
                    <a:pt x="819872" y="16990"/>
                    <a:pt x="819872" y="37949"/>
                  </a:cubicBezTo>
                  <a:lnTo>
                    <a:pt x="819872" y="1435468"/>
                  </a:lnTo>
                  <a:cubicBezTo>
                    <a:pt x="819872" y="1456426"/>
                    <a:pt x="802882" y="1473416"/>
                    <a:pt x="781923" y="1473416"/>
                  </a:cubicBezTo>
                  <a:lnTo>
                    <a:pt x="37949" y="1473416"/>
                  </a:lnTo>
                  <a:cubicBezTo>
                    <a:pt x="16990" y="1473416"/>
                    <a:pt x="0" y="1456426"/>
                    <a:pt x="0" y="1435468"/>
                  </a:cubicBezTo>
                  <a:lnTo>
                    <a:pt x="0" y="37949"/>
                  </a:lnTo>
                  <a:cubicBezTo>
                    <a:pt x="0" y="16990"/>
                    <a:pt x="16990" y="0"/>
                    <a:pt x="37949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9872" cy="1511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7025" y="3021025"/>
            <a:ext cx="16682275" cy="6705600"/>
            <a:chOff x="0" y="0"/>
            <a:chExt cx="22243033" cy="89408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409"/>
              <a:ext cx="4603459" cy="169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Shift f</a:t>
              </a: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rom Reactive to Predictive Injury Prevention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91388" y="2216150"/>
              <a:ext cx="4220683" cy="672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</a:t>
              </a: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replace manual, subjective trainer observations and post-injury treatments with automated, real-time predictions of biomechanical risk before actual injury occurs.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665381" y="-19050"/>
              <a:ext cx="5051691" cy="169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</a:t>
              </a: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omate Personalized Exercise Prescriptions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575778" y="-8409"/>
              <a:ext cx="3901704" cy="225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Cent</a:t>
              </a: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ralize Athletic Feedback Loops</a:t>
              </a:r>
            </a:p>
            <a:p>
              <a:pPr algn="l">
                <a:lnSpc>
                  <a:spcPts val="3360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167778" y="-8409"/>
              <a:ext cx="4348275" cy="225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Eliminate Vide</a:t>
              </a:r>
              <a:r>
                <a:rPr lang="en-US" b="true" sz="2800">
                  <a:solidFill>
                    <a:srgbClr val="B5A59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Latency &amp; Server Overhead</a:t>
              </a:r>
            </a:p>
            <a:p>
              <a:pPr algn="l">
                <a:lnSpc>
                  <a:spcPts val="3360"/>
                </a:lnSpc>
                <a:spcBef>
                  <a:spcPct val="0"/>
                </a:spcBef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575778" y="2216150"/>
              <a:ext cx="4667255" cy="672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</a:t>
              </a: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provide athletes, coaches, and clinicians with a single shared workspace containing real-time telemetry, joint risk heatmaps, and downloadable reports.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665381" y="2226791"/>
              <a:ext cx="4220683" cy="6115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</a:t>
              </a: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instantly translate predicted motion defects into safe, AI-generated corrective routines with deterministic clinical safety guardrails.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167778" y="2216150"/>
              <a:ext cx="4220683" cy="672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</a:t>
              </a:r>
              <a:r>
                <a:rPr lang="en-US" b="true" sz="3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run all complex pose-tracking calculations directly on the client's browser, eliminating heavy video uploads and server-side memory crashes.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577025" y="4467913"/>
            <a:ext cx="35088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3750451" y="4429813"/>
            <a:ext cx="35088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9297291" y="4486963"/>
            <a:ext cx="378728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150688" y="4429813"/>
            <a:ext cx="32141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513" y="4593013"/>
            <a:ext cx="8178613" cy="4936459"/>
            <a:chOff x="0" y="0"/>
            <a:chExt cx="2079434" cy="1255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9435" cy="1255108"/>
            </a:xfrm>
            <a:custGeom>
              <a:avLst/>
              <a:gdLst/>
              <a:ahLst/>
              <a:cxnLst/>
              <a:rect r="r" b="b" t="t" l="l"/>
              <a:pathLst>
                <a:path h="1255108" w="2079435">
                  <a:moveTo>
                    <a:pt x="18488" y="0"/>
                  </a:moveTo>
                  <a:lnTo>
                    <a:pt x="2060946" y="0"/>
                  </a:lnTo>
                  <a:cubicBezTo>
                    <a:pt x="2071157" y="0"/>
                    <a:pt x="2079435" y="8278"/>
                    <a:pt x="2079435" y="18488"/>
                  </a:cubicBezTo>
                  <a:lnTo>
                    <a:pt x="2079435" y="1236620"/>
                  </a:lnTo>
                  <a:cubicBezTo>
                    <a:pt x="2079435" y="1241523"/>
                    <a:pt x="2077487" y="1246226"/>
                    <a:pt x="2074019" y="1249693"/>
                  </a:cubicBezTo>
                  <a:cubicBezTo>
                    <a:pt x="2070552" y="1253160"/>
                    <a:pt x="2065849" y="1255108"/>
                    <a:pt x="2060946" y="1255108"/>
                  </a:cubicBezTo>
                  <a:lnTo>
                    <a:pt x="18488" y="1255108"/>
                  </a:lnTo>
                  <a:cubicBezTo>
                    <a:pt x="8278" y="1255108"/>
                    <a:pt x="0" y="1246830"/>
                    <a:pt x="0" y="1236620"/>
                  </a:cubicBezTo>
                  <a:lnTo>
                    <a:pt x="0" y="18488"/>
                  </a:lnTo>
                  <a:cubicBezTo>
                    <a:pt x="0" y="8278"/>
                    <a:pt x="8278" y="0"/>
                    <a:pt x="18488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9434" cy="1293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139" y="4593013"/>
            <a:ext cx="8178613" cy="4936459"/>
            <a:chOff x="0" y="0"/>
            <a:chExt cx="2079434" cy="12551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9435" cy="1255108"/>
            </a:xfrm>
            <a:custGeom>
              <a:avLst/>
              <a:gdLst/>
              <a:ahLst/>
              <a:cxnLst/>
              <a:rect r="r" b="b" t="t" l="l"/>
              <a:pathLst>
                <a:path h="1255108" w="2079435">
                  <a:moveTo>
                    <a:pt x="18488" y="0"/>
                  </a:moveTo>
                  <a:lnTo>
                    <a:pt x="2060946" y="0"/>
                  </a:lnTo>
                  <a:cubicBezTo>
                    <a:pt x="2071157" y="0"/>
                    <a:pt x="2079435" y="8278"/>
                    <a:pt x="2079435" y="18488"/>
                  </a:cubicBezTo>
                  <a:lnTo>
                    <a:pt x="2079435" y="1236620"/>
                  </a:lnTo>
                  <a:cubicBezTo>
                    <a:pt x="2079435" y="1241523"/>
                    <a:pt x="2077487" y="1246226"/>
                    <a:pt x="2074019" y="1249693"/>
                  </a:cubicBezTo>
                  <a:cubicBezTo>
                    <a:pt x="2070552" y="1253160"/>
                    <a:pt x="2065849" y="1255108"/>
                    <a:pt x="2060946" y="1255108"/>
                  </a:cubicBezTo>
                  <a:lnTo>
                    <a:pt x="18488" y="1255108"/>
                  </a:lnTo>
                  <a:cubicBezTo>
                    <a:pt x="8278" y="1255108"/>
                    <a:pt x="0" y="1246830"/>
                    <a:pt x="0" y="1236620"/>
                  </a:cubicBezTo>
                  <a:lnTo>
                    <a:pt x="0" y="18488"/>
                  </a:lnTo>
                  <a:cubicBezTo>
                    <a:pt x="0" y="8278"/>
                    <a:pt x="8278" y="0"/>
                    <a:pt x="18488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79434" cy="1293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139" y="823608"/>
            <a:ext cx="10841571" cy="2701484"/>
            <a:chOff x="0" y="0"/>
            <a:chExt cx="2230776" cy="5558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0776" cy="555861"/>
            </a:xfrm>
            <a:custGeom>
              <a:avLst/>
              <a:gdLst/>
              <a:ahLst/>
              <a:cxnLst/>
              <a:rect r="r" b="b" t="t" l="l"/>
              <a:pathLst>
                <a:path h="555861" w="2230776">
                  <a:moveTo>
                    <a:pt x="13947" y="0"/>
                  </a:moveTo>
                  <a:lnTo>
                    <a:pt x="2216829" y="0"/>
                  </a:lnTo>
                  <a:cubicBezTo>
                    <a:pt x="2220528" y="0"/>
                    <a:pt x="2224075" y="1469"/>
                    <a:pt x="2226691" y="4085"/>
                  </a:cubicBezTo>
                  <a:cubicBezTo>
                    <a:pt x="2229306" y="6701"/>
                    <a:pt x="2230776" y="10248"/>
                    <a:pt x="2230776" y="13947"/>
                  </a:cubicBezTo>
                  <a:lnTo>
                    <a:pt x="2230776" y="541914"/>
                  </a:lnTo>
                  <a:cubicBezTo>
                    <a:pt x="2230776" y="549617"/>
                    <a:pt x="2224531" y="555861"/>
                    <a:pt x="2216829" y="555861"/>
                  </a:cubicBezTo>
                  <a:lnTo>
                    <a:pt x="13947" y="555861"/>
                  </a:lnTo>
                  <a:cubicBezTo>
                    <a:pt x="6244" y="555861"/>
                    <a:pt x="0" y="549617"/>
                    <a:pt x="0" y="541914"/>
                  </a:cubicBezTo>
                  <a:lnTo>
                    <a:pt x="0" y="13947"/>
                  </a:lnTo>
                  <a:cubicBezTo>
                    <a:pt x="0" y="6244"/>
                    <a:pt x="6244" y="0"/>
                    <a:pt x="13947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30776" cy="593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8137" y="785508"/>
            <a:ext cx="16060264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9"/>
              </a:lnSpc>
            </a:pPr>
            <a:r>
              <a:rPr lang="en-US" sz="9199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Existing System &amp; 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638675"/>
            <a:ext cx="7686961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Traditional Approaches</a:t>
            </a:r>
          </a:p>
          <a:p>
            <a:pPr algn="l">
              <a:lnSpc>
                <a:spcPts val="3963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Wearable IMU Sensor Suits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Restrict natural ranges of motion, require manual calibration, and are expensive.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Optical Motion Capture Labs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Require highly complex multi-camera rigs and are inaccessible for amateur athlete teams.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Static Rule Checklists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Manual spreadsheets fail to map complex dynamic posture variables in real-time.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2339" y="4638675"/>
            <a:ext cx="7686961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System Limitations</a:t>
            </a:r>
          </a:p>
          <a:p>
            <a:pPr algn="l">
              <a:lnSpc>
                <a:spcPts val="3963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High Hardware Barrier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Sensors and force plates cost thousands of dollars, limiting use to elite teams.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Black-Box Algorithms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Traditional ML outputs raw risk percentages without clinician-friendly rationales.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Server-Side Bottlenecks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Processing video streams on backend servers causes SIGKILL gateway timeouts.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8139" y="3917004"/>
            <a:ext cx="1719541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Trad</a:t>
            </a:r>
            <a:r>
              <a:rPr lang="en-US" b="true" sz="2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itional motion analysis systems face severe structural and financial barriers.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886" y="2984555"/>
            <a:ext cx="18553569" cy="7932599"/>
            <a:chOff x="0" y="0"/>
            <a:chExt cx="4717295" cy="2016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295" cy="2016885"/>
            </a:xfrm>
            <a:custGeom>
              <a:avLst/>
              <a:gdLst/>
              <a:ahLst/>
              <a:cxnLst/>
              <a:rect r="r" b="b" t="t" l="l"/>
              <a:pathLst>
                <a:path h="2016885" w="4717295">
                  <a:moveTo>
                    <a:pt x="8150" y="0"/>
                  </a:moveTo>
                  <a:lnTo>
                    <a:pt x="4709145" y="0"/>
                  </a:lnTo>
                  <a:cubicBezTo>
                    <a:pt x="4711307" y="0"/>
                    <a:pt x="4713380" y="859"/>
                    <a:pt x="4714908" y="2387"/>
                  </a:cubicBezTo>
                  <a:cubicBezTo>
                    <a:pt x="4716437" y="3915"/>
                    <a:pt x="4717295" y="5988"/>
                    <a:pt x="4717295" y="8150"/>
                  </a:cubicBezTo>
                  <a:lnTo>
                    <a:pt x="4717295" y="2008735"/>
                  </a:lnTo>
                  <a:cubicBezTo>
                    <a:pt x="4717295" y="2013236"/>
                    <a:pt x="4713646" y="2016885"/>
                    <a:pt x="4709145" y="2016885"/>
                  </a:cubicBezTo>
                  <a:lnTo>
                    <a:pt x="8150" y="2016885"/>
                  </a:lnTo>
                  <a:cubicBezTo>
                    <a:pt x="5988" y="2016885"/>
                    <a:pt x="3915" y="2016026"/>
                    <a:pt x="2387" y="2014498"/>
                  </a:cubicBezTo>
                  <a:cubicBezTo>
                    <a:pt x="859" y="2012969"/>
                    <a:pt x="0" y="2010896"/>
                    <a:pt x="0" y="2008735"/>
                  </a:cubicBezTo>
                  <a:lnTo>
                    <a:pt x="0" y="8150"/>
                  </a:lnTo>
                  <a:cubicBezTo>
                    <a:pt x="0" y="3649"/>
                    <a:pt x="3649" y="0"/>
                    <a:pt x="8150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295" cy="2054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886" y="3044793"/>
            <a:ext cx="16526808" cy="1120862"/>
            <a:chOff x="0" y="0"/>
            <a:chExt cx="4201986" cy="2849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985" cy="284982"/>
            </a:xfrm>
            <a:custGeom>
              <a:avLst/>
              <a:gdLst/>
              <a:ahLst/>
              <a:cxnLst/>
              <a:rect r="r" b="b" t="t" l="l"/>
              <a:pathLst>
                <a:path h="284982" w="4201985">
                  <a:moveTo>
                    <a:pt x="9149" y="0"/>
                  </a:moveTo>
                  <a:lnTo>
                    <a:pt x="4192836" y="0"/>
                  </a:lnTo>
                  <a:cubicBezTo>
                    <a:pt x="4197889" y="0"/>
                    <a:pt x="4201985" y="4096"/>
                    <a:pt x="4201985" y="9149"/>
                  </a:cubicBezTo>
                  <a:lnTo>
                    <a:pt x="4201985" y="275833"/>
                  </a:lnTo>
                  <a:cubicBezTo>
                    <a:pt x="4201985" y="278259"/>
                    <a:pt x="4201021" y="280587"/>
                    <a:pt x="4199306" y="282302"/>
                  </a:cubicBezTo>
                  <a:cubicBezTo>
                    <a:pt x="4197590" y="284018"/>
                    <a:pt x="4195263" y="284982"/>
                    <a:pt x="4192836" y="284982"/>
                  </a:cubicBezTo>
                  <a:lnTo>
                    <a:pt x="9149" y="284982"/>
                  </a:lnTo>
                  <a:cubicBezTo>
                    <a:pt x="6723" y="284982"/>
                    <a:pt x="4396" y="284018"/>
                    <a:pt x="2680" y="282302"/>
                  </a:cubicBezTo>
                  <a:cubicBezTo>
                    <a:pt x="964" y="280587"/>
                    <a:pt x="0" y="278259"/>
                    <a:pt x="0" y="275833"/>
                  </a:cubicBezTo>
                  <a:lnTo>
                    <a:pt x="0" y="9149"/>
                  </a:lnTo>
                  <a:cubicBezTo>
                    <a:pt x="0" y="6723"/>
                    <a:pt x="964" y="4396"/>
                    <a:pt x="2680" y="2680"/>
                  </a:cubicBezTo>
                  <a:cubicBezTo>
                    <a:pt x="4396" y="964"/>
                    <a:pt x="6723" y="0"/>
                    <a:pt x="9149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986" cy="323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857314" y="200113"/>
            <a:ext cx="20648334" cy="2784442"/>
            <a:chOff x="0" y="0"/>
            <a:chExt cx="4248628" cy="572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8629" cy="572930"/>
            </a:xfrm>
            <a:custGeom>
              <a:avLst/>
              <a:gdLst/>
              <a:ahLst/>
              <a:cxnLst/>
              <a:rect r="r" b="b" t="t" l="l"/>
              <a:pathLst>
                <a:path h="572930" w="4248629">
                  <a:moveTo>
                    <a:pt x="7323" y="0"/>
                  </a:moveTo>
                  <a:lnTo>
                    <a:pt x="4241305" y="0"/>
                  </a:lnTo>
                  <a:cubicBezTo>
                    <a:pt x="4245350" y="0"/>
                    <a:pt x="4248629" y="3279"/>
                    <a:pt x="4248629" y="7323"/>
                  </a:cubicBezTo>
                  <a:lnTo>
                    <a:pt x="4248629" y="565607"/>
                  </a:lnTo>
                  <a:cubicBezTo>
                    <a:pt x="4248629" y="569652"/>
                    <a:pt x="4245350" y="572930"/>
                    <a:pt x="4241305" y="572930"/>
                  </a:cubicBezTo>
                  <a:lnTo>
                    <a:pt x="7323" y="572930"/>
                  </a:lnTo>
                  <a:cubicBezTo>
                    <a:pt x="3279" y="572930"/>
                    <a:pt x="0" y="569652"/>
                    <a:pt x="0" y="565607"/>
                  </a:cubicBezTo>
                  <a:lnTo>
                    <a:pt x="0" y="7323"/>
                  </a:lnTo>
                  <a:cubicBezTo>
                    <a:pt x="0" y="3279"/>
                    <a:pt x="3279" y="0"/>
                    <a:pt x="7323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48628" cy="611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8137" y="584255"/>
            <a:ext cx="16060264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 The SIRD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232205"/>
            <a:ext cx="162306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An AI-powered, markerless, edge-computed injury risk tracking and clinical recommendation ecosystem.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841" y="4337105"/>
            <a:ext cx="5531555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Cl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i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ent-Side WASM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841" y="4911197"/>
            <a:ext cx="7040317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</a:t>
            </a: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loads complex pose landmark calculations directly to the user's browser using lightweight Google MediaPipe WebAssembly (WASM). This cuts server load to zero and solves latency/OOM issues</a:t>
            </a:r>
          </a:p>
          <a:p>
            <a:pPr algn="l">
              <a:lnSpc>
                <a:spcPts val="305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28269" y="4337105"/>
            <a:ext cx="550602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G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enerative AI Prescription Agent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28269" y="7107031"/>
            <a:ext cx="6158838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edicat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ed Multi-Role Workspaces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841" y="7107031"/>
            <a:ext cx="5877860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Explainable AI</a:t>
            </a:r>
            <a:r>
              <a:rPr lang="en-US" b="true" sz="2377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 (XAI) Rationale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28269" y="7724775"/>
            <a:ext cx="876621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</a:t>
            </a: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om-tailored dashboard interfaces for Athletes (prescriptions &amp; heatmaps), Physiotherapists/Coaches (roster triage &amp; alerts), and Sports Scientists (longitudinal performance charts).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28269" y="4950077"/>
            <a:ext cx="732297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ntegrates Google Gemini LLMs to generate fully personalized, adaptive corrective exercise schedules based on the athlete's sport, role, and measured movement anomalies.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107" y="7640727"/>
            <a:ext cx="701205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5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ranslates backend Random Forest decision trees into clear, clinician-friendly feature attributions (e.g., “ACL sprain risk driven by dynamic knee valgus of 14.2° and stiff landing”).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0771" y="-389441"/>
            <a:ext cx="12529585" cy="13099802"/>
            <a:chOff x="0" y="0"/>
            <a:chExt cx="3185681" cy="333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5681" cy="3330660"/>
            </a:xfrm>
            <a:custGeom>
              <a:avLst/>
              <a:gdLst/>
              <a:ahLst/>
              <a:cxnLst/>
              <a:rect r="r" b="b" t="t" l="l"/>
              <a:pathLst>
                <a:path h="3330660" w="3185681">
                  <a:moveTo>
                    <a:pt x="12068" y="0"/>
                  </a:moveTo>
                  <a:lnTo>
                    <a:pt x="3173612" y="0"/>
                  </a:lnTo>
                  <a:cubicBezTo>
                    <a:pt x="3180278" y="0"/>
                    <a:pt x="3185681" y="5403"/>
                    <a:pt x="3185681" y="12068"/>
                  </a:cubicBezTo>
                  <a:lnTo>
                    <a:pt x="3185681" y="3318592"/>
                  </a:lnTo>
                  <a:cubicBezTo>
                    <a:pt x="3185681" y="3325257"/>
                    <a:pt x="3180278" y="3330660"/>
                    <a:pt x="3173612" y="3330660"/>
                  </a:cubicBezTo>
                  <a:lnTo>
                    <a:pt x="12068" y="3330660"/>
                  </a:lnTo>
                  <a:cubicBezTo>
                    <a:pt x="5403" y="3330660"/>
                    <a:pt x="0" y="3325257"/>
                    <a:pt x="0" y="3318592"/>
                  </a:cubicBezTo>
                  <a:lnTo>
                    <a:pt x="0" y="12068"/>
                  </a:lnTo>
                  <a:cubicBezTo>
                    <a:pt x="0" y="5403"/>
                    <a:pt x="5403" y="0"/>
                    <a:pt x="12068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5681" cy="3368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34331" y="2450160"/>
            <a:ext cx="5977985" cy="6985510"/>
          </a:xfrm>
          <a:custGeom>
            <a:avLst/>
            <a:gdLst/>
            <a:ahLst/>
            <a:cxnLst/>
            <a:rect r="r" b="b" t="t" l="l"/>
            <a:pathLst>
              <a:path h="6985510" w="5977985">
                <a:moveTo>
                  <a:pt x="0" y="0"/>
                </a:moveTo>
                <a:lnTo>
                  <a:pt x="5977985" y="0"/>
                </a:lnTo>
                <a:lnTo>
                  <a:pt x="5977985" y="6985510"/>
                </a:lnTo>
                <a:lnTo>
                  <a:pt x="0" y="698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99305"/>
            <a:ext cx="14584532" cy="1305402"/>
            <a:chOff x="0" y="0"/>
            <a:chExt cx="3000933" cy="26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00933" cy="268601"/>
            </a:xfrm>
            <a:custGeom>
              <a:avLst/>
              <a:gdLst/>
              <a:ahLst/>
              <a:cxnLst/>
              <a:rect r="r" b="b" t="t" l="l"/>
              <a:pathLst>
                <a:path h="268601" w="3000933">
                  <a:moveTo>
                    <a:pt x="10368" y="0"/>
                  </a:moveTo>
                  <a:lnTo>
                    <a:pt x="2990565" y="0"/>
                  </a:lnTo>
                  <a:cubicBezTo>
                    <a:pt x="2993314" y="0"/>
                    <a:pt x="2995952" y="1092"/>
                    <a:pt x="2997896" y="3037"/>
                  </a:cubicBezTo>
                  <a:cubicBezTo>
                    <a:pt x="2999840" y="4981"/>
                    <a:pt x="3000933" y="7618"/>
                    <a:pt x="3000933" y="10368"/>
                  </a:cubicBezTo>
                  <a:lnTo>
                    <a:pt x="3000933" y="258234"/>
                  </a:lnTo>
                  <a:cubicBezTo>
                    <a:pt x="3000933" y="263959"/>
                    <a:pt x="2996291" y="268601"/>
                    <a:pt x="2990565" y="268601"/>
                  </a:cubicBezTo>
                  <a:lnTo>
                    <a:pt x="10368" y="268601"/>
                  </a:lnTo>
                  <a:cubicBezTo>
                    <a:pt x="7618" y="268601"/>
                    <a:pt x="4981" y="267509"/>
                    <a:pt x="3037" y="265565"/>
                  </a:cubicBezTo>
                  <a:cubicBezTo>
                    <a:pt x="1092" y="263620"/>
                    <a:pt x="0" y="260983"/>
                    <a:pt x="0" y="258234"/>
                  </a:cubicBezTo>
                  <a:lnTo>
                    <a:pt x="0" y="10368"/>
                  </a:lnTo>
                  <a:cubicBezTo>
                    <a:pt x="0" y="7618"/>
                    <a:pt x="1092" y="4981"/>
                    <a:pt x="3037" y="3037"/>
                  </a:cubicBezTo>
                  <a:cubicBezTo>
                    <a:pt x="4981" y="1092"/>
                    <a:pt x="7618" y="0"/>
                    <a:pt x="10368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00933" cy="30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004708"/>
            <a:ext cx="4858874" cy="1249417"/>
            <a:chOff x="0" y="0"/>
            <a:chExt cx="999768" cy="257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768" cy="257082"/>
            </a:xfrm>
            <a:custGeom>
              <a:avLst/>
              <a:gdLst/>
              <a:ahLst/>
              <a:cxnLst/>
              <a:rect r="r" b="b" t="t" l="l"/>
              <a:pathLst>
                <a:path h="257082" w="999768">
                  <a:moveTo>
                    <a:pt x="31120" y="0"/>
                  </a:moveTo>
                  <a:lnTo>
                    <a:pt x="968648" y="0"/>
                  </a:lnTo>
                  <a:cubicBezTo>
                    <a:pt x="985835" y="0"/>
                    <a:pt x="999768" y="13933"/>
                    <a:pt x="999768" y="31120"/>
                  </a:cubicBezTo>
                  <a:lnTo>
                    <a:pt x="999768" y="225961"/>
                  </a:lnTo>
                  <a:cubicBezTo>
                    <a:pt x="999768" y="243149"/>
                    <a:pt x="985835" y="257082"/>
                    <a:pt x="968648" y="257082"/>
                  </a:cubicBezTo>
                  <a:lnTo>
                    <a:pt x="31120" y="257082"/>
                  </a:lnTo>
                  <a:cubicBezTo>
                    <a:pt x="13933" y="257082"/>
                    <a:pt x="0" y="243149"/>
                    <a:pt x="0" y="225961"/>
                  </a:cubicBezTo>
                  <a:lnTo>
                    <a:pt x="0" y="31120"/>
                  </a:lnTo>
                  <a:cubicBezTo>
                    <a:pt x="0" y="13933"/>
                    <a:pt x="13933" y="0"/>
                    <a:pt x="31120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9768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98137" y="785508"/>
            <a:ext cx="16060264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System Architecture &amp; Data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8137" y="3469334"/>
            <a:ext cx="7997885" cy="627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1. Edge Processing (Frontend): </a:t>
            </a:r>
            <a:r>
              <a:rPr lang="en-US" sz="30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React captures video frames and extracts 33 3D skeletal joints locally using MediaPipe WASM to eliminate server lag.</a:t>
            </a:r>
          </a:p>
          <a:p>
            <a:pPr algn="l">
              <a:lnSpc>
                <a:spcPts val="3603"/>
              </a:lnSpc>
            </a:pPr>
          </a:p>
          <a:p>
            <a:pPr algn="l">
              <a:lnSpc>
                <a:spcPts val="3603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2. Telemetry Send: </a:t>
            </a:r>
            <a:r>
              <a:rPr lang="en-US" sz="30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Joint angles (valgus, tilt, lean) are calculated in the browser and posted as a lightweight JSON payload.</a:t>
            </a:r>
          </a:p>
          <a:p>
            <a:pPr algn="l">
              <a:lnSpc>
                <a:spcPts val="3603"/>
              </a:lnSpc>
            </a:pPr>
          </a:p>
          <a:p>
            <a:pPr algn="l">
              <a:lnSpc>
                <a:spcPts val="3603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3. Async Database (Backend): </a:t>
            </a:r>
            <a:r>
              <a:rPr lang="en-US" sz="30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A FastAPI async server routes the data, saves it to MongoDB Atlas, and triggers live dashboard updates.</a:t>
            </a:r>
          </a:p>
          <a:p>
            <a:pPr algn="l">
              <a:lnSpc>
                <a:spcPts val="252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252" y="2450075"/>
            <a:ext cx="8465512" cy="6808225"/>
            <a:chOff x="0" y="0"/>
            <a:chExt cx="2152379" cy="1731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2379" cy="1731010"/>
            </a:xfrm>
            <a:custGeom>
              <a:avLst/>
              <a:gdLst/>
              <a:ahLst/>
              <a:cxnLst/>
              <a:rect r="r" b="b" t="t" l="l"/>
              <a:pathLst>
                <a:path h="1731010" w="2152379">
                  <a:moveTo>
                    <a:pt x="17862" y="0"/>
                  </a:moveTo>
                  <a:lnTo>
                    <a:pt x="2134517" y="0"/>
                  </a:lnTo>
                  <a:cubicBezTo>
                    <a:pt x="2139255" y="0"/>
                    <a:pt x="2143798" y="1882"/>
                    <a:pt x="2147148" y="5232"/>
                  </a:cubicBezTo>
                  <a:cubicBezTo>
                    <a:pt x="2150497" y="8581"/>
                    <a:pt x="2152379" y="13125"/>
                    <a:pt x="2152379" y="17862"/>
                  </a:cubicBezTo>
                  <a:lnTo>
                    <a:pt x="2152379" y="1713148"/>
                  </a:lnTo>
                  <a:cubicBezTo>
                    <a:pt x="2152379" y="1717885"/>
                    <a:pt x="2150497" y="1722428"/>
                    <a:pt x="2147148" y="1725778"/>
                  </a:cubicBezTo>
                  <a:cubicBezTo>
                    <a:pt x="2143798" y="1729128"/>
                    <a:pt x="2139255" y="1731010"/>
                    <a:pt x="2134517" y="1731010"/>
                  </a:cubicBezTo>
                  <a:lnTo>
                    <a:pt x="17862" y="1731010"/>
                  </a:lnTo>
                  <a:cubicBezTo>
                    <a:pt x="13125" y="1731010"/>
                    <a:pt x="8581" y="1729128"/>
                    <a:pt x="5232" y="1725778"/>
                  </a:cubicBezTo>
                  <a:cubicBezTo>
                    <a:pt x="1882" y="1722428"/>
                    <a:pt x="0" y="1717885"/>
                    <a:pt x="0" y="1713148"/>
                  </a:cubicBezTo>
                  <a:lnTo>
                    <a:pt x="0" y="17862"/>
                  </a:lnTo>
                  <a:cubicBezTo>
                    <a:pt x="0" y="13125"/>
                    <a:pt x="1882" y="8581"/>
                    <a:pt x="5232" y="5232"/>
                  </a:cubicBezTo>
                  <a:cubicBezTo>
                    <a:pt x="8581" y="1882"/>
                    <a:pt x="13125" y="0"/>
                    <a:pt x="17862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2379" cy="1769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8713" y="2678977"/>
            <a:ext cx="7965287" cy="6272946"/>
          </a:xfrm>
          <a:custGeom>
            <a:avLst/>
            <a:gdLst/>
            <a:ahLst/>
            <a:cxnLst/>
            <a:rect r="r" b="b" t="t" l="l"/>
            <a:pathLst>
              <a:path h="6272946" w="7965287">
                <a:moveTo>
                  <a:pt x="0" y="0"/>
                </a:moveTo>
                <a:lnTo>
                  <a:pt x="7965287" y="0"/>
                </a:lnTo>
                <a:lnTo>
                  <a:pt x="7965287" y="6272946"/>
                </a:lnTo>
                <a:lnTo>
                  <a:pt x="0" y="6272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3504" y="823608"/>
            <a:ext cx="15824025" cy="1181100"/>
            <a:chOff x="0" y="0"/>
            <a:chExt cx="3255972" cy="243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5972" cy="243025"/>
            </a:xfrm>
            <a:custGeom>
              <a:avLst/>
              <a:gdLst/>
              <a:ahLst/>
              <a:cxnLst/>
              <a:rect r="r" b="b" t="t" l="l"/>
              <a:pathLst>
                <a:path h="243025" w="3255972">
                  <a:moveTo>
                    <a:pt x="9556" y="0"/>
                  </a:moveTo>
                  <a:lnTo>
                    <a:pt x="3246417" y="0"/>
                  </a:lnTo>
                  <a:cubicBezTo>
                    <a:pt x="3248951" y="0"/>
                    <a:pt x="3251381" y="1007"/>
                    <a:pt x="3253174" y="2799"/>
                  </a:cubicBezTo>
                  <a:cubicBezTo>
                    <a:pt x="3254965" y="4591"/>
                    <a:pt x="3255972" y="7021"/>
                    <a:pt x="3255972" y="9556"/>
                  </a:cubicBezTo>
                  <a:lnTo>
                    <a:pt x="3255972" y="233469"/>
                  </a:lnTo>
                  <a:cubicBezTo>
                    <a:pt x="3255972" y="238746"/>
                    <a:pt x="3251694" y="243025"/>
                    <a:pt x="3246417" y="243025"/>
                  </a:cubicBezTo>
                  <a:lnTo>
                    <a:pt x="9556" y="243025"/>
                  </a:lnTo>
                  <a:cubicBezTo>
                    <a:pt x="7021" y="243025"/>
                    <a:pt x="4591" y="242018"/>
                    <a:pt x="2799" y="240226"/>
                  </a:cubicBezTo>
                  <a:cubicBezTo>
                    <a:pt x="1007" y="238434"/>
                    <a:pt x="0" y="236003"/>
                    <a:pt x="0" y="233469"/>
                  </a:cubicBezTo>
                  <a:lnTo>
                    <a:pt x="0" y="9556"/>
                  </a:lnTo>
                  <a:cubicBezTo>
                    <a:pt x="0" y="4278"/>
                    <a:pt x="4278" y="0"/>
                    <a:pt x="9556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55972" cy="281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8137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ML &amp; Ri</a:t>
            </a: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sk Scoring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0548" y="2762688"/>
            <a:ext cx="7686961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1. Random Forest Ensemble: </a:t>
            </a:r>
            <a:r>
              <a:rPr lang="en-US" sz="31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6 classifiers predict individual injury risks (ACL, hamstring, ankle, shoulder, back, overuse).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2. Anomaly Engine:</a:t>
            </a:r>
            <a:r>
              <a:rPr lang="en-US" sz="31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 Unsupervised Isolation Forest detects critical movement breakdowns and form collapses.</a:t>
            </a:r>
          </a:p>
          <a:p>
            <a:pPr algn="l">
              <a:lnSpc>
                <a:spcPts val="3723"/>
              </a:lnSpc>
            </a:pPr>
          </a:p>
          <a:p>
            <a:pPr algn="l">
              <a:lnSpc>
                <a:spcPts val="3721"/>
              </a:lnSpc>
            </a:pPr>
            <a:r>
              <a:rPr lang="en-US" sz="3101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3. 5-Factor Score Formula:</a:t>
            </a:r>
            <a:r>
              <a:rPr lang="en-US" sz="31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 Calculates overall risk using a clinical weight model: Injury Risk = 35%(Biomechanics) + 20%(History) + 20%(Asymmetry) + 15%(Load) + 10%(Fatigue)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12157" y="-164246"/>
            <a:ext cx="7068590" cy="11241938"/>
            <a:chOff x="0" y="0"/>
            <a:chExt cx="1797208" cy="28582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7208" cy="2858293"/>
            </a:xfrm>
            <a:custGeom>
              <a:avLst/>
              <a:gdLst/>
              <a:ahLst/>
              <a:cxnLst/>
              <a:rect r="r" b="b" t="t" l="l"/>
              <a:pathLst>
                <a:path h="2858293" w="1797208">
                  <a:moveTo>
                    <a:pt x="21392" y="0"/>
                  </a:moveTo>
                  <a:lnTo>
                    <a:pt x="1775816" y="0"/>
                  </a:lnTo>
                  <a:cubicBezTo>
                    <a:pt x="1781490" y="0"/>
                    <a:pt x="1786931" y="2254"/>
                    <a:pt x="1790942" y="6265"/>
                  </a:cubicBezTo>
                  <a:cubicBezTo>
                    <a:pt x="1794954" y="10277"/>
                    <a:pt x="1797208" y="15718"/>
                    <a:pt x="1797208" y="21392"/>
                  </a:cubicBezTo>
                  <a:lnTo>
                    <a:pt x="1797208" y="2836901"/>
                  </a:lnTo>
                  <a:cubicBezTo>
                    <a:pt x="1797208" y="2842575"/>
                    <a:pt x="1794954" y="2848016"/>
                    <a:pt x="1790942" y="2852027"/>
                  </a:cubicBezTo>
                  <a:cubicBezTo>
                    <a:pt x="1786931" y="2856039"/>
                    <a:pt x="1781490" y="2858293"/>
                    <a:pt x="1775816" y="2858293"/>
                  </a:cubicBezTo>
                  <a:lnTo>
                    <a:pt x="21392" y="2858293"/>
                  </a:lnTo>
                  <a:cubicBezTo>
                    <a:pt x="15718" y="2858293"/>
                    <a:pt x="10277" y="2856039"/>
                    <a:pt x="6265" y="2852027"/>
                  </a:cubicBezTo>
                  <a:cubicBezTo>
                    <a:pt x="2254" y="2848016"/>
                    <a:pt x="0" y="2842575"/>
                    <a:pt x="0" y="2836901"/>
                  </a:cubicBezTo>
                  <a:lnTo>
                    <a:pt x="0" y="21392"/>
                  </a:lnTo>
                  <a:cubicBezTo>
                    <a:pt x="0" y="15718"/>
                    <a:pt x="2254" y="10277"/>
                    <a:pt x="6265" y="6265"/>
                  </a:cubicBezTo>
                  <a:cubicBezTo>
                    <a:pt x="10277" y="2254"/>
                    <a:pt x="15718" y="0"/>
                    <a:pt x="21392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97208" cy="2896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886" y="699305"/>
            <a:ext cx="12611731" cy="2656890"/>
            <a:chOff x="0" y="0"/>
            <a:chExt cx="2595006" cy="5466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95006" cy="546685"/>
            </a:xfrm>
            <a:custGeom>
              <a:avLst/>
              <a:gdLst/>
              <a:ahLst/>
              <a:cxnLst/>
              <a:rect r="r" b="b" t="t" l="l"/>
              <a:pathLst>
                <a:path h="546685" w="2595006">
                  <a:moveTo>
                    <a:pt x="11990" y="0"/>
                  </a:moveTo>
                  <a:lnTo>
                    <a:pt x="2583017" y="0"/>
                  </a:lnTo>
                  <a:cubicBezTo>
                    <a:pt x="2586197" y="0"/>
                    <a:pt x="2589246" y="1263"/>
                    <a:pt x="2591495" y="3512"/>
                  </a:cubicBezTo>
                  <a:cubicBezTo>
                    <a:pt x="2593743" y="5760"/>
                    <a:pt x="2595006" y="8810"/>
                    <a:pt x="2595006" y="11990"/>
                  </a:cubicBezTo>
                  <a:lnTo>
                    <a:pt x="2595006" y="534696"/>
                  </a:lnTo>
                  <a:cubicBezTo>
                    <a:pt x="2595006" y="537875"/>
                    <a:pt x="2593743" y="540925"/>
                    <a:pt x="2591495" y="543173"/>
                  </a:cubicBezTo>
                  <a:cubicBezTo>
                    <a:pt x="2589246" y="545422"/>
                    <a:pt x="2586197" y="546685"/>
                    <a:pt x="2583017" y="546685"/>
                  </a:cubicBezTo>
                  <a:lnTo>
                    <a:pt x="11990" y="546685"/>
                  </a:lnTo>
                  <a:cubicBezTo>
                    <a:pt x="8810" y="546685"/>
                    <a:pt x="5760" y="545422"/>
                    <a:pt x="3512" y="543173"/>
                  </a:cubicBezTo>
                  <a:cubicBezTo>
                    <a:pt x="1263" y="540925"/>
                    <a:pt x="0" y="537875"/>
                    <a:pt x="0" y="534696"/>
                  </a:cubicBezTo>
                  <a:lnTo>
                    <a:pt x="0" y="11990"/>
                  </a:lnTo>
                  <a:cubicBezTo>
                    <a:pt x="0" y="8810"/>
                    <a:pt x="1263" y="5760"/>
                    <a:pt x="3512" y="3512"/>
                  </a:cubicBezTo>
                  <a:cubicBezTo>
                    <a:pt x="5760" y="1263"/>
                    <a:pt x="8810" y="0"/>
                    <a:pt x="11990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95006" cy="584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785508"/>
            <a:ext cx="16060264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 &amp; Core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2935" y="3751992"/>
            <a:ext cx="7686961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Frontend &amp; Edge Assets</a:t>
            </a: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React.js &amp; Vite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Core responsive user interface shell built for rapid rendering.</a:t>
            </a:r>
          </a:p>
          <a:p>
            <a:pPr algn="l">
              <a:lnSpc>
                <a:spcPts val="3241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HTML5 Canvas API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Draws live skeletal overlays (joint nodes and bone lines) at 25+ FPS.</a:t>
            </a:r>
          </a:p>
          <a:p>
            <a:pPr algn="l">
              <a:lnSpc>
                <a:spcPts val="3241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MediaPipe Tasks Vision WASM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Static CDN vision bundle used to compute landmarks in the browser.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0112" y="3742467"/>
            <a:ext cx="8281010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849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Backend &amp; Databases</a:t>
            </a: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Python &amp; FastAPI Core</a:t>
            </a: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Asynchronous core endpoints handling authentication, uploads, and reports.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MongoDB Atlas &amp; Motor Async</a:t>
            </a: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Document store hosting schemas for athletes, predictions, and notifications.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ML Models &amp; Gemini LLM</a:t>
            </a: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Scikit-Learn Random Forests combined with Google Gemini API schemas.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8139" y="699305"/>
            <a:ext cx="18554777" cy="13916083"/>
          </a:xfrm>
          <a:custGeom>
            <a:avLst/>
            <a:gdLst/>
            <a:ahLst/>
            <a:cxnLst/>
            <a:rect r="r" b="b" t="t" l="l"/>
            <a:pathLst>
              <a:path h="13916083" w="18554777">
                <a:moveTo>
                  <a:pt x="0" y="0"/>
                </a:moveTo>
                <a:lnTo>
                  <a:pt x="18554777" y="0"/>
                </a:lnTo>
                <a:lnTo>
                  <a:pt x="18554777" y="13916083"/>
                </a:lnTo>
                <a:lnTo>
                  <a:pt x="0" y="13916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137" y="2129667"/>
            <a:ext cx="8045863" cy="3338253"/>
          </a:xfrm>
          <a:custGeom>
            <a:avLst/>
            <a:gdLst/>
            <a:ahLst/>
            <a:cxnLst/>
            <a:rect r="r" b="b" t="t" l="l"/>
            <a:pathLst>
              <a:path h="3338253" w="8045863">
                <a:moveTo>
                  <a:pt x="0" y="0"/>
                </a:moveTo>
                <a:lnTo>
                  <a:pt x="8045863" y="0"/>
                </a:lnTo>
                <a:lnTo>
                  <a:pt x="8045863" y="3338253"/>
                </a:lnTo>
                <a:lnTo>
                  <a:pt x="0" y="333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083" r="0" b="-110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8137" y="6244467"/>
            <a:ext cx="8030132" cy="3518913"/>
          </a:xfrm>
          <a:custGeom>
            <a:avLst/>
            <a:gdLst/>
            <a:ahLst/>
            <a:cxnLst/>
            <a:rect r="r" b="b" t="t" l="l"/>
            <a:pathLst>
              <a:path h="3518913" w="8030132">
                <a:moveTo>
                  <a:pt x="0" y="0"/>
                </a:moveTo>
                <a:lnTo>
                  <a:pt x="8030132" y="0"/>
                </a:lnTo>
                <a:lnTo>
                  <a:pt x="8030132" y="3518913"/>
                </a:lnTo>
                <a:lnTo>
                  <a:pt x="0" y="3518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834" r="0" b="-78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31776" y="2129667"/>
            <a:ext cx="5476359" cy="7633713"/>
          </a:xfrm>
          <a:custGeom>
            <a:avLst/>
            <a:gdLst/>
            <a:ahLst/>
            <a:cxnLst/>
            <a:rect r="r" b="b" t="t" l="l"/>
            <a:pathLst>
              <a:path h="7633713" w="5476359">
                <a:moveTo>
                  <a:pt x="0" y="0"/>
                </a:moveTo>
                <a:lnTo>
                  <a:pt x="5476359" y="0"/>
                </a:lnTo>
                <a:lnTo>
                  <a:pt x="5476359" y="7633713"/>
                </a:lnTo>
                <a:lnTo>
                  <a:pt x="0" y="7633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8139" y="699305"/>
            <a:ext cx="16358865" cy="1249417"/>
            <a:chOff x="0" y="0"/>
            <a:chExt cx="3366022" cy="257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6022" cy="257082"/>
            </a:xfrm>
            <a:custGeom>
              <a:avLst/>
              <a:gdLst/>
              <a:ahLst/>
              <a:cxnLst/>
              <a:rect r="r" b="b" t="t" l="l"/>
              <a:pathLst>
                <a:path h="257082" w="3366022">
                  <a:moveTo>
                    <a:pt x="9243" y="0"/>
                  </a:moveTo>
                  <a:lnTo>
                    <a:pt x="3356778" y="0"/>
                  </a:lnTo>
                  <a:cubicBezTo>
                    <a:pt x="3359230" y="0"/>
                    <a:pt x="3361581" y="974"/>
                    <a:pt x="3363314" y="2707"/>
                  </a:cubicBezTo>
                  <a:cubicBezTo>
                    <a:pt x="3365048" y="4441"/>
                    <a:pt x="3366022" y="6792"/>
                    <a:pt x="3366022" y="9243"/>
                  </a:cubicBezTo>
                  <a:lnTo>
                    <a:pt x="3366022" y="247838"/>
                  </a:lnTo>
                  <a:cubicBezTo>
                    <a:pt x="3366022" y="250290"/>
                    <a:pt x="3365048" y="252641"/>
                    <a:pt x="3363314" y="254374"/>
                  </a:cubicBezTo>
                  <a:cubicBezTo>
                    <a:pt x="3361581" y="256108"/>
                    <a:pt x="3359230" y="257082"/>
                    <a:pt x="3356778" y="257082"/>
                  </a:cubicBezTo>
                  <a:lnTo>
                    <a:pt x="9243" y="257082"/>
                  </a:lnTo>
                  <a:cubicBezTo>
                    <a:pt x="6792" y="257082"/>
                    <a:pt x="4441" y="256108"/>
                    <a:pt x="2707" y="254374"/>
                  </a:cubicBezTo>
                  <a:cubicBezTo>
                    <a:pt x="974" y="252641"/>
                    <a:pt x="0" y="250290"/>
                    <a:pt x="0" y="247838"/>
                  </a:cubicBezTo>
                  <a:lnTo>
                    <a:pt x="0" y="9243"/>
                  </a:lnTo>
                  <a:cubicBezTo>
                    <a:pt x="0" y="6792"/>
                    <a:pt x="974" y="4441"/>
                    <a:pt x="2707" y="2707"/>
                  </a:cubicBezTo>
                  <a:cubicBezTo>
                    <a:pt x="4441" y="974"/>
                    <a:pt x="6792" y="0"/>
                    <a:pt x="9243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66022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8137" y="795033"/>
            <a:ext cx="1606026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0"/>
              </a:lnSpc>
            </a:pPr>
            <a:r>
              <a:rPr lang="en-US" sz="71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UI/UX Design &amp; Dashboard Interface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1540" y="-1143524"/>
            <a:ext cx="18639540" cy="4542366"/>
            <a:chOff x="0" y="0"/>
            <a:chExt cx="4739153" cy="1154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9153" cy="1154909"/>
            </a:xfrm>
            <a:custGeom>
              <a:avLst/>
              <a:gdLst/>
              <a:ahLst/>
              <a:cxnLst/>
              <a:rect r="r" b="b" t="t" l="l"/>
              <a:pathLst>
                <a:path h="1154909" w="4739153">
                  <a:moveTo>
                    <a:pt x="8112" y="0"/>
                  </a:moveTo>
                  <a:lnTo>
                    <a:pt x="4731041" y="0"/>
                  </a:lnTo>
                  <a:cubicBezTo>
                    <a:pt x="4735521" y="0"/>
                    <a:pt x="4739153" y="3632"/>
                    <a:pt x="4739153" y="8112"/>
                  </a:cubicBezTo>
                  <a:lnTo>
                    <a:pt x="4739153" y="1146797"/>
                  </a:lnTo>
                  <a:cubicBezTo>
                    <a:pt x="4739153" y="1151277"/>
                    <a:pt x="4735521" y="1154909"/>
                    <a:pt x="4731041" y="1154909"/>
                  </a:cubicBezTo>
                  <a:lnTo>
                    <a:pt x="8112" y="1154909"/>
                  </a:lnTo>
                  <a:cubicBezTo>
                    <a:pt x="3632" y="1154909"/>
                    <a:pt x="0" y="1151277"/>
                    <a:pt x="0" y="1146797"/>
                  </a:cubicBezTo>
                  <a:lnTo>
                    <a:pt x="0" y="8112"/>
                  </a:lnTo>
                  <a:cubicBezTo>
                    <a:pt x="0" y="3632"/>
                    <a:pt x="3632" y="0"/>
                    <a:pt x="8112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39153" cy="1193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0737" y="699305"/>
            <a:ext cx="16415164" cy="1309910"/>
            <a:chOff x="0" y="0"/>
            <a:chExt cx="3377606" cy="269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77606" cy="269529"/>
            </a:xfrm>
            <a:custGeom>
              <a:avLst/>
              <a:gdLst/>
              <a:ahLst/>
              <a:cxnLst/>
              <a:rect r="r" b="b" t="t" l="l"/>
              <a:pathLst>
                <a:path h="269529" w="3377606">
                  <a:moveTo>
                    <a:pt x="9212" y="0"/>
                  </a:moveTo>
                  <a:lnTo>
                    <a:pt x="3368394" y="0"/>
                  </a:lnTo>
                  <a:cubicBezTo>
                    <a:pt x="3373482" y="0"/>
                    <a:pt x="3377606" y="4124"/>
                    <a:pt x="3377606" y="9212"/>
                  </a:cubicBezTo>
                  <a:lnTo>
                    <a:pt x="3377606" y="260317"/>
                  </a:lnTo>
                  <a:cubicBezTo>
                    <a:pt x="3377606" y="265405"/>
                    <a:pt x="3373482" y="269529"/>
                    <a:pt x="3368394" y="269529"/>
                  </a:cubicBezTo>
                  <a:lnTo>
                    <a:pt x="9212" y="269529"/>
                  </a:lnTo>
                  <a:cubicBezTo>
                    <a:pt x="4124" y="269529"/>
                    <a:pt x="0" y="265405"/>
                    <a:pt x="0" y="260317"/>
                  </a:cubicBezTo>
                  <a:lnTo>
                    <a:pt x="0" y="9212"/>
                  </a:lnTo>
                  <a:cubicBezTo>
                    <a:pt x="0" y="4124"/>
                    <a:pt x="4124" y="0"/>
                    <a:pt x="9212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77606" cy="307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Project Demo &amp; System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1201" y="3638929"/>
            <a:ext cx="15947201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1. Motion Video Capture</a:t>
            </a: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Athlete uploads an mp4 or captures live squat/landing drills directly from their webcam using the HTML5 viewfinder.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2. WebAssembly Skeleton Extraction</a:t>
            </a: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The browser loops frames, detects 33 landmark locations, and calculates joint angles locally (scanning progress 0-100%).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3. Core Engine Telemetry Processing</a:t>
            </a: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JSON telemetry is posted to the backend FastAPI server, running the Random Forest classifier and Isolation Forest scorer.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4. Generative AI Prescription &amp; Dashboard Render</a:t>
            </a: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The Gemini AI agent generates corrective exercises. Rationale cards, heatmaps, and topbar notification warnings update instantly.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137" y="2523566"/>
            <a:ext cx="160317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0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End-to-end user experience and data lifecycle during a movement scan.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289" y="3298138"/>
            <a:ext cx="7969372" cy="5386850"/>
            <a:chOff x="0" y="0"/>
            <a:chExt cx="2026234" cy="13696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6234" cy="1369621"/>
            </a:xfrm>
            <a:custGeom>
              <a:avLst/>
              <a:gdLst/>
              <a:ahLst/>
              <a:cxnLst/>
              <a:rect r="r" b="b" t="t" l="l"/>
              <a:pathLst>
                <a:path h="1369621" w="2026234">
                  <a:moveTo>
                    <a:pt x="18974" y="0"/>
                  </a:moveTo>
                  <a:lnTo>
                    <a:pt x="2007261" y="0"/>
                  </a:lnTo>
                  <a:cubicBezTo>
                    <a:pt x="2012293" y="0"/>
                    <a:pt x="2017119" y="1999"/>
                    <a:pt x="2020677" y="5557"/>
                  </a:cubicBezTo>
                  <a:cubicBezTo>
                    <a:pt x="2024235" y="9116"/>
                    <a:pt x="2026234" y="13942"/>
                    <a:pt x="2026234" y="18974"/>
                  </a:cubicBezTo>
                  <a:lnTo>
                    <a:pt x="2026234" y="1350647"/>
                  </a:lnTo>
                  <a:cubicBezTo>
                    <a:pt x="2026234" y="1361126"/>
                    <a:pt x="2017740" y="1369621"/>
                    <a:pt x="2007261" y="1369621"/>
                  </a:cubicBezTo>
                  <a:lnTo>
                    <a:pt x="18974" y="1369621"/>
                  </a:lnTo>
                  <a:cubicBezTo>
                    <a:pt x="8495" y="1369621"/>
                    <a:pt x="0" y="1361126"/>
                    <a:pt x="0" y="1350647"/>
                  </a:cubicBezTo>
                  <a:lnTo>
                    <a:pt x="0" y="18974"/>
                  </a:lnTo>
                  <a:cubicBezTo>
                    <a:pt x="0" y="8495"/>
                    <a:pt x="8495" y="0"/>
                    <a:pt x="18974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6234" cy="1407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886" y="699305"/>
            <a:ext cx="15035840" cy="1305402"/>
            <a:chOff x="0" y="0"/>
            <a:chExt cx="3093794" cy="2686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93794" cy="268601"/>
            </a:xfrm>
            <a:custGeom>
              <a:avLst/>
              <a:gdLst/>
              <a:ahLst/>
              <a:cxnLst/>
              <a:rect r="r" b="b" t="t" l="l"/>
              <a:pathLst>
                <a:path h="268601" w="3093794">
                  <a:moveTo>
                    <a:pt x="10057" y="0"/>
                  </a:moveTo>
                  <a:lnTo>
                    <a:pt x="3083738" y="0"/>
                  </a:lnTo>
                  <a:cubicBezTo>
                    <a:pt x="3086405" y="0"/>
                    <a:pt x="3088963" y="1060"/>
                    <a:pt x="3090849" y="2946"/>
                  </a:cubicBezTo>
                  <a:cubicBezTo>
                    <a:pt x="3092735" y="4831"/>
                    <a:pt x="3093794" y="7389"/>
                    <a:pt x="3093794" y="10057"/>
                  </a:cubicBezTo>
                  <a:lnTo>
                    <a:pt x="3093794" y="258545"/>
                  </a:lnTo>
                  <a:cubicBezTo>
                    <a:pt x="3093794" y="261212"/>
                    <a:pt x="3092735" y="263770"/>
                    <a:pt x="3090849" y="265656"/>
                  </a:cubicBezTo>
                  <a:cubicBezTo>
                    <a:pt x="3088963" y="267542"/>
                    <a:pt x="3086405" y="268601"/>
                    <a:pt x="3083738" y="268601"/>
                  </a:cubicBezTo>
                  <a:lnTo>
                    <a:pt x="10057" y="268601"/>
                  </a:lnTo>
                  <a:cubicBezTo>
                    <a:pt x="7389" y="268601"/>
                    <a:pt x="4831" y="267542"/>
                    <a:pt x="2946" y="265656"/>
                  </a:cubicBezTo>
                  <a:cubicBezTo>
                    <a:pt x="1060" y="263770"/>
                    <a:pt x="0" y="261212"/>
                    <a:pt x="0" y="258545"/>
                  </a:cubicBezTo>
                  <a:lnTo>
                    <a:pt x="0" y="10057"/>
                  </a:lnTo>
                  <a:cubicBezTo>
                    <a:pt x="0" y="7389"/>
                    <a:pt x="1060" y="4831"/>
                    <a:pt x="2946" y="2946"/>
                  </a:cubicBezTo>
                  <a:cubicBezTo>
                    <a:pt x="4831" y="1060"/>
                    <a:pt x="7389" y="0"/>
                    <a:pt x="10057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93794" cy="30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5330" y="3285128"/>
            <a:ext cx="7969372" cy="5386850"/>
            <a:chOff x="0" y="0"/>
            <a:chExt cx="2026234" cy="1369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234" cy="1369621"/>
            </a:xfrm>
            <a:custGeom>
              <a:avLst/>
              <a:gdLst/>
              <a:ahLst/>
              <a:cxnLst/>
              <a:rect r="r" b="b" t="t" l="l"/>
              <a:pathLst>
                <a:path h="1369621" w="2026234">
                  <a:moveTo>
                    <a:pt x="18974" y="0"/>
                  </a:moveTo>
                  <a:lnTo>
                    <a:pt x="2007261" y="0"/>
                  </a:lnTo>
                  <a:cubicBezTo>
                    <a:pt x="2012293" y="0"/>
                    <a:pt x="2017119" y="1999"/>
                    <a:pt x="2020677" y="5557"/>
                  </a:cubicBezTo>
                  <a:cubicBezTo>
                    <a:pt x="2024235" y="9116"/>
                    <a:pt x="2026234" y="13942"/>
                    <a:pt x="2026234" y="18974"/>
                  </a:cubicBezTo>
                  <a:lnTo>
                    <a:pt x="2026234" y="1350647"/>
                  </a:lnTo>
                  <a:cubicBezTo>
                    <a:pt x="2026234" y="1361126"/>
                    <a:pt x="2017740" y="1369621"/>
                    <a:pt x="2007261" y="1369621"/>
                  </a:cubicBezTo>
                  <a:lnTo>
                    <a:pt x="18974" y="1369621"/>
                  </a:lnTo>
                  <a:cubicBezTo>
                    <a:pt x="8495" y="1369621"/>
                    <a:pt x="0" y="1361126"/>
                    <a:pt x="0" y="1350647"/>
                  </a:cubicBezTo>
                  <a:lnTo>
                    <a:pt x="0" y="18974"/>
                  </a:lnTo>
                  <a:cubicBezTo>
                    <a:pt x="0" y="8495"/>
                    <a:pt x="8495" y="0"/>
                    <a:pt x="18974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6234" cy="1407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6403" y="785508"/>
            <a:ext cx="1606026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Results &amp; Expected Outcomes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16341"/>
            <a:ext cx="7686961" cy="489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3"/>
              </a:lnSpc>
            </a:pPr>
            <a:r>
              <a:rPr lang="en-US" sz="37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Model &amp; Engine Performance</a:t>
            </a: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94.2% ACL Injury Risk Accuracy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Model trained on 10,000+ kinematic data rows predicts ACL tears with high precision.</a:t>
            </a:r>
          </a:p>
          <a:p>
            <a:pPr algn="l">
              <a:lnSpc>
                <a:spcPts val="3001"/>
              </a:lnSpc>
            </a:pP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92.8% Hamstring Risk Accuracy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Accurately maps force imbalances and high knee flexion loading anomalies.</a:t>
            </a:r>
          </a:p>
          <a:p>
            <a:pPr algn="l">
              <a:lnSpc>
                <a:spcPts val="3001"/>
              </a:lnSpc>
            </a:pP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Sub-Second API Response Time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FastAPI executes predictions and anomalies checking in under 0.5s via telemetry bypass.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6535" y="3516341"/>
            <a:ext cx="7686961" cy="489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3"/>
              </a:lnSpc>
            </a:pPr>
            <a:r>
              <a:rPr lang="en-US" sz="37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System Operational Reliability</a:t>
            </a: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Zero Server-Side SIGKILL Crashes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Bypassing MediaPipe model loading on Render keeps RAM usage below 30MB permanently.</a:t>
            </a:r>
          </a:p>
          <a:p>
            <a:pPr algn="l">
              <a:lnSpc>
                <a:spcPts val="3001"/>
              </a:lnSpc>
            </a:pP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200ms Notification Delivery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High-risk anomalies trigger topbar alert warning notifications dynamically.</a:t>
            </a:r>
          </a:p>
          <a:p>
            <a:pPr algn="l">
              <a:lnSpc>
                <a:spcPts val="3001"/>
              </a:lnSpc>
            </a:pPr>
          </a:p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F5EBE6"/>
                </a:solidFill>
                <a:latin typeface="Arial Bold"/>
                <a:ea typeface="Arial Bold"/>
                <a:cs typeface="Arial Bold"/>
                <a:sym typeface="Arial Bold"/>
              </a:rPr>
              <a:t>One-Click Data Export Utilities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A89B95"/>
                </a:solidFill>
                <a:latin typeface="Arial"/>
                <a:ea typeface="Arial"/>
                <a:cs typeface="Arial"/>
                <a:sym typeface="Arial"/>
              </a:rPr>
              <a:t>Instant ReportLab PDF medical summaries and CSV telemetry logs generated on demand.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2065" y="2431912"/>
            <a:ext cx="1562719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  <a:spcBef>
                <a:spcPct val="0"/>
              </a:spcBef>
            </a:pPr>
            <a:r>
              <a:rPr lang="en-US" b="true" sz="4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performance indicators and platform validation metrics.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137" y="3185808"/>
            <a:ext cx="9558069" cy="6528684"/>
            <a:chOff x="0" y="0"/>
            <a:chExt cx="2430165" cy="1659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0165" cy="1659936"/>
            </a:xfrm>
            <a:custGeom>
              <a:avLst/>
              <a:gdLst/>
              <a:ahLst/>
              <a:cxnLst/>
              <a:rect r="r" b="b" t="t" l="l"/>
              <a:pathLst>
                <a:path h="1659936" w="2430165">
                  <a:moveTo>
                    <a:pt x="15820" y="0"/>
                  </a:moveTo>
                  <a:lnTo>
                    <a:pt x="2414344" y="0"/>
                  </a:lnTo>
                  <a:cubicBezTo>
                    <a:pt x="2423082" y="0"/>
                    <a:pt x="2430165" y="7083"/>
                    <a:pt x="2430165" y="15820"/>
                  </a:cubicBezTo>
                  <a:lnTo>
                    <a:pt x="2430165" y="1644115"/>
                  </a:lnTo>
                  <a:cubicBezTo>
                    <a:pt x="2430165" y="1652853"/>
                    <a:pt x="2423082" y="1659936"/>
                    <a:pt x="2414344" y="1659936"/>
                  </a:cubicBezTo>
                  <a:lnTo>
                    <a:pt x="15820" y="1659936"/>
                  </a:lnTo>
                  <a:cubicBezTo>
                    <a:pt x="7083" y="1659936"/>
                    <a:pt x="0" y="1652853"/>
                    <a:pt x="0" y="1644115"/>
                  </a:cubicBezTo>
                  <a:lnTo>
                    <a:pt x="0" y="15820"/>
                  </a:lnTo>
                  <a:cubicBezTo>
                    <a:pt x="0" y="7083"/>
                    <a:pt x="7083" y="0"/>
                    <a:pt x="15820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0165" cy="1698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652621" y="-126175"/>
            <a:ext cx="25284129" cy="11045293"/>
            <a:chOff x="0" y="0"/>
            <a:chExt cx="3381576" cy="1477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81576" cy="1477231"/>
            </a:xfrm>
            <a:custGeom>
              <a:avLst/>
              <a:gdLst/>
              <a:ahLst/>
              <a:cxnLst/>
              <a:rect r="r" b="b" t="t" l="l"/>
              <a:pathLst>
                <a:path h="1477231" w="3381576">
                  <a:moveTo>
                    <a:pt x="5980" y="0"/>
                  </a:moveTo>
                  <a:lnTo>
                    <a:pt x="3375596" y="0"/>
                  </a:lnTo>
                  <a:cubicBezTo>
                    <a:pt x="3377181" y="0"/>
                    <a:pt x="3378703" y="630"/>
                    <a:pt x="3379824" y="1752"/>
                  </a:cubicBezTo>
                  <a:cubicBezTo>
                    <a:pt x="3380946" y="2873"/>
                    <a:pt x="3381576" y="4394"/>
                    <a:pt x="3381576" y="5980"/>
                  </a:cubicBezTo>
                  <a:lnTo>
                    <a:pt x="3381576" y="1471251"/>
                  </a:lnTo>
                  <a:cubicBezTo>
                    <a:pt x="3381576" y="1474553"/>
                    <a:pt x="3378898" y="1477231"/>
                    <a:pt x="3375596" y="1477231"/>
                  </a:cubicBezTo>
                  <a:lnTo>
                    <a:pt x="5980" y="1477231"/>
                  </a:lnTo>
                  <a:cubicBezTo>
                    <a:pt x="2678" y="1477231"/>
                    <a:pt x="0" y="1474553"/>
                    <a:pt x="0" y="1471251"/>
                  </a:cubicBezTo>
                  <a:lnTo>
                    <a:pt x="0" y="5980"/>
                  </a:lnTo>
                  <a:cubicBezTo>
                    <a:pt x="0" y="2678"/>
                    <a:pt x="2678" y="0"/>
                    <a:pt x="5980" y="0"/>
                  </a:cubicBezTo>
                  <a:close/>
                </a:path>
              </a:pathLst>
            </a:custGeom>
            <a:solidFill>
              <a:srgbClr val="F5EBE6">
                <a:alpha val="2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81576" cy="151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370336" y="2382840"/>
            <a:ext cx="4921770" cy="7331652"/>
          </a:xfrm>
          <a:custGeom>
            <a:avLst/>
            <a:gdLst/>
            <a:ahLst/>
            <a:cxnLst/>
            <a:rect r="r" b="b" t="t" l="l"/>
            <a:pathLst>
              <a:path h="7331652" w="4921770">
                <a:moveTo>
                  <a:pt x="0" y="0"/>
                </a:moveTo>
                <a:lnTo>
                  <a:pt x="4921770" y="0"/>
                </a:lnTo>
                <a:lnTo>
                  <a:pt x="4921770" y="7331652"/>
                </a:lnTo>
                <a:lnTo>
                  <a:pt x="0" y="7331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58886" y="1936391"/>
            <a:ext cx="4001252" cy="1249417"/>
            <a:chOff x="0" y="0"/>
            <a:chExt cx="823303" cy="257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303" cy="257082"/>
            </a:xfrm>
            <a:custGeom>
              <a:avLst/>
              <a:gdLst/>
              <a:ahLst/>
              <a:cxnLst/>
              <a:rect r="r" b="b" t="t" l="l"/>
              <a:pathLst>
                <a:path h="257082" w="823303">
                  <a:moveTo>
                    <a:pt x="37791" y="0"/>
                  </a:moveTo>
                  <a:lnTo>
                    <a:pt x="785512" y="0"/>
                  </a:lnTo>
                  <a:cubicBezTo>
                    <a:pt x="806383" y="0"/>
                    <a:pt x="823303" y="16919"/>
                    <a:pt x="823303" y="37791"/>
                  </a:cubicBezTo>
                  <a:lnTo>
                    <a:pt x="823303" y="219291"/>
                  </a:lnTo>
                  <a:cubicBezTo>
                    <a:pt x="823303" y="240162"/>
                    <a:pt x="806383" y="257082"/>
                    <a:pt x="785512" y="257082"/>
                  </a:cubicBezTo>
                  <a:lnTo>
                    <a:pt x="37791" y="257082"/>
                  </a:lnTo>
                  <a:cubicBezTo>
                    <a:pt x="16919" y="257082"/>
                    <a:pt x="0" y="240162"/>
                    <a:pt x="0" y="219291"/>
                  </a:cubicBezTo>
                  <a:lnTo>
                    <a:pt x="0" y="37791"/>
                  </a:lnTo>
                  <a:cubicBezTo>
                    <a:pt x="0" y="16919"/>
                    <a:pt x="16919" y="0"/>
                    <a:pt x="37791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3303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8886" y="699305"/>
            <a:ext cx="13543919" cy="1249417"/>
            <a:chOff x="0" y="0"/>
            <a:chExt cx="2786815" cy="2570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6815" cy="257082"/>
            </a:xfrm>
            <a:custGeom>
              <a:avLst/>
              <a:gdLst/>
              <a:ahLst/>
              <a:cxnLst/>
              <a:rect r="r" b="b" t="t" l="l"/>
              <a:pathLst>
                <a:path h="257082" w="2786815">
                  <a:moveTo>
                    <a:pt x="11164" y="0"/>
                  </a:moveTo>
                  <a:lnTo>
                    <a:pt x="2775650" y="0"/>
                  </a:lnTo>
                  <a:cubicBezTo>
                    <a:pt x="2778611" y="0"/>
                    <a:pt x="2781451" y="1176"/>
                    <a:pt x="2783545" y="3270"/>
                  </a:cubicBezTo>
                  <a:cubicBezTo>
                    <a:pt x="2785638" y="5364"/>
                    <a:pt x="2786815" y="8203"/>
                    <a:pt x="2786815" y="11164"/>
                  </a:cubicBezTo>
                  <a:lnTo>
                    <a:pt x="2786815" y="245917"/>
                  </a:lnTo>
                  <a:cubicBezTo>
                    <a:pt x="2786815" y="248878"/>
                    <a:pt x="2785638" y="251718"/>
                    <a:pt x="2783545" y="253812"/>
                  </a:cubicBezTo>
                  <a:cubicBezTo>
                    <a:pt x="2781451" y="255905"/>
                    <a:pt x="2778611" y="257082"/>
                    <a:pt x="2775650" y="257082"/>
                  </a:cubicBezTo>
                  <a:lnTo>
                    <a:pt x="11164" y="257082"/>
                  </a:lnTo>
                  <a:cubicBezTo>
                    <a:pt x="8203" y="257082"/>
                    <a:pt x="5364" y="255905"/>
                    <a:pt x="3270" y="253812"/>
                  </a:cubicBezTo>
                  <a:cubicBezTo>
                    <a:pt x="1176" y="251718"/>
                    <a:pt x="0" y="248878"/>
                    <a:pt x="0" y="245917"/>
                  </a:cubicBezTo>
                  <a:lnTo>
                    <a:pt x="0" y="11164"/>
                  </a:lnTo>
                  <a:cubicBezTo>
                    <a:pt x="0" y="8203"/>
                    <a:pt x="1176" y="5364"/>
                    <a:pt x="3270" y="3270"/>
                  </a:cubicBezTo>
                  <a:cubicBezTo>
                    <a:pt x="5364" y="1176"/>
                    <a:pt x="8203" y="0"/>
                    <a:pt x="11164" y="0"/>
                  </a:cubicBezTo>
                  <a:close/>
                </a:path>
              </a:pathLst>
            </a:custGeom>
            <a:solidFill>
              <a:srgbClr val="F5EB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86815" cy="2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8137" y="785508"/>
            <a:ext cx="16060264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800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Future Scope &amp; Real-World Impact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8934" y="3452034"/>
            <a:ext cx="8937272" cy="601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Multi-Modal Wearable Sensor Fusion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Integrating IMU accelerometer and sEMG muscle activation sensor streams alongside video pose coordinates for sub-millisecond dynamic tracking.</a:t>
            </a:r>
          </a:p>
          <a:p>
            <a:pPr algn="l">
              <a:lnSpc>
                <a:spcPts val="3241"/>
              </a:lnSpc>
            </a:pP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Dynamic 3D Kinematic Avatar rendering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Integrating Three.js / WebGL dynamic skeletal avatars in the dashboard to view dynamic joint stress vectors from 360 degrees.</a:t>
            </a:r>
          </a:p>
          <a:p>
            <a:pPr algn="l">
              <a:lnSpc>
                <a:spcPts val="3241"/>
              </a:lnSpc>
            </a:pP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LSTM Predictive Recovery Modeling</a:t>
            </a:r>
          </a:p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Deploying deep learning time-series neural networks to forecast athlete rehabilitation recovery curves and output play readiness indexes.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414" y="212253"/>
            <a:ext cx="9704587" cy="7278440"/>
          </a:xfrm>
          <a:custGeom>
            <a:avLst/>
            <a:gdLst/>
            <a:ahLst/>
            <a:cxnLst/>
            <a:rect r="r" b="b" t="t" l="l"/>
            <a:pathLst>
              <a:path h="7278440" w="9704587">
                <a:moveTo>
                  <a:pt x="0" y="0"/>
                </a:moveTo>
                <a:lnTo>
                  <a:pt x="9704586" y="0"/>
                </a:lnTo>
                <a:lnTo>
                  <a:pt x="9704586" y="7278440"/>
                </a:lnTo>
                <a:lnTo>
                  <a:pt x="0" y="72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57868" y="7000926"/>
            <a:ext cx="16060264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6"/>
              </a:lnSpc>
            </a:pPr>
            <a:r>
              <a:rPr lang="en-US" sz="10305" b="true">
                <a:solidFill>
                  <a:srgbClr val="B5A595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Sports Injury Risk Detection System (SIRD)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5EBE6"/>
                </a:solidFill>
                <a:latin typeface="Arial"/>
                <a:ea typeface="Arial"/>
                <a:cs typeface="Arial"/>
                <a:sym typeface="Arial"/>
              </a:rPr>
              <a:t>By Iqra Khan</a:t>
            </a:r>
          </a:p>
          <a:p>
            <a:pPr algn="l">
              <a:lnSpc>
                <a:spcPts val="270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7897089" y="2849070"/>
            <a:ext cx="25965591" cy="195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32"/>
              </a:lnSpc>
              <a:spcBef>
                <a:spcPct val="0"/>
              </a:spcBef>
            </a:pPr>
            <a:r>
              <a:rPr lang="en-US" b="true" sz="1261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</a:t>
            </a:r>
            <a:r>
              <a:rPr lang="en-US" b="true" sz="1261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DAHSi4Skkis</dc:identifier>
  <dcterms:modified xsi:type="dcterms:W3CDTF">2011-08-01T06:04:30Z</dcterms:modified>
  <cp:revision>1</cp:revision>
  <dc:title>Sports_Injury_Risk_Detection_Presentation.pptx</dc:title>
</cp:coreProperties>
</file>