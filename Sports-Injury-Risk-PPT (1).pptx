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Aptos Bold" charset="1" panose="020B0004020202020204"/>
      <p:regular r:id="rId18"/>
    </p:embeddedFont>
    <p:embeddedFont>
      <p:font typeface="Aptos" charset="1" panose="020B0004020202020204"/>
      <p:regular r:id="rId19"/>
    </p:embeddedFont>
    <p:embeddedFont>
      <p:font typeface="Calibri (MS)" charset="1" panose="020F0502020204030204"/>
      <p:regular r:id="rId20"/>
    </p:embeddedFont>
    <p:embeddedFont>
      <p:font typeface="Cormorant Garamond Bold" charset="1" panose="000008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80C0B"/>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96088"/>
            <a:chOff x="0" y="0"/>
            <a:chExt cx="24402453" cy="128118"/>
          </a:xfrm>
        </p:grpSpPr>
        <p:sp>
          <p:nvSpPr>
            <p:cNvPr name="Freeform 3" id="3"/>
            <p:cNvSpPr/>
            <p:nvPr/>
          </p:nvSpPr>
          <p:spPr>
            <a:xfrm flipH="false" flipV="false" rot="0">
              <a:off x="0" y="0"/>
              <a:ext cx="24402414" cy="128143"/>
            </a:xfrm>
            <a:custGeom>
              <a:avLst/>
              <a:gdLst/>
              <a:ahLst/>
              <a:cxnLst/>
              <a:rect r="r" b="b" t="t" l="l"/>
              <a:pathLst>
                <a:path h="128143" w="24402414">
                  <a:moveTo>
                    <a:pt x="0" y="0"/>
                  </a:moveTo>
                  <a:lnTo>
                    <a:pt x="24402414" y="0"/>
                  </a:lnTo>
                  <a:lnTo>
                    <a:pt x="24402414" y="128143"/>
                  </a:lnTo>
                  <a:lnTo>
                    <a:pt x="0" y="128143"/>
                  </a:lnTo>
                  <a:close/>
                </a:path>
              </a:pathLst>
            </a:custGeom>
            <a:solidFill>
              <a:srgbClr val="A0C432"/>
            </a:solidFill>
          </p:spPr>
        </p:sp>
      </p:grpSp>
      <p:sp>
        <p:nvSpPr>
          <p:cNvPr name="Freeform 4" id="4"/>
          <p:cNvSpPr/>
          <p:nvPr/>
        </p:nvSpPr>
        <p:spPr>
          <a:xfrm flipH="false" flipV="false" rot="0">
            <a:off x="9289605" y="706164"/>
            <a:ext cx="9345066" cy="9345066"/>
          </a:xfrm>
          <a:custGeom>
            <a:avLst/>
            <a:gdLst/>
            <a:ahLst/>
            <a:cxnLst/>
            <a:rect r="r" b="b" t="t" l="l"/>
            <a:pathLst>
              <a:path h="9345066" w="9345066">
                <a:moveTo>
                  <a:pt x="0" y="0"/>
                </a:moveTo>
                <a:lnTo>
                  <a:pt x="9345067" y="0"/>
                </a:lnTo>
                <a:lnTo>
                  <a:pt x="9345067" y="9345066"/>
                </a:lnTo>
                <a:lnTo>
                  <a:pt x="0" y="9345066"/>
                </a:lnTo>
                <a:lnTo>
                  <a:pt x="0" y="0"/>
                </a:lnTo>
                <a:close/>
              </a:path>
            </a:pathLst>
          </a:custGeom>
          <a:blipFill>
            <a:blip r:embed="rId2"/>
            <a:stretch>
              <a:fillRect l="0" t="0" r="0" b="0"/>
            </a:stretch>
          </a:blipFill>
        </p:spPr>
      </p:sp>
      <p:sp>
        <p:nvSpPr>
          <p:cNvPr name="TextBox 5" id="5"/>
          <p:cNvSpPr txBox="true"/>
          <p:nvPr/>
        </p:nvSpPr>
        <p:spPr>
          <a:xfrm rot="0">
            <a:off x="1028700" y="1646423"/>
            <a:ext cx="9700365" cy="314325"/>
          </a:xfrm>
          <a:prstGeom prst="rect">
            <a:avLst/>
          </a:prstGeom>
        </p:spPr>
        <p:txBody>
          <a:bodyPr anchor="t" rtlCol="false" tIns="0" lIns="0" bIns="0" rIns="0">
            <a:spAutoFit/>
          </a:bodyPr>
          <a:lstStyle/>
          <a:p>
            <a:pPr algn="l">
              <a:lnSpc>
                <a:spcPts val="2401"/>
              </a:lnSpc>
            </a:pPr>
            <a:r>
              <a:rPr lang="en-US" b="true" sz="2001">
                <a:solidFill>
                  <a:srgbClr val="A0C432"/>
                </a:solidFill>
                <a:latin typeface="Aptos Bold"/>
                <a:ea typeface="Aptos Bold"/>
                <a:cs typeface="Aptos Bold"/>
                <a:sym typeface="Aptos Bold"/>
              </a:rPr>
              <a:t>AI • COMPUTER VISION • SPORTS</a:t>
            </a:r>
          </a:p>
        </p:txBody>
      </p:sp>
      <p:sp>
        <p:nvSpPr>
          <p:cNvPr name="TextBox 6" id="6"/>
          <p:cNvSpPr txBox="true"/>
          <p:nvPr/>
        </p:nvSpPr>
        <p:spPr>
          <a:xfrm rot="0">
            <a:off x="1028700" y="2308274"/>
            <a:ext cx="11797586" cy="2209800"/>
          </a:xfrm>
          <a:prstGeom prst="rect">
            <a:avLst/>
          </a:prstGeom>
        </p:spPr>
        <p:txBody>
          <a:bodyPr anchor="t" rtlCol="false" tIns="0" lIns="0" bIns="0" rIns="0">
            <a:spAutoFit/>
          </a:bodyPr>
          <a:lstStyle/>
          <a:p>
            <a:pPr algn="l">
              <a:lnSpc>
                <a:spcPts val="8713"/>
              </a:lnSpc>
            </a:pPr>
            <a:r>
              <a:rPr lang="en-US" sz="7261" b="true">
                <a:solidFill>
                  <a:srgbClr val="F4F7F5"/>
                </a:solidFill>
                <a:latin typeface="Aptos Bold"/>
                <a:ea typeface="Aptos Bold"/>
                <a:cs typeface="Aptos Bold"/>
                <a:sym typeface="Aptos Bold"/>
              </a:rPr>
              <a:t>Sports Injury</a:t>
            </a:r>
          </a:p>
          <a:p>
            <a:pPr algn="l">
              <a:lnSpc>
                <a:spcPts val="8713"/>
              </a:lnSpc>
            </a:pPr>
            <a:r>
              <a:rPr lang="en-US" sz="7261" b="true">
                <a:solidFill>
                  <a:srgbClr val="F4F7F5"/>
                </a:solidFill>
                <a:latin typeface="Aptos Bold"/>
                <a:ea typeface="Aptos Bold"/>
                <a:cs typeface="Aptos Bold"/>
                <a:sym typeface="Aptos Bold"/>
              </a:rPr>
              <a:t>Risk Detection</a:t>
            </a:r>
          </a:p>
        </p:txBody>
      </p:sp>
      <p:sp>
        <p:nvSpPr>
          <p:cNvPr name="TextBox 7" id="7"/>
          <p:cNvSpPr txBox="true"/>
          <p:nvPr/>
        </p:nvSpPr>
        <p:spPr>
          <a:xfrm rot="0">
            <a:off x="1028700" y="4509264"/>
            <a:ext cx="8876757" cy="869432"/>
          </a:xfrm>
          <a:prstGeom prst="rect">
            <a:avLst/>
          </a:prstGeom>
        </p:spPr>
        <p:txBody>
          <a:bodyPr anchor="t" rtlCol="false" tIns="0" lIns="0" bIns="0" rIns="0">
            <a:spAutoFit/>
          </a:bodyPr>
          <a:lstStyle/>
          <a:p>
            <a:pPr algn="l">
              <a:lnSpc>
                <a:spcPts val="4683"/>
              </a:lnSpc>
            </a:pPr>
            <a:r>
              <a:rPr lang="en-US" b="true" sz="3903">
                <a:solidFill>
                  <a:srgbClr val="A0C432"/>
                </a:solidFill>
                <a:latin typeface="Aptos Bold"/>
                <a:ea typeface="Aptos Bold"/>
                <a:cs typeface="Aptos Bold"/>
                <a:sym typeface="Aptos Bold"/>
              </a:rPr>
              <a:t>from Video</a:t>
            </a:r>
          </a:p>
        </p:txBody>
      </p:sp>
      <p:sp>
        <p:nvSpPr>
          <p:cNvPr name="TextBox 8" id="8"/>
          <p:cNvSpPr txBox="true"/>
          <p:nvPr/>
        </p:nvSpPr>
        <p:spPr>
          <a:xfrm rot="0">
            <a:off x="1028700" y="5576364"/>
            <a:ext cx="9288561" cy="742950"/>
          </a:xfrm>
          <a:prstGeom prst="rect">
            <a:avLst/>
          </a:prstGeom>
        </p:spPr>
        <p:txBody>
          <a:bodyPr anchor="t" rtlCol="false" tIns="0" lIns="0" bIns="0" rIns="0">
            <a:spAutoFit/>
          </a:bodyPr>
          <a:lstStyle/>
          <a:p>
            <a:pPr algn="l">
              <a:lnSpc>
                <a:spcPts val="2942"/>
              </a:lnSpc>
            </a:pPr>
            <a:r>
              <a:rPr lang="en-US" sz="2451">
                <a:solidFill>
                  <a:srgbClr val="A7B3AD"/>
                </a:solidFill>
                <a:latin typeface="Aptos"/>
                <a:ea typeface="Aptos"/>
                <a:cs typeface="Aptos"/>
                <a:sym typeface="Aptos"/>
              </a:rPr>
              <a:t>An end-to-end web application for athlete movement analysis and injury-risk insights.</a:t>
            </a:r>
          </a:p>
        </p:txBody>
      </p:sp>
      <p:sp>
        <p:nvSpPr>
          <p:cNvPr name="TextBox 9" id="9"/>
          <p:cNvSpPr txBox="true"/>
          <p:nvPr/>
        </p:nvSpPr>
        <p:spPr>
          <a:xfrm rot="0">
            <a:off x="1028700" y="7863059"/>
            <a:ext cx="7778620" cy="361950"/>
          </a:xfrm>
          <a:prstGeom prst="rect">
            <a:avLst/>
          </a:prstGeom>
        </p:spPr>
        <p:txBody>
          <a:bodyPr anchor="t" rtlCol="false" tIns="0" lIns="0" bIns="0" rIns="0">
            <a:spAutoFit/>
          </a:bodyPr>
          <a:lstStyle/>
          <a:p>
            <a:pPr algn="l">
              <a:lnSpc>
                <a:spcPts val="2881"/>
              </a:lnSpc>
            </a:pPr>
            <a:r>
              <a:rPr lang="en-US" sz="2401">
                <a:solidFill>
                  <a:srgbClr val="A7B3AD"/>
                </a:solidFill>
                <a:latin typeface="Aptos"/>
                <a:ea typeface="Aptos"/>
                <a:cs typeface="Aptos"/>
                <a:sym typeface="Aptos"/>
              </a:rPr>
              <a:t>Presented by</a:t>
            </a:r>
          </a:p>
        </p:txBody>
      </p:sp>
      <p:sp>
        <p:nvSpPr>
          <p:cNvPr name="TextBox 10" id="10"/>
          <p:cNvSpPr txBox="true"/>
          <p:nvPr/>
        </p:nvSpPr>
        <p:spPr>
          <a:xfrm rot="0">
            <a:off x="1028700" y="8225009"/>
            <a:ext cx="7778620" cy="495300"/>
          </a:xfrm>
          <a:prstGeom prst="rect">
            <a:avLst/>
          </a:prstGeom>
        </p:spPr>
        <p:txBody>
          <a:bodyPr anchor="t" rtlCol="false" tIns="0" lIns="0" bIns="0" rIns="0">
            <a:spAutoFit/>
          </a:bodyPr>
          <a:lstStyle/>
          <a:p>
            <a:pPr algn="l">
              <a:lnSpc>
                <a:spcPts val="3902"/>
              </a:lnSpc>
            </a:pPr>
            <a:r>
              <a:rPr lang="en-US" sz="3251" b="true">
                <a:solidFill>
                  <a:srgbClr val="F4F7F5"/>
                </a:solidFill>
                <a:latin typeface="Aptos Bold"/>
                <a:ea typeface="Aptos Bold"/>
                <a:cs typeface="Aptos Bold"/>
                <a:sym typeface="Aptos Bold"/>
              </a:rPr>
              <a:t>Sejal Chintala</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080C0B"/>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96088"/>
            <a:chOff x="0" y="0"/>
            <a:chExt cx="24402453" cy="128118"/>
          </a:xfrm>
        </p:grpSpPr>
        <p:sp>
          <p:nvSpPr>
            <p:cNvPr name="Freeform 3" id="3"/>
            <p:cNvSpPr/>
            <p:nvPr/>
          </p:nvSpPr>
          <p:spPr>
            <a:xfrm flipH="false" flipV="false" rot="0">
              <a:off x="0" y="0"/>
              <a:ext cx="24402414" cy="128143"/>
            </a:xfrm>
            <a:custGeom>
              <a:avLst/>
              <a:gdLst/>
              <a:ahLst/>
              <a:cxnLst/>
              <a:rect r="r" b="b" t="t" l="l"/>
              <a:pathLst>
                <a:path h="128143" w="24402414">
                  <a:moveTo>
                    <a:pt x="0" y="0"/>
                  </a:moveTo>
                  <a:lnTo>
                    <a:pt x="24402414" y="0"/>
                  </a:lnTo>
                  <a:lnTo>
                    <a:pt x="24402414" y="128143"/>
                  </a:lnTo>
                  <a:lnTo>
                    <a:pt x="0" y="128143"/>
                  </a:lnTo>
                  <a:close/>
                </a:path>
              </a:pathLst>
            </a:custGeom>
            <a:solidFill>
              <a:srgbClr val="A0C432"/>
            </a:solidFill>
          </p:spPr>
        </p:sp>
      </p:grpSp>
      <p:sp>
        <p:nvSpPr>
          <p:cNvPr name="TextBox 4" id="4"/>
          <p:cNvSpPr txBox="true"/>
          <p:nvPr/>
        </p:nvSpPr>
        <p:spPr>
          <a:xfrm rot="0">
            <a:off x="983675" y="539887"/>
            <a:ext cx="5075783" cy="685800"/>
          </a:xfrm>
          <a:prstGeom prst="rect">
            <a:avLst/>
          </a:prstGeom>
        </p:spPr>
        <p:txBody>
          <a:bodyPr anchor="t" rtlCol="false" tIns="0" lIns="0" bIns="0" rIns="0">
            <a:spAutoFit/>
          </a:bodyPr>
          <a:lstStyle/>
          <a:p>
            <a:pPr algn="l">
              <a:lnSpc>
                <a:spcPts val="5403"/>
              </a:lnSpc>
            </a:pPr>
            <a:r>
              <a:rPr lang="en-US" sz="4503" b="true">
                <a:solidFill>
                  <a:srgbClr val="F4F7F5"/>
                </a:solidFill>
                <a:latin typeface="Aptos Bold"/>
                <a:ea typeface="Aptos Bold"/>
                <a:cs typeface="Aptos Bold"/>
                <a:sym typeface="Aptos Bold"/>
              </a:rPr>
              <a:t>Problem Statement</a:t>
            </a:r>
          </a:p>
        </p:txBody>
      </p:sp>
      <p:sp>
        <p:nvSpPr>
          <p:cNvPr name="TextBox 5" id="5"/>
          <p:cNvSpPr txBox="true"/>
          <p:nvPr/>
        </p:nvSpPr>
        <p:spPr>
          <a:xfrm rot="0">
            <a:off x="1011126" y="1285323"/>
            <a:ext cx="14916512" cy="323850"/>
          </a:xfrm>
          <a:prstGeom prst="rect">
            <a:avLst/>
          </a:prstGeom>
        </p:spPr>
        <p:txBody>
          <a:bodyPr anchor="t" rtlCol="false" tIns="0" lIns="0" bIns="0" rIns="0">
            <a:spAutoFit/>
          </a:bodyPr>
          <a:lstStyle/>
          <a:p>
            <a:pPr algn="l">
              <a:lnSpc>
                <a:spcPts val="2521"/>
              </a:lnSpc>
            </a:pPr>
            <a:r>
              <a:rPr lang="en-US" sz="2101">
                <a:solidFill>
                  <a:srgbClr val="A7B3AD"/>
                </a:solidFill>
                <a:latin typeface="Aptos"/>
                <a:ea typeface="Aptos"/>
                <a:cs typeface="Aptos"/>
                <a:sym typeface="Aptos"/>
              </a:rPr>
              <a:t>Why video-based injury-risk monitoring can support safer training</a:t>
            </a:r>
          </a:p>
        </p:txBody>
      </p:sp>
      <p:sp>
        <p:nvSpPr>
          <p:cNvPr name="TextBox 6" id="6"/>
          <p:cNvSpPr txBox="true"/>
          <p:nvPr/>
        </p:nvSpPr>
        <p:spPr>
          <a:xfrm rot="0">
            <a:off x="16632145" y="585264"/>
            <a:ext cx="572091" cy="314325"/>
          </a:xfrm>
          <a:prstGeom prst="rect">
            <a:avLst/>
          </a:prstGeom>
        </p:spPr>
        <p:txBody>
          <a:bodyPr anchor="t" rtlCol="false" tIns="0" lIns="0" bIns="0" rIns="0">
            <a:spAutoFit/>
          </a:bodyPr>
          <a:lstStyle/>
          <a:p>
            <a:pPr algn="r">
              <a:lnSpc>
                <a:spcPts val="2401"/>
              </a:lnSpc>
            </a:pPr>
            <a:r>
              <a:rPr lang="en-US" b="true" sz="2001">
                <a:solidFill>
                  <a:srgbClr val="A0C432"/>
                </a:solidFill>
                <a:latin typeface="Aptos Bold"/>
                <a:ea typeface="Aptos Bold"/>
                <a:cs typeface="Aptos Bold"/>
                <a:sym typeface="Aptos Bold"/>
              </a:rPr>
              <a:t>02</a:t>
            </a:r>
          </a:p>
        </p:txBody>
      </p:sp>
      <p:grpSp>
        <p:nvGrpSpPr>
          <p:cNvPr name="Group 7" id="7"/>
          <p:cNvGrpSpPr/>
          <p:nvPr/>
        </p:nvGrpSpPr>
        <p:grpSpPr>
          <a:xfrm rot="0">
            <a:off x="953719" y="2120494"/>
            <a:ext cx="5161817" cy="6809022"/>
            <a:chOff x="0" y="0"/>
            <a:chExt cx="6882422" cy="9078697"/>
          </a:xfrm>
        </p:grpSpPr>
        <p:sp>
          <p:nvSpPr>
            <p:cNvPr name="Freeform 8" id="8"/>
            <p:cNvSpPr/>
            <p:nvPr/>
          </p:nvSpPr>
          <p:spPr>
            <a:xfrm flipH="false" flipV="false" rot="0">
              <a:off x="0" y="0"/>
              <a:ext cx="6882384" cy="9078722"/>
            </a:xfrm>
            <a:custGeom>
              <a:avLst/>
              <a:gdLst/>
              <a:ahLst/>
              <a:cxnLst/>
              <a:rect r="r" b="b" t="t" l="l"/>
              <a:pathLst>
                <a:path h="9078722" w="6882384">
                  <a:moveTo>
                    <a:pt x="0" y="1147064"/>
                  </a:moveTo>
                  <a:cubicBezTo>
                    <a:pt x="0" y="513588"/>
                    <a:pt x="513588" y="0"/>
                    <a:pt x="1147064" y="0"/>
                  </a:cubicBezTo>
                  <a:lnTo>
                    <a:pt x="5735320" y="0"/>
                  </a:lnTo>
                  <a:cubicBezTo>
                    <a:pt x="6368796" y="0"/>
                    <a:pt x="6882384" y="513588"/>
                    <a:pt x="6882384" y="1147064"/>
                  </a:cubicBezTo>
                  <a:lnTo>
                    <a:pt x="6882384" y="7931658"/>
                  </a:lnTo>
                  <a:cubicBezTo>
                    <a:pt x="6882384" y="8565134"/>
                    <a:pt x="6368796" y="9078722"/>
                    <a:pt x="5735320" y="9078722"/>
                  </a:cubicBezTo>
                  <a:lnTo>
                    <a:pt x="1147064" y="9078722"/>
                  </a:lnTo>
                  <a:cubicBezTo>
                    <a:pt x="513588" y="9078722"/>
                    <a:pt x="0" y="8565134"/>
                    <a:pt x="0" y="7931658"/>
                  </a:cubicBezTo>
                  <a:close/>
                </a:path>
              </a:pathLst>
            </a:custGeom>
            <a:solidFill>
              <a:srgbClr val="121916"/>
            </a:solidFill>
            <a:ln w="14299" cap="sq">
              <a:solidFill>
                <a:srgbClr val="303E38"/>
              </a:solidFill>
              <a:prstDash val="solid"/>
              <a:miter/>
            </a:ln>
          </p:spPr>
        </p:sp>
      </p:grpSp>
      <p:grpSp>
        <p:nvGrpSpPr>
          <p:cNvPr name="Group 9" id="9"/>
          <p:cNvGrpSpPr/>
          <p:nvPr/>
        </p:nvGrpSpPr>
        <p:grpSpPr>
          <a:xfrm rot="0">
            <a:off x="960872" y="2127647"/>
            <a:ext cx="61770" cy="6794725"/>
            <a:chOff x="0" y="0"/>
            <a:chExt cx="82360" cy="9059634"/>
          </a:xfrm>
        </p:grpSpPr>
        <p:sp>
          <p:nvSpPr>
            <p:cNvPr name="Freeform 10" id="10"/>
            <p:cNvSpPr/>
            <p:nvPr/>
          </p:nvSpPr>
          <p:spPr>
            <a:xfrm flipH="false" flipV="false" rot="0">
              <a:off x="0" y="0"/>
              <a:ext cx="82423" cy="9059672"/>
            </a:xfrm>
            <a:custGeom>
              <a:avLst/>
              <a:gdLst/>
              <a:ahLst/>
              <a:cxnLst/>
              <a:rect r="r" b="b" t="t" l="l"/>
              <a:pathLst>
                <a:path h="9059672" w="82423">
                  <a:moveTo>
                    <a:pt x="0" y="0"/>
                  </a:moveTo>
                  <a:lnTo>
                    <a:pt x="82423" y="0"/>
                  </a:lnTo>
                  <a:lnTo>
                    <a:pt x="82423" y="9059672"/>
                  </a:lnTo>
                  <a:lnTo>
                    <a:pt x="0" y="9059672"/>
                  </a:lnTo>
                  <a:close/>
                </a:path>
              </a:pathLst>
            </a:custGeom>
            <a:solidFill>
              <a:srgbClr val="EB5858"/>
            </a:solidFill>
          </p:spPr>
        </p:sp>
      </p:grpSp>
      <p:sp>
        <p:nvSpPr>
          <p:cNvPr name="TextBox 11" id="11"/>
          <p:cNvSpPr txBox="true"/>
          <p:nvPr/>
        </p:nvSpPr>
        <p:spPr>
          <a:xfrm rot="0">
            <a:off x="1354293" y="2392994"/>
            <a:ext cx="4443022" cy="447675"/>
          </a:xfrm>
          <a:prstGeom prst="rect">
            <a:avLst/>
          </a:prstGeom>
        </p:spPr>
        <p:txBody>
          <a:bodyPr anchor="t" rtlCol="false" tIns="0" lIns="0" bIns="0" rIns="0">
            <a:spAutoFit/>
          </a:bodyPr>
          <a:lstStyle/>
          <a:p>
            <a:pPr algn="l">
              <a:lnSpc>
                <a:spcPts val="3542"/>
              </a:lnSpc>
            </a:pPr>
            <a:r>
              <a:rPr lang="en-US" sz="2951" b="true">
                <a:solidFill>
                  <a:srgbClr val="F4F7F5"/>
                </a:solidFill>
                <a:latin typeface="Aptos Bold"/>
                <a:ea typeface="Aptos Bold"/>
                <a:cs typeface="Aptos Bold"/>
                <a:sym typeface="Aptos Bold"/>
              </a:rPr>
              <a:t>THE CHALLENGE</a:t>
            </a:r>
          </a:p>
        </p:txBody>
      </p:sp>
      <p:sp>
        <p:nvSpPr>
          <p:cNvPr name="TextBox 12" id="12"/>
          <p:cNvSpPr txBox="true"/>
          <p:nvPr/>
        </p:nvSpPr>
        <p:spPr>
          <a:xfrm rot="0">
            <a:off x="1354293" y="3079328"/>
            <a:ext cx="4443022" cy="3810000"/>
          </a:xfrm>
          <a:prstGeom prst="rect">
            <a:avLst/>
          </a:prstGeom>
        </p:spPr>
        <p:txBody>
          <a:bodyPr anchor="t" rtlCol="false" tIns="0" lIns="0" bIns="0" rIns="0">
            <a:spAutoFit/>
          </a:bodyPr>
          <a:lstStyle/>
          <a:p>
            <a:pPr algn="l">
              <a:lnSpc>
                <a:spcPts val="3031"/>
              </a:lnSpc>
            </a:pPr>
            <a:r>
              <a:rPr lang="en-US" sz="2526">
                <a:solidFill>
                  <a:srgbClr val="A7B3AD"/>
                </a:solidFill>
                <a:latin typeface="Aptos"/>
                <a:ea typeface="Aptos"/>
                <a:cs typeface="Aptos"/>
                <a:sym typeface="Aptos"/>
              </a:rPr>
              <a:t>Athletes perform repetitive, high-intensity movements where poor technique or unusual joint movement may contribute to injury risk.</a:t>
            </a:r>
          </a:p>
          <a:p>
            <a:pPr algn="l">
              <a:lnSpc>
                <a:spcPts val="3031"/>
              </a:lnSpc>
            </a:pPr>
          </a:p>
          <a:p>
            <a:pPr algn="l">
              <a:lnSpc>
                <a:spcPts val="3031"/>
              </a:lnSpc>
            </a:pPr>
            <a:r>
              <a:rPr lang="en-US" sz="2526">
                <a:solidFill>
                  <a:srgbClr val="A7B3AD"/>
                </a:solidFill>
                <a:latin typeface="Aptos"/>
                <a:ea typeface="Aptos"/>
                <a:cs typeface="Aptos"/>
                <a:sym typeface="Aptos"/>
              </a:rPr>
              <a:t>Manual observation alone can be difficult to perform consistently across every training session.</a:t>
            </a:r>
          </a:p>
        </p:txBody>
      </p:sp>
      <p:grpSp>
        <p:nvGrpSpPr>
          <p:cNvPr name="Group 13" id="13"/>
          <p:cNvGrpSpPr/>
          <p:nvPr/>
        </p:nvGrpSpPr>
        <p:grpSpPr>
          <a:xfrm rot="0">
            <a:off x="6554229" y="2120494"/>
            <a:ext cx="5161817" cy="6809022"/>
            <a:chOff x="0" y="0"/>
            <a:chExt cx="6882422" cy="9078697"/>
          </a:xfrm>
        </p:grpSpPr>
        <p:sp>
          <p:nvSpPr>
            <p:cNvPr name="Freeform 14" id="14"/>
            <p:cNvSpPr/>
            <p:nvPr/>
          </p:nvSpPr>
          <p:spPr>
            <a:xfrm flipH="false" flipV="false" rot="0">
              <a:off x="0" y="0"/>
              <a:ext cx="6882384" cy="9078722"/>
            </a:xfrm>
            <a:custGeom>
              <a:avLst/>
              <a:gdLst/>
              <a:ahLst/>
              <a:cxnLst/>
              <a:rect r="r" b="b" t="t" l="l"/>
              <a:pathLst>
                <a:path h="9078722" w="6882384">
                  <a:moveTo>
                    <a:pt x="0" y="1147064"/>
                  </a:moveTo>
                  <a:cubicBezTo>
                    <a:pt x="0" y="513588"/>
                    <a:pt x="513588" y="0"/>
                    <a:pt x="1147064" y="0"/>
                  </a:cubicBezTo>
                  <a:lnTo>
                    <a:pt x="5735320" y="0"/>
                  </a:lnTo>
                  <a:cubicBezTo>
                    <a:pt x="6368796" y="0"/>
                    <a:pt x="6882384" y="513588"/>
                    <a:pt x="6882384" y="1147064"/>
                  </a:cubicBezTo>
                  <a:lnTo>
                    <a:pt x="6882384" y="7931658"/>
                  </a:lnTo>
                  <a:cubicBezTo>
                    <a:pt x="6882384" y="8565134"/>
                    <a:pt x="6368796" y="9078722"/>
                    <a:pt x="5735320" y="9078722"/>
                  </a:cubicBezTo>
                  <a:lnTo>
                    <a:pt x="1147064" y="9078722"/>
                  </a:lnTo>
                  <a:cubicBezTo>
                    <a:pt x="513588" y="9078722"/>
                    <a:pt x="0" y="8565134"/>
                    <a:pt x="0" y="7931658"/>
                  </a:cubicBezTo>
                  <a:close/>
                </a:path>
              </a:pathLst>
            </a:custGeom>
            <a:solidFill>
              <a:srgbClr val="121916"/>
            </a:solidFill>
            <a:ln w="14299" cap="sq">
              <a:solidFill>
                <a:srgbClr val="303E38"/>
              </a:solidFill>
              <a:prstDash val="solid"/>
              <a:miter/>
            </a:ln>
          </p:spPr>
        </p:sp>
      </p:grpSp>
      <p:grpSp>
        <p:nvGrpSpPr>
          <p:cNvPr name="Group 15" id="15"/>
          <p:cNvGrpSpPr/>
          <p:nvPr/>
        </p:nvGrpSpPr>
        <p:grpSpPr>
          <a:xfrm rot="0">
            <a:off x="6561372" y="2127647"/>
            <a:ext cx="61770" cy="6794725"/>
            <a:chOff x="0" y="0"/>
            <a:chExt cx="82360" cy="9059634"/>
          </a:xfrm>
        </p:grpSpPr>
        <p:sp>
          <p:nvSpPr>
            <p:cNvPr name="Freeform 16" id="16"/>
            <p:cNvSpPr/>
            <p:nvPr/>
          </p:nvSpPr>
          <p:spPr>
            <a:xfrm flipH="false" flipV="false" rot="0">
              <a:off x="0" y="0"/>
              <a:ext cx="82423" cy="9059672"/>
            </a:xfrm>
            <a:custGeom>
              <a:avLst/>
              <a:gdLst/>
              <a:ahLst/>
              <a:cxnLst/>
              <a:rect r="r" b="b" t="t" l="l"/>
              <a:pathLst>
                <a:path h="9059672" w="82423">
                  <a:moveTo>
                    <a:pt x="0" y="0"/>
                  </a:moveTo>
                  <a:lnTo>
                    <a:pt x="82423" y="0"/>
                  </a:lnTo>
                  <a:lnTo>
                    <a:pt x="82423" y="9059672"/>
                  </a:lnTo>
                  <a:lnTo>
                    <a:pt x="0" y="9059672"/>
                  </a:lnTo>
                  <a:close/>
                </a:path>
              </a:pathLst>
            </a:custGeom>
            <a:solidFill>
              <a:srgbClr val="F0BE41"/>
            </a:solidFill>
          </p:spPr>
        </p:sp>
      </p:grpSp>
      <p:sp>
        <p:nvSpPr>
          <p:cNvPr name="TextBox 17" id="17"/>
          <p:cNvSpPr txBox="true"/>
          <p:nvPr/>
        </p:nvSpPr>
        <p:spPr>
          <a:xfrm rot="0">
            <a:off x="6954803" y="2392994"/>
            <a:ext cx="4443022" cy="447675"/>
          </a:xfrm>
          <a:prstGeom prst="rect">
            <a:avLst/>
          </a:prstGeom>
        </p:spPr>
        <p:txBody>
          <a:bodyPr anchor="t" rtlCol="false" tIns="0" lIns="0" bIns="0" rIns="0">
            <a:spAutoFit/>
          </a:bodyPr>
          <a:lstStyle/>
          <a:p>
            <a:pPr algn="l">
              <a:lnSpc>
                <a:spcPts val="3542"/>
              </a:lnSpc>
            </a:pPr>
            <a:r>
              <a:rPr lang="en-US" sz="2951" b="true">
                <a:solidFill>
                  <a:srgbClr val="F4F7F5"/>
                </a:solidFill>
                <a:latin typeface="Aptos Bold"/>
                <a:ea typeface="Aptos Bold"/>
                <a:cs typeface="Aptos Bold"/>
                <a:sym typeface="Aptos Bold"/>
              </a:rPr>
              <a:t>CURRENT LIMITATIONS</a:t>
            </a:r>
          </a:p>
        </p:txBody>
      </p:sp>
      <p:sp>
        <p:nvSpPr>
          <p:cNvPr name="TextBox 18" id="18"/>
          <p:cNvSpPr txBox="true"/>
          <p:nvPr/>
        </p:nvSpPr>
        <p:spPr>
          <a:xfrm rot="0">
            <a:off x="6954803" y="3079328"/>
            <a:ext cx="4443022" cy="3810000"/>
          </a:xfrm>
          <a:prstGeom prst="rect">
            <a:avLst/>
          </a:prstGeom>
        </p:spPr>
        <p:txBody>
          <a:bodyPr anchor="t" rtlCol="false" tIns="0" lIns="0" bIns="0" rIns="0">
            <a:spAutoFit/>
          </a:bodyPr>
          <a:lstStyle/>
          <a:p>
            <a:pPr algn="l">
              <a:lnSpc>
                <a:spcPts val="3031"/>
              </a:lnSpc>
            </a:pPr>
            <a:r>
              <a:rPr lang="en-US" sz="2526">
                <a:solidFill>
                  <a:srgbClr val="A7B3AD"/>
                </a:solidFill>
                <a:latin typeface="Aptos"/>
                <a:ea typeface="Aptos"/>
                <a:cs typeface="Aptos"/>
                <a:sym typeface="Aptos"/>
              </a:rPr>
              <a:t>• Coach availability is limited</a:t>
            </a:r>
          </a:p>
          <a:p>
            <a:pPr algn="l">
              <a:lnSpc>
                <a:spcPts val="3031"/>
              </a:lnSpc>
            </a:pPr>
          </a:p>
          <a:p>
            <a:pPr algn="l">
              <a:lnSpc>
                <a:spcPts val="3031"/>
              </a:lnSpc>
            </a:pPr>
            <a:r>
              <a:rPr lang="en-US" sz="2526">
                <a:solidFill>
                  <a:srgbClr val="A7B3AD"/>
                </a:solidFill>
                <a:latin typeface="Aptos"/>
                <a:ea typeface="Aptos"/>
                <a:cs typeface="Aptos"/>
                <a:sym typeface="Aptos"/>
              </a:rPr>
              <a:t>• Manual video review is time-consuming</a:t>
            </a:r>
          </a:p>
          <a:p>
            <a:pPr algn="l">
              <a:lnSpc>
                <a:spcPts val="3031"/>
              </a:lnSpc>
            </a:pPr>
          </a:p>
          <a:p>
            <a:pPr algn="l">
              <a:lnSpc>
                <a:spcPts val="3031"/>
              </a:lnSpc>
            </a:pPr>
            <a:r>
              <a:rPr lang="en-US" sz="2526">
                <a:solidFill>
                  <a:srgbClr val="A7B3AD"/>
                </a:solidFill>
                <a:latin typeface="Aptos"/>
                <a:ea typeface="Aptos"/>
                <a:cs typeface="Aptos"/>
                <a:sym typeface="Aptos"/>
              </a:rPr>
              <a:t>• Movement changes may be missed</a:t>
            </a:r>
          </a:p>
          <a:p>
            <a:pPr algn="l">
              <a:lnSpc>
                <a:spcPts val="3031"/>
              </a:lnSpc>
            </a:pPr>
          </a:p>
          <a:p>
            <a:pPr algn="l">
              <a:lnSpc>
                <a:spcPts val="3031"/>
              </a:lnSpc>
            </a:pPr>
            <a:r>
              <a:rPr lang="en-US" sz="2526">
                <a:solidFill>
                  <a:srgbClr val="A7B3AD"/>
                </a:solidFill>
                <a:latin typeface="Aptos"/>
                <a:ea typeface="Aptos"/>
                <a:cs typeface="Aptos"/>
                <a:sym typeface="Aptos"/>
              </a:rPr>
              <a:t>• Assessment can be difficult to standardize</a:t>
            </a:r>
          </a:p>
        </p:txBody>
      </p:sp>
      <p:grpSp>
        <p:nvGrpSpPr>
          <p:cNvPr name="Group 19" id="19"/>
          <p:cNvGrpSpPr/>
          <p:nvPr/>
        </p:nvGrpSpPr>
        <p:grpSpPr>
          <a:xfrm rot="0">
            <a:off x="12154729" y="2120494"/>
            <a:ext cx="5161817" cy="6809022"/>
            <a:chOff x="0" y="0"/>
            <a:chExt cx="6882422" cy="9078697"/>
          </a:xfrm>
        </p:grpSpPr>
        <p:sp>
          <p:nvSpPr>
            <p:cNvPr name="Freeform 20" id="20"/>
            <p:cNvSpPr/>
            <p:nvPr/>
          </p:nvSpPr>
          <p:spPr>
            <a:xfrm flipH="false" flipV="false" rot="0">
              <a:off x="0" y="0"/>
              <a:ext cx="6882384" cy="9078722"/>
            </a:xfrm>
            <a:custGeom>
              <a:avLst/>
              <a:gdLst/>
              <a:ahLst/>
              <a:cxnLst/>
              <a:rect r="r" b="b" t="t" l="l"/>
              <a:pathLst>
                <a:path h="9078722" w="6882384">
                  <a:moveTo>
                    <a:pt x="0" y="1147064"/>
                  </a:moveTo>
                  <a:cubicBezTo>
                    <a:pt x="0" y="513588"/>
                    <a:pt x="513588" y="0"/>
                    <a:pt x="1147064" y="0"/>
                  </a:cubicBezTo>
                  <a:lnTo>
                    <a:pt x="5735320" y="0"/>
                  </a:lnTo>
                  <a:cubicBezTo>
                    <a:pt x="6368796" y="0"/>
                    <a:pt x="6882384" y="513588"/>
                    <a:pt x="6882384" y="1147064"/>
                  </a:cubicBezTo>
                  <a:lnTo>
                    <a:pt x="6882384" y="7931658"/>
                  </a:lnTo>
                  <a:cubicBezTo>
                    <a:pt x="6882384" y="8565134"/>
                    <a:pt x="6368796" y="9078722"/>
                    <a:pt x="5735320" y="9078722"/>
                  </a:cubicBezTo>
                  <a:lnTo>
                    <a:pt x="1147064" y="9078722"/>
                  </a:lnTo>
                  <a:cubicBezTo>
                    <a:pt x="513588" y="9078722"/>
                    <a:pt x="0" y="8565134"/>
                    <a:pt x="0" y="7931658"/>
                  </a:cubicBezTo>
                  <a:close/>
                </a:path>
              </a:pathLst>
            </a:custGeom>
            <a:solidFill>
              <a:srgbClr val="121916"/>
            </a:solidFill>
            <a:ln w="14299" cap="sq">
              <a:solidFill>
                <a:srgbClr val="303E38"/>
              </a:solidFill>
              <a:prstDash val="solid"/>
              <a:miter/>
            </a:ln>
          </p:spPr>
        </p:sp>
      </p:grpSp>
      <p:grpSp>
        <p:nvGrpSpPr>
          <p:cNvPr name="Group 21" id="21"/>
          <p:cNvGrpSpPr/>
          <p:nvPr/>
        </p:nvGrpSpPr>
        <p:grpSpPr>
          <a:xfrm rot="0">
            <a:off x="12161872" y="2127647"/>
            <a:ext cx="61770" cy="6794725"/>
            <a:chOff x="0" y="0"/>
            <a:chExt cx="82360" cy="9059634"/>
          </a:xfrm>
        </p:grpSpPr>
        <p:sp>
          <p:nvSpPr>
            <p:cNvPr name="Freeform 22" id="22"/>
            <p:cNvSpPr/>
            <p:nvPr/>
          </p:nvSpPr>
          <p:spPr>
            <a:xfrm flipH="false" flipV="false" rot="0">
              <a:off x="0" y="0"/>
              <a:ext cx="82423" cy="9059672"/>
            </a:xfrm>
            <a:custGeom>
              <a:avLst/>
              <a:gdLst/>
              <a:ahLst/>
              <a:cxnLst/>
              <a:rect r="r" b="b" t="t" l="l"/>
              <a:pathLst>
                <a:path h="9059672" w="82423">
                  <a:moveTo>
                    <a:pt x="0" y="0"/>
                  </a:moveTo>
                  <a:lnTo>
                    <a:pt x="82423" y="0"/>
                  </a:lnTo>
                  <a:lnTo>
                    <a:pt x="82423" y="9059672"/>
                  </a:lnTo>
                  <a:lnTo>
                    <a:pt x="0" y="9059672"/>
                  </a:lnTo>
                  <a:close/>
                </a:path>
              </a:pathLst>
            </a:custGeom>
            <a:solidFill>
              <a:srgbClr val="A0C432"/>
            </a:solidFill>
          </p:spPr>
        </p:sp>
      </p:grpSp>
      <p:sp>
        <p:nvSpPr>
          <p:cNvPr name="TextBox 23" id="23"/>
          <p:cNvSpPr txBox="true"/>
          <p:nvPr/>
        </p:nvSpPr>
        <p:spPr>
          <a:xfrm rot="0">
            <a:off x="12555303" y="2392994"/>
            <a:ext cx="4443022" cy="447675"/>
          </a:xfrm>
          <a:prstGeom prst="rect">
            <a:avLst/>
          </a:prstGeom>
        </p:spPr>
        <p:txBody>
          <a:bodyPr anchor="t" rtlCol="false" tIns="0" lIns="0" bIns="0" rIns="0">
            <a:spAutoFit/>
          </a:bodyPr>
          <a:lstStyle/>
          <a:p>
            <a:pPr algn="l">
              <a:lnSpc>
                <a:spcPts val="3542"/>
              </a:lnSpc>
            </a:pPr>
            <a:r>
              <a:rPr lang="en-US" sz="2951" b="true">
                <a:solidFill>
                  <a:srgbClr val="F4F7F5"/>
                </a:solidFill>
                <a:latin typeface="Aptos Bold"/>
                <a:ea typeface="Aptos Bold"/>
                <a:cs typeface="Aptos Bold"/>
                <a:sym typeface="Aptos Bold"/>
              </a:rPr>
              <a:t>PROPOSED SOLUTION</a:t>
            </a:r>
          </a:p>
        </p:txBody>
      </p:sp>
      <p:sp>
        <p:nvSpPr>
          <p:cNvPr name="TextBox 24" id="24"/>
          <p:cNvSpPr txBox="true"/>
          <p:nvPr/>
        </p:nvSpPr>
        <p:spPr>
          <a:xfrm rot="0">
            <a:off x="12555303" y="3079328"/>
            <a:ext cx="4443022" cy="2286000"/>
          </a:xfrm>
          <a:prstGeom prst="rect">
            <a:avLst/>
          </a:prstGeom>
        </p:spPr>
        <p:txBody>
          <a:bodyPr anchor="t" rtlCol="false" tIns="0" lIns="0" bIns="0" rIns="0">
            <a:spAutoFit/>
          </a:bodyPr>
          <a:lstStyle/>
          <a:p>
            <a:pPr algn="l">
              <a:lnSpc>
                <a:spcPts val="3031"/>
              </a:lnSpc>
            </a:pPr>
            <a:r>
              <a:rPr lang="en-US" sz="2526">
                <a:solidFill>
                  <a:srgbClr val="A7B3AD"/>
                </a:solidFill>
                <a:latin typeface="Aptos"/>
                <a:ea typeface="Aptos"/>
                <a:cs typeface="Aptos"/>
                <a:sym typeface="Aptos"/>
              </a:rPr>
              <a:t>Build a web-based pipeline that accepts a sports video, extracts pose information, analyzes movement and produces interpretable injury-risk insights and recommendations.</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080C0B"/>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96088"/>
            <a:chOff x="0" y="0"/>
            <a:chExt cx="24402453" cy="128118"/>
          </a:xfrm>
        </p:grpSpPr>
        <p:sp>
          <p:nvSpPr>
            <p:cNvPr name="Freeform 3" id="3"/>
            <p:cNvSpPr/>
            <p:nvPr/>
          </p:nvSpPr>
          <p:spPr>
            <a:xfrm flipH="false" flipV="false" rot="0">
              <a:off x="0" y="0"/>
              <a:ext cx="24402414" cy="128143"/>
            </a:xfrm>
            <a:custGeom>
              <a:avLst/>
              <a:gdLst/>
              <a:ahLst/>
              <a:cxnLst/>
              <a:rect r="r" b="b" t="t" l="l"/>
              <a:pathLst>
                <a:path h="128143" w="24402414">
                  <a:moveTo>
                    <a:pt x="0" y="0"/>
                  </a:moveTo>
                  <a:lnTo>
                    <a:pt x="24402414" y="0"/>
                  </a:lnTo>
                  <a:lnTo>
                    <a:pt x="24402414" y="128143"/>
                  </a:lnTo>
                  <a:lnTo>
                    <a:pt x="0" y="128143"/>
                  </a:lnTo>
                  <a:close/>
                </a:path>
              </a:pathLst>
            </a:custGeom>
            <a:solidFill>
              <a:srgbClr val="A0C432"/>
            </a:solidFill>
          </p:spPr>
        </p:sp>
      </p:grpSp>
      <p:sp>
        <p:nvSpPr>
          <p:cNvPr name="TextBox 4" id="4"/>
          <p:cNvSpPr txBox="true"/>
          <p:nvPr/>
        </p:nvSpPr>
        <p:spPr>
          <a:xfrm rot="0">
            <a:off x="983675" y="549412"/>
            <a:ext cx="4677966" cy="657225"/>
          </a:xfrm>
          <a:prstGeom prst="rect">
            <a:avLst/>
          </a:prstGeom>
        </p:spPr>
        <p:txBody>
          <a:bodyPr anchor="t" rtlCol="false" tIns="0" lIns="0" bIns="0" rIns="0">
            <a:spAutoFit/>
          </a:bodyPr>
          <a:lstStyle/>
          <a:p>
            <a:pPr algn="l">
              <a:lnSpc>
                <a:spcPts val="5283"/>
              </a:lnSpc>
            </a:pPr>
            <a:r>
              <a:rPr lang="en-US" sz="4403" b="true">
                <a:solidFill>
                  <a:srgbClr val="F4F7F5"/>
                </a:solidFill>
                <a:latin typeface="Aptos Bold"/>
                <a:ea typeface="Aptos Bold"/>
                <a:cs typeface="Aptos Bold"/>
                <a:sym typeface="Aptos Bold"/>
              </a:rPr>
              <a:t>Project Objectives</a:t>
            </a:r>
          </a:p>
        </p:txBody>
      </p:sp>
      <p:sp>
        <p:nvSpPr>
          <p:cNvPr name="TextBox 5" id="5"/>
          <p:cNvSpPr txBox="true"/>
          <p:nvPr/>
        </p:nvSpPr>
        <p:spPr>
          <a:xfrm rot="0">
            <a:off x="1011126" y="1285323"/>
            <a:ext cx="14916512" cy="314325"/>
          </a:xfrm>
          <a:prstGeom prst="rect">
            <a:avLst/>
          </a:prstGeom>
        </p:spPr>
        <p:txBody>
          <a:bodyPr anchor="t" rtlCol="false" tIns="0" lIns="0" bIns="0" rIns="0">
            <a:spAutoFit/>
          </a:bodyPr>
          <a:lstStyle/>
          <a:p>
            <a:pPr algn="l">
              <a:lnSpc>
                <a:spcPts val="2401"/>
              </a:lnSpc>
            </a:pPr>
            <a:r>
              <a:rPr lang="en-US" sz="2001">
                <a:solidFill>
                  <a:srgbClr val="A7B3AD"/>
                </a:solidFill>
                <a:latin typeface="Aptos"/>
                <a:ea typeface="Aptos"/>
                <a:cs typeface="Aptos"/>
                <a:sym typeface="Aptos"/>
              </a:rPr>
              <a:t>The system is designed around six practical goals</a:t>
            </a:r>
          </a:p>
        </p:txBody>
      </p:sp>
      <p:sp>
        <p:nvSpPr>
          <p:cNvPr name="TextBox 6" id="6"/>
          <p:cNvSpPr txBox="true"/>
          <p:nvPr/>
        </p:nvSpPr>
        <p:spPr>
          <a:xfrm rot="0">
            <a:off x="16632145" y="585264"/>
            <a:ext cx="572091" cy="314325"/>
          </a:xfrm>
          <a:prstGeom prst="rect">
            <a:avLst/>
          </a:prstGeom>
        </p:spPr>
        <p:txBody>
          <a:bodyPr anchor="t" rtlCol="false" tIns="0" lIns="0" bIns="0" rIns="0">
            <a:spAutoFit/>
          </a:bodyPr>
          <a:lstStyle/>
          <a:p>
            <a:pPr algn="r">
              <a:lnSpc>
                <a:spcPts val="2401"/>
              </a:lnSpc>
            </a:pPr>
            <a:r>
              <a:rPr lang="en-US" b="true" sz="2001">
                <a:solidFill>
                  <a:srgbClr val="A0C432"/>
                </a:solidFill>
                <a:latin typeface="Aptos Bold"/>
                <a:ea typeface="Aptos Bold"/>
                <a:cs typeface="Aptos Bold"/>
                <a:sym typeface="Aptos Bold"/>
              </a:rPr>
              <a:t>03</a:t>
            </a:r>
          </a:p>
        </p:txBody>
      </p:sp>
      <p:grpSp>
        <p:nvGrpSpPr>
          <p:cNvPr name="Group 7" id="7"/>
          <p:cNvGrpSpPr/>
          <p:nvPr/>
        </p:nvGrpSpPr>
        <p:grpSpPr>
          <a:xfrm rot="0">
            <a:off x="953719" y="2120494"/>
            <a:ext cx="5161817" cy="2691013"/>
            <a:chOff x="0" y="0"/>
            <a:chExt cx="6882422" cy="3588017"/>
          </a:xfrm>
        </p:grpSpPr>
        <p:sp>
          <p:nvSpPr>
            <p:cNvPr name="Freeform 8" id="8"/>
            <p:cNvSpPr/>
            <p:nvPr/>
          </p:nvSpPr>
          <p:spPr>
            <a:xfrm flipH="false" flipV="false" rot="0">
              <a:off x="0" y="0"/>
              <a:ext cx="6882511" cy="3588004"/>
            </a:xfrm>
            <a:custGeom>
              <a:avLst/>
              <a:gdLst/>
              <a:ahLst/>
              <a:cxnLst/>
              <a:rect r="r" b="b" t="t" l="l"/>
              <a:pathLst>
                <a:path h="3588004" w="6882511">
                  <a:moveTo>
                    <a:pt x="0" y="598043"/>
                  </a:moveTo>
                  <a:cubicBezTo>
                    <a:pt x="0" y="267716"/>
                    <a:pt x="267716" y="0"/>
                    <a:pt x="598043" y="0"/>
                  </a:cubicBezTo>
                  <a:lnTo>
                    <a:pt x="6284468" y="0"/>
                  </a:lnTo>
                  <a:cubicBezTo>
                    <a:pt x="6614795" y="0"/>
                    <a:pt x="6882511" y="267716"/>
                    <a:pt x="6882511" y="598043"/>
                  </a:cubicBezTo>
                  <a:lnTo>
                    <a:pt x="6882511" y="2989961"/>
                  </a:lnTo>
                  <a:cubicBezTo>
                    <a:pt x="6882511" y="3320288"/>
                    <a:pt x="6614795" y="3588004"/>
                    <a:pt x="6284468" y="3588004"/>
                  </a:cubicBezTo>
                  <a:lnTo>
                    <a:pt x="598043" y="3588004"/>
                  </a:lnTo>
                  <a:cubicBezTo>
                    <a:pt x="267716" y="3588004"/>
                    <a:pt x="0" y="3320288"/>
                    <a:pt x="0" y="2989961"/>
                  </a:cubicBezTo>
                  <a:close/>
                </a:path>
              </a:pathLst>
            </a:custGeom>
            <a:solidFill>
              <a:srgbClr val="121916"/>
            </a:solidFill>
            <a:ln w="14299" cap="sq">
              <a:solidFill>
                <a:srgbClr val="303E38"/>
              </a:solidFill>
              <a:prstDash val="solid"/>
              <a:miter/>
            </a:ln>
          </p:spPr>
        </p:sp>
      </p:grpSp>
      <p:grpSp>
        <p:nvGrpSpPr>
          <p:cNvPr name="Group 9" id="9"/>
          <p:cNvGrpSpPr/>
          <p:nvPr/>
        </p:nvGrpSpPr>
        <p:grpSpPr>
          <a:xfrm rot="0">
            <a:off x="960872" y="2127647"/>
            <a:ext cx="61770" cy="2676716"/>
            <a:chOff x="0" y="0"/>
            <a:chExt cx="82360" cy="3568954"/>
          </a:xfrm>
        </p:grpSpPr>
        <p:sp>
          <p:nvSpPr>
            <p:cNvPr name="Freeform 10" id="10"/>
            <p:cNvSpPr/>
            <p:nvPr/>
          </p:nvSpPr>
          <p:spPr>
            <a:xfrm flipH="false" flipV="false" rot="0">
              <a:off x="0" y="0"/>
              <a:ext cx="82423" cy="3568954"/>
            </a:xfrm>
            <a:custGeom>
              <a:avLst/>
              <a:gdLst/>
              <a:ahLst/>
              <a:cxnLst/>
              <a:rect r="r" b="b" t="t" l="l"/>
              <a:pathLst>
                <a:path h="3568954" w="82423">
                  <a:moveTo>
                    <a:pt x="0" y="0"/>
                  </a:moveTo>
                  <a:lnTo>
                    <a:pt x="82423" y="0"/>
                  </a:lnTo>
                  <a:lnTo>
                    <a:pt x="82423" y="3568954"/>
                  </a:lnTo>
                  <a:lnTo>
                    <a:pt x="0" y="3568954"/>
                  </a:lnTo>
                  <a:close/>
                </a:path>
              </a:pathLst>
            </a:custGeom>
            <a:solidFill>
              <a:srgbClr val="A0C432"/>
            </a:solidFill>
          </p:spPr>
        </p:sp>
      </p:grpSp>
      <p:sp>
        <p:nvSpPr>
          <p:cNvPr name="TextBox 11" id="11"/>
          <p:cNvSpPr txBox="true"/>
          <p:nvPr/>
        </p:nvSpPr>
        <p:spPr>
          <a:xfrm rot="0">
            <a:off x="1354293" y="2392994"/>
            <a:ext cx="4443022" cy="400050"/>
          </a:xfrm>
          <a:prstGeom prst="rect">
            <a:avLst/>
          </a:prstGeom>
        </p:spPr>
        <p:txBody>
          <a:bodyPr anchor="t" rtlCol="false" tIns="0" lIns="0" bIns="0" rIns="0">
            <a:spAutoFit/>
          </a:bodyPr>
          <a:lstStyle/>
          <a:p>
            <a:pPr algn="l">
              <a:lnSpc>
                <a:spcPts val="3182"/>
              </a:lnSpc>
            </a:pPr>
            <a:r>
              <a:rPr lang="en-US" sz="2651" b="true">
                <a:solidFill>
                  <a:srgbClr val="F4F7F5"/>
                </a:solidFill>
                <a:latin typeface="Aptos Bold"/>
                <a:ea typeface="Aptos Bold"/>
                <a:cs typeface="Aptos Bold"/>
                <a:sym typeface="Aptos Bold"/>
              </a:rPr>
              <a:t>01  Video Input</a:t>
            </a:r>
          </a:p>
        </p:txBody>
      </p:sp>
      <p:sp>
        <p:nvSpPr>
          <p:cNvPr name="TextBox 12" id="12"/>
          <p:cNvSpPr txBox="true"/>
          <p:nvPr/>
        </p:nvSpPr>
        <p:spPr>
          <a:xfrm rot="0">
            <a:off x="1354293" y="3069803"/>
            <a:ext cx="4443022" cy="733425"/>
          </a:xfrm>
          <a:prstGeom prst="rect">
            <a:avLst/>
          </a:prstGeom>
        </p:spPr>
        <p:txBody>
          <a:bodyPr anchor="t" rtlCol="false" tIns="0" lIns="0" bIns="0" rIns="0">
            <a:spAutoFit/>
          </a:bodyPr>
          <a:lstStyle/>
          <a:p>
            <a:pPr algn="l">
              <a:lnSpc>
                <a:spcPts val="2911"/>
              </a:lnSpc>
            </a:pPr>
            <a:r>
              <a:rPr lang="en-US" sz="2426">
                <a:solidFill>
                  <a:srgbClr val="A7B3AD"/>
                </a:solidFill>
                <a:latin typeface="Aptos"/>
                <a:ea typeface="Aptos"/>
                <a:cs typeface="Aptos"/>
                <a:sym typeface="Aptos"/>
              </a:rPr>
              <a:t>Upload sports-performance videos through the application.</a:t>
            </a:r>
          </a:p>
        </p:txBody>
      </p:sp>
      <p:grpSp>
        <p:nvGrpSpPr>
          <p:cNvPr name="Group 13" id="13"/>
          <p:cNvGrpSpPr/>
          <p:nvPr/>
        </p:nvGrpSpPr>
        <p:grpSpPr>
          <a:xfrm rot="0">
            <a:off x="6581680" y="2120494"/>
            <a:ext cx="5161817" cy="2691013"/>
            <a:chOff x="0" y="0"/>
            <a:chExt cx="6882422" cy="3588017"/>
          </a:xfrm>
        </p:grpSpPr>
        <p:sp>
          <p:nvSpPr>
            <p:cNvPr name="Freeform 14" id="14"/>
            <p:cNvSpPr/>
            <p:nvPr/>
          </p:nvSpPr>
          <p:spPr>
            <a:xfrm flipH="false" flipV="false" rot="0">
              <a:off x="0" y="0"/>
              <a:ext cx="6882511" cy="3588004"/>
            </a:xfrm>
            <a:custGeom>
              <a:avLst/>
              <a:gdLst/>
              <a:ahLst/>
              <a:cxnLst/>
              <a:rect r="r" b="b" t="t" l="l"/>
              <a:pathLst>
                <a:path h="3588004" w="6882511">
                  <a:moveTo>
                    <a:pt x="0" y="598043"/>
                  </a:moveTo>
                  <a:cubicBezTo>
                    <a:pt x="0" y="267716"/>
                    <a:pt x="267716" y="0"/>
                    <a:pt x="598043" y="0"/>
                  </a:cubicBezTo>
                  <a:lnTo>
                    <a:pt x="6284468" y="0"/>
                  </a:lnTo>
                  <a:cubicBezTo>
                    <a:pt x="6614795" y="0"/>
                    <a:pt x="6882511" y="267716"/>
                    <a:pt x="6882511" y="598043"/>
                  </a:cubicBezTo>
                  <a:lnTo>
                    <a:pt x="6882511" y="2989961"/>
                  </a:lnTo>
                  <a:cubicBezTo>
                    <a:pt x="6882511" y="3320288"/>
                    <a:pt x="6614795" y="3588004"/>
                    <a:pt x="6284468" y="3588004"/>
                  </a:cubicBezTo>
                  <a:lnTo>
                    <a:pt x="598043" y="3588004"/>
                  </a:lnTo>
                  <a:cubicBezTo>
                    <a:pt x="267716" y="3588004"/>
                    <a:pt x="0" y="3320288"/>
                    <a:pt x="0" y="2989961"/>
                  </a:cubicBezTo>
                  <a:close/>
                </a:path>
              </a:pathLst>
            </a:custGeom>
            <a:solidFill>
              <a:srgbClr val="121916"/>
            </a:solidFill>
            <a:ln w="14299" cap="sq">
              <a:solidFill>
                <a:srgbClr val="303E38"/>
              </a:solidFill>
              <a:prstDash val="solid"/>
              <a:miter/>
            </a:ln>
          </p:spPr>
        </p:sp>
      </p:grpSp>
      <p:grpSp>
        <p:nvGrpSpPr>
          <p:cNvPr name="Group 15" id="15"/>
          <p:cNvGrpSpPr/>
          <p:nvPr/>
        </p:nvGrpSpPr>
        <p:grpSpPr>
          <a:xfrm rot="0">
            <a:off x="6588824" y="2127647"/>
            <a:ext cx="61770" cy="2676716"/>
            <a:chOff x="0" y="0"/>
            <a:chExt cx="82360" cy="3568954"/>
          </a:xfrm>
        </p:grpSpPr>
        <p:sp>
          <p:nvSpPr>
            <p:cNvPr name="Freeform 16" id="16"/>
            <p:cNvSpPr/>
            <p:nvPr/>
          </p:nvSpPr>
          <p:spPr>
            <a:xfrm flipH="false" flipV="false" rot="0">
              <a:off x="0" y="0"/>
              <a:ext cx="82423" cy="3568954"/>
            </a:xfrm>
            <a:custGeom>
              <a:avLst/>
              <a:gdLst/>
              <a:ahLst/>
              <a:cxnLst/>
              <a:rect r="r" b="b" t="t" l="l"/>
              <a:pathLst>
                <a:path h="3568954" w="82423">
                  <a:moveTo>
                    <a:pt x="0" y="0"/>
                  </a:moveTo>
                  <a:lnTo>
                    <a:pt x="82423" y="0"/>
                  </a:lnTo>
                  <a:lnTo>
                    <a:pt x="82423" y="3568954"/>
                  </a:lnTo>
                  <a:lnTo>
                    <a:pt x="0" y="3568954"/>
                  </a:lnTo>
                  <a:close/>
                </a:path>
              </a:pathLst>
            </a:custGeom>
            <a:solidFill>
              <a:srgbClr val="A0C432"/>
            </a:solidFill>
          </p:spPr>
        </p:sp>
      </p:grpSp>
      <p:sp>
        <p:nvSpPr>
          <p:cNvPr name="TextBox 17" id="17"/>
          <p:cNvSpPr txBox="true"/>
          <p:nvPr/>
        </p:nvSpPr>
        <p:spPr>
          <a:xfrm rot="0">
            <a:off x="6982254" y="2392994"/>
            <a:ext cx="4443022" cy="400050"/>
          </a:xfrm>
          <a:prstGeom prst="rect">
            <a:avLst/>
          </a:prstGeom>
        </p:spPr>
        <p:txBody>
          <a:bodyPr anchor="t" rtlCol="false" tIns="0" lIns="0" bIns="0" rIns="0">
            <a:spAutoFit/>
          </a:bodyPr>
          <a:lstStyle/>
          <a:p>
            <a:pPr algn="l">
              <a:lnSpc>
                <a:spcPts val="3182"/>
              </a:lnSpc>
            </a:pPr>
            <a:r>
              <a:rPr lang="en-US" sz="2651" b="true">
                <a:solidFill>
                  <a:srgbClr val="F4F7F5"/>
                </a:solidFill>
                <a:latin typeface="Aptos Bold"/>
                <a:ea typeface="Aptos Bold"/>
                <a:cs typeface="Aptos Bold"/>
                <a:sym typeface="Aptos Bold"/>
              </a:rPr>
              <a:t>02  Pose Detection</a:t>
            </a:r>
          </a:p>
        </p:txBody>
      </p:sp>
      <p:sp>
        <p:nvSpPr>
          <p:cNvPr name="TextBox 18" id="18"/>
          <p:cNvSpPr txBox="true"/>
          <p:nvPr/>
        </p:nvSpPr>
        <p:spPr>
          <a:xfrm rot="0">
            <a:off x="6982254" y="3069803"/>
            <a:ext cx="4443022" cy="733425"/>
          </a:xfrm>
          <a:prstGeom prst="rect">
            <a:avLst/>
          </a:prstGeom>
        </p:spPr>
        <p:txBody>
          <a:bodyPr anchor="t" rtlCol="false" tIns="0" lIns="0" bIns="0" rIns="0">
            <a:spAutoFit/>
          </a:bodyPr>
          <a:lstStyle/>
          <a:p>
            <a:pPr algn="l">
              <a:lnSpc>
                <a:spcPts val="2911"/>
              </a:lnSpc>
            </a:pPr>
            <a:r>
              <a:rPr lang="en-US" sz="2426">
                <a:solidFill>
                  <a:srgbClr val="A7B3AD"/>
                </a:solidFill>
                <a:latin typeface="Aptos"/>
                <a:ea typeface="Aptos"/>
                <a:cs typeface="Aptos"/>
                <a:sym typeface="Aptos"/>
              </a:rPr>
              <a:t>Extract human body landmarks from video frames.</a:t>
            </a:r>
          </a:p>
        </p:txBody>
      </p:sp>
      <p:grpSp>
        <p:nvGrpSpPr>
          <p:cNvPr name="Group 19" id="19"/>
          <p:cNvGrpSpPr/>
          <p:nvPr/>
        </p:nvGrpSpPr>
        <p:grpSpPr>
          <a:xfrm rot="0">
            <a:off x="12209631" y="2120494"/>
            <a:ext cx="5161817" cy="2691013"/>
            <a:chOff x="0" y="0"/>
            <a:chExt cx="6882422" cy="3588017"/>
          </a:xfrm>
        </p:grpSpPr>
        <p:sp>
          <p:nvSpPr>
            <p:cNvPr name="Freeform 20" id="20"/>
            <p:cNvSpPr/>
            <p:nvPr/>
          </p:nvSpPr>
          <p:spPr>
            <a:xfrm flipH="false" flipV="false" rot="0">
              <a:off x="0" y="0"/>
              <a:ext cx="6882511" cy="3588004"/>
            </a:xfrm>
            <a:custGeom>
              <a:avLst/>
              <a:gdLst/>
              <a:ahLst/>
              <a:cxnLst/>
              <a:rect r="r" b="b" t="t" l="l"/>
              <a:pathLst>
                <a:path h="3588004" w="6882511">
                  <a:moveTo>
                    <a:pt x="0" y="598043"/>
                  </a:moveTo>
                  <a:cubicBezTo>
                    <a:pt x="0" y="267716"/>
                    <a:pt x="267716" y="0"/>
                    <a:pt x="598043" y="0"/>
                  </a:cubicBezTo>
                  <a:lnTo>
                    <a:pt x="6284468" y="0"/>
                  </a:lnTo>
                  <a:cubicBezTo>
                    <a:pt x="6614795" y="0"/>
                    <a:pt x="6882511" y="267716"/>
                    <a:pt x="6882511" y="598043"/>
                  </a:cubicBezTo>
                  <a:lnTo>
                    <a:pt x="6882511" y="2989961"/>
                  </a:lnTo>
                  <a:cubicBezTo>
                    <a:pt x="6882511" y="3320288"/>
                    <a:pt x="6614795" y="3588004"/>
                    <a:pt x="6284468" y="3588004"/>
                  </a:cubicBezTo>
                  <a:lnTo>
                    <a:pt x="598043" y="3588004"/>
                  </a:lnTo>
                  <a:cubicBezTo>
                    <a:pt x="267716" y="3588004"/>
                    <a:pt x="0" y="3320288"/>
                    <a:pt x="0" y="2989961"/>
                  </a:cubicBezTo>
                  <a:close/>
                </a:path>
              </a:pathLst>
            </a:custGeom>
            <a:solidFill>
              <a:srgbClr val="121916"/>
            </a:solidFill>
            <a:ln w="14299" cap="sq">
              <a:solidFill>
                <a:srgbClr val="303E38"/>
              </a:solidFill>
              <a:prstDash val="solid"/>
              <a:miter/>
            </a:ln>
          </p:spPr>
        </p:sp>
      </p:grpSp>
      <p:grpSp>
        <p:nvGrpSpPr>
          <p:cNvPr name="Group 21" id="21"/>
          <p:cNvGrpSpPr/>
          <p:nvPr/>
        </p:nvGrpSpPr>
        <p:grpSpPr>
          <a:xfrm rot="0">
            <a:off x="12216784" y="2127647"/>
            <a:ext cx="61770" cy="2676716"/>
            <a:chOff x="0" y="0"/>
            <a:chExt cx="82360" cy="3568954"/>
          </a:xfrm>
        </p:grpSpPr>
        <p:sp>
          <p:nvSpPr>
            <p:cNvPr name="Freeform 22" id="22"/>
            <p:cNvSpPr/>
            <p:nvPr/>
          </p:nvSpPr>
          <p:spPr>
            <a:xfrm flipH="false" flipV="false" rot="0">
              <a:off x="0" y="0"/>
              <a:ext cx="82423" cy="3568954"/>
            </a:xfrm>
            <a:custGeom>
              <a:avLst/>
              <a:gdLst/>
              <a:ahLst/>
              <a:cxnLst/>
              <a:rect r="r" b="b" t="t" l="l"/>
              <a:pathLst>
                <a:path h="3568954" w="82423">
                  <a:moveTo>
                    <a:pt x="0" y="0"/>
                  </a:moveTo>
                  <a:lnTo>
                    <a:pt x="82423" y="0"/>
                  </a:lnTo>
                  <a:lnTo>
                    <a:pt x="82423" y="3568954"/>
                  </a:lnTo>
                  <a:lnTo>
                    <a:pt x="0" y="3568954"/>
                  </a:lnTo>
                  <a:close/>
                </a:path>
              </a:pathLst>
            </a:custGeom>
            <a:solidFill>
              <a:srgbClr val="A0C432"/>
            </a:solidFill>
          </p:spPr>
        </p:sp>
      </p:grpSp>
      <p:sp>
        <p:nvSpPr>
          <p:cNvPr name="TextBox 23" id="23"/>
          <p:cNvSpPr txBox="true"/>
          <p:nvPr/>
        </p:nvSpPr>
        <p:spPr>
          <a:xfrm rot="0">
            <a:off x="12610214" y="2392994"/>
            <a:ext cx="4443022" cy="400050"/>
          </a:xfrm>
          <a:prstGeom prst="rect">
            <a:avLst/>
          </a:prstGeom>
        </p:spPr>
        <p:txBody>
          <a:bodyPr anchor="t" rtlCol="false" tIns="0" lIns="0" bIns="0" rIns="0">
            <a:spAutoFit/>
          </a:bodyPr>
          <a:lstStyle/>
          <a:p>
            <a:pPr algn="l">
              <a:lnSpc>
                <a:spcPts val="3182"/>
              </a:lnSpc>
            </a:pPr>
            <a:r>
              <a:rPr lang="en-US" sz="2651" b="true">
                <a:solidFill>
                  <a:srgbClr val="F4F7F5"/>
                </a:solidFill>
                <a:latin typeface="Aptos Bold"/>
                <a:ea typeface="Aptos Bold"/>
                <a:cs typeface="Aptos Bold"/>
                <a:sym typeface="Aptos Bold"/>
              </a:rPr>
              <a:t>03  Movement Analysis</a:t>
            </a:r>
          </a:p>
        </p:txBody>
      </p:sp>
      <p:sp>
        <p:nvSpPr>
          <p:cNvPr name="TextBox 24" id="24"/>
          <p:cNvSpPr txBox="true"/>
          <p:nvPr/>
        </p:nvSpPr>
        <p:spPr>
          <a:xfrm rot="0">
            <a:off x="12610214" y="3069803"/>
            <a:ext cx="4443022" cy="733425"/>
          </a:xfrm>
          <a:prstGeom prst="rect">
            <a:avLst/>
          </a:prstGeom>
        </p:spPr>
        <p:txBody>
          <a:bodyPr anchor="t" rtlCol="false" tIns="0" lIns="0" bIns="0" rIns="0">
            <a:spAutoFit/>
          </a:bodyPr>
          <a:lstStyle/>
          <a:p>
            <a:pPr algn="l">
              <a:lnSpc>
                <a:spcPts val="2911"/>
              </a:lnSpc>
            </a:pPr>
            <a:r>
              <a:rPr lang="en-US" sz="2426">
                <a:solidFill>
                  <a:srgbClr val="A7B3AD"/>
                </a:solidFill>
                <a:latin typeface="Aptos"/>
                <a:ea typeface="Aptos"/>
                <a:cs typeface="Aptos"/>
                <a:sym typeface="Aptos"/>
              </a:rPr>
              <a:t>Use joint information to study movement quality.</a:t>
            </a:r>
          </a:p>
        </p:txBody>
      </p:sp>
      <p:grpSp>
        <p:nvGrpSpPr>
          <p:cNvPr name="Group 25" id="25"/>
          <p:cNvGrpSpPr/>
          <p:nvPr/>
        </p:nvGrpSpPr>
        <p:grpSpPr>
          <a:xfrm rot="0">
            <a:off x="953719" y="5346278"/>
            <a:ext cx="5161817" cy="2691013"/>
            <a:chOff x="0" y="0"/>
            <a:chExt cx="6882422" cy="3588017"/>
          </a:xfrm>
        </p:grpSpPr>
        <p:sp>
          <p:nvSpPr>
            <p:cNvPr name="Freeform 26" id="26"/>
            <p:cNvSpPr/>
            <p:nvPr/>
          </p:nvSpPr>
          <p:spPr>
            <a:xfrm flipH="false" flipV="false" rot="0">
              <a:off x="0" y="0"/>
              <a:ext cx="6882511" cy="3588004"/>
            </a:xfrm>
            <a:custGeom>
              <a:avLst/>
              <a:gdLst/>
              <a:ahLst/>
              <a:cxnLst/>
              <a:rect r="r" b="b" t="t" l="l"/>
              <a:pathLst>
                <a:path h="3588004" w="6882511">
                  <a:moveTo>
                    <a:pt x="0" y="598043"/>
                  </a:moveTo>
                  <a:cubicBezTo>
                    <a:pt x="0" y="267716"/>
                    <a:pt x="267716" y="0"/>
                    <a:pt x="598043" y="0"/>
                  </a:cubicBezTo>
                  <a:lnTo>
                    <a:pt x="6284468" y="0"/>
                  </a:lnTo>
                  <a:cubicBezTo>
                    <a:pt x="6614795" y="0"/>
                    <a:pt x="6882511" y="267716"/>
                    <a:pt x="6882511" y="598043"/>
                  </a:cubicBezTo>
                  <a:lnTo>
                    <a:pt x="6882511" y="2989961"/>
                  </a:lnTo>
                  <a:cubicBezTo>
                    <a:pt x="6882511" y="3320288"/>
                    <a:pt x="6614795" y="3588004"/>
                    <a:pt x="6284468" y="3588004"/>
                  </a:cubicBezTo>
                  <a:lnTo>
                    <a:pt x="598043" y="3588004"/>
                  </a:lnTo>
                  <a:cubicBezTo>
                    <a:pt x="267716" y="3588004"/>
                    <a:pt x="0" y="3320288"/>
                    <a:pt x="0" y="2989961"/>
                  </a:cubicBezTo>
                  <a:close/>
                </a:path>
              </a:pathLst>
            </a:custGeom>
            <a:solidFill>
              <a:srgbClr val="121916"/>
            </a:solidFill>
            <a:ln w="14299" cap="sq">
              <a:solidFill>
                <a:srgbClr val="303E38"/>
              </a:solidFill>
              <a:prstDash val="solid"/>
              <a:miter/>
            </a:ln>
          </p:spPr>
        </p:sp>
      </p:grpSp>
      <p:grpSp>
        <p:nvGrpSpPr>
          <p:cNvPr name="Group 27" id="27"/>
          <p:cNvGrpSpPr/>
          <p:nvPr/>
        </p:nvGrpSpPr>
        <p:grpSpPr>
          <a:xfrm rot="0">
            <a:off x="960872" y="5353421"/>
            <a:ext cx="61770" cy="2676716"/>
            <a:chOff x="0" y="0"/>
            <a:chExt cx="82360" cy="3568954"/>
          </a:xfrm>
        </p:grpSpPr>
        <p:sp>
          <p:nvSpPr>
            <p:cNvPr name="Freeform 28" id="28"/>
            <p:cNvSpPr/>
            <p:nvPr/>
          </p:nvSpPr>
          <p:spPr>
            <a:xfrm flipH="false" flipV="false" rot="0">
              <a:off x="0" y="0"/>
              <a:ext cx="82423" cy="3568954"/>
            </a:xfrm>
            <a:custGeom>
              <a:avLst/>
              <a:gdLst/>
              <a:ahLst/>
              <a:cxnLst/>
              <a:rect r="r" b="b" t="t" l="l"/>
              <a:pathLst>
                <a:path h="3568954" w="82423">
                  <a:moveTo>
                    <a:pt x="0" y="0"/>
                  </a:moveTo>
                  <a:lnTo>
                    <a:pt x="82423" y="0"/>
                  </a:lnTo>
                  <a:lnTo>
                    <a:pt x="82423" y="3568954"/>
                  </a:lnTo>
                  <a:lnTo>
                    <a:pt x="0" y="3568954"/>
                  </a:lnTo>
                  <a:close/>
                </a:path>
              </a:pathLst>
            </a:custGeom>
            <a:solidFill>
              <a:srgbClr val="A0C432"/>
            </a:solidFill>
          </p:spPr>
        </p:sp>
      </p:grpSp>
      <p:sp>
        <p:nvSpPr>
          <p:cNvPr name="TextBox 29" id="29"/>
          <p:cNvSpPr txBox="true"/>
          <p:nvPr/>
        </p:nvSpPr>
        <p:spPr>
          <a:xfrm rot="0">
            <a:off x="1354293" y="5618769"/>
            <a:ext cx="4443022" cy="400050"/>
          </a:xfrm>
          <a:prstGeom prst="rect">
            <a:avLst/>
          </a:prstGeom>
        </p:spPr>
        <p:txBody>
          <a:bodyPr anchor="t" rtlCol="false" tIns="0" lIns="0" bIns="0" rIns="0">
            <a:spAutoFit/>
          </a:bodyPr>
          <a:lstStyle/>
          <a:p>
            <a:pPr algn="l">
              <a:lnSpc>
                <a:spcPts val="3182"/>
              </a:lnSpc>
            </a:pPr>
            <a:r>
              <a:rPr lang="en-US" sz="2651" b="true">
                <a:solidFill>
                  <a:srgbClr val="F4F7F5"/>
                </a:solidFill>
                <a:latin typeface="Aptos Bold"/>
                <a:ea typeface="Aptos Bold"/>
                <a:cs typeface="Aptos Bold"/>
                <a:sym typeface="Aptos Bold"/>
              </a:rPr>
              <a:t>04  Risk Assessment</a:t>
            </a:r>
          </a:p>
        </p:txBody>
      </p:sp>
      <p:sp>
        <p:nvSpPr>
          <p:cNvPr name="TextBox 30" id="30"/>
          <p:cNvSpPr txBox="true"/>
          <p:nvPr/>
        </p:nvSpPr>
        <p:spPr>
          <a:xfrm rot="0">
            <a:off x="1354293" y="6295577"/>
            <a:ext cx="4443022" cy="733425"/>
          </a:xfrm>
          <a:prstGeom prst="rect">
            <a:avLst/>
          </a:prstGeom>
        </p:spPr>
        <p:txBody>
          <a:bodyPr anchor="t" rtlCol="false" tIns="0" lIns="0" bIns="0" rIns="0">
            <a:spAutoFit/>
          </a:bodyPr>
          <a:lstStyle/>
          <a:p>
            <a:pPr algn="l">
              <a:lnSpc>
                <a:spcPts val="2911"/>
              </a:lnSpc>
            </a:pPr>
            <a:r>
              <a:rPr lang="en-US" sz="2426">
                <a:solidFill>
                  <a:srgbClr val="A7B3AD"/>
                </a:solidFill>
                <a:latin typeface="Aptos"/>
                <a:ea typeface="Aptos"/>
                <a:cs typeface="Aptos"/>
                <a:sym typeface="Aptos"/>
              </a:rPr>
              <a:t>Combine prediction and anomaly signals into risk insights.</a:t>
            </a:r>
          </a:p>
        </p:txBody>
      </p:sp>
      <p:grpSp>
        <p:nvGrpSpPr>
          <p:cNvPr name="Group 31" id="31"/>
          <p:cNvGrpSpPr/>
          <p:nvPr/>
        </p:nvGrpSpPr>
        <p:grpSpPr>
          <a:xfrm rot="0">
            <a:off x="6581680" y="5346278"/>
            <a:ext cx="5161817" cy="2691013"/>
            <a:chOff x="0" y="0"/>
            <a:chExt cx="6882422" cy="3588017"/>
          </a:xfrm>
        </p:grpSpPr>
        <p:sp>
          <p:nvSpPr>
            <p:cNvPr name="Freeform 32" id="32"/>
            <p:cNvSpPr/>
            <p:nvPr/>
          </p:nvSpPr>
          <p:spPr>
            <a:xfrm flipH="false" flipV="false" rot="0">
              <a:off x="0" y="0"/>
              <a:ext cx="6882511" cy="3588004"/>
            </a:xfrm>
            <a:custGeom>
              <a:avLst/>
              <a:gdLst/>
              <a:ahLst/>
              <a:cxnLst/>
              <a:rect r="r" b="b" t="t" l="l"/>
              <a:pathLst>
                <a:path h="3588004" w="6882511">
                  <a:moveTo>
                    <a:pt x="0" y="598043"/>
                  </a:moveTo>
                  <a:cubicBezTo>
                    <a:pt x="0" y="267716"/>
                    <a:pt x="267716" y="0"/>
                    <a:pt x="598043" y="0"/>
                  </a:cubicBezTo>
                  <a:lnTo>
                    <a:pt x="6284468" y="0"/>
                  </a:lnTo>
                  <a:cubicBezTo>
                    <a:pt x="6614795" y="0"/>
                    <a:pt x="6882511" y="267716"/>
                    <a:pt x="6882511" y="598043"/>
                  </a:cubicBezTo>
                  <a:lnTo>
                    <a:pt x="6882511" y="2989961"/>
                  </a:lnTo>
                  <a:cubicBezTo>
                    <a:pt x="6882511" y="3320288"/>
                    <a:pt x="6614795" y="3588004"/>
                    <a:pt x="6284468" y="3588004"/>
                  </a:cubicBezTo>
                  <a:lnTo>
                    <a:pt x="598043" y="3588004"/>
                  </a:lnTo>
                  <a:cubicBezTo>
                    <a:pt x="267716" y="3588004"/>
                    <a:pt x="0" y="3320288"/>
                    <a:pt x="0" y="2989961"/>
                  </a:cubicBezTo>
                  <a:close/>
                </a:path>
              </a:pathLst>
            </a:custGeom>
            <a:solidFill>
              <a:srgbClr val="121916"/>
            </a:solidFill>
            <a:ln w="14299" cap="sq">
              <a:solidFill>
                <a:srgbClr val="303E38"/>
              </a:solidFill>
              <a:prstDash val="solid"/>
              <a:miter/>
            </a:ln>
          </p:spPr>
        </p:sp>
      </p:grpSp>
      <p:grpSp>
        <p:nvGrpSpPr>
          <p:cNvPr name="Group 33" id="33"/>
          <p:cNvGrpSpPr/>
          <p:nvPr/>
        </p:nvGrpSpPr>
        <p:grpSpPr>
          <a:xfrm rot="0">
            <a:off x="6588824" y="5353421"/>
            <a:ext cx="61770" cy="2676716"/>
            <a:chOff x="0" y="0"/>
            <a:chExt cx="82360" cy="3568954"/>
          </a:xfrm>
        </p:grpSpPr>
        <p:sp>
          <p:nvSpPr>
            <p:cNvPr name="Freeform 34" id="34"/>
            <p:cNvSpPr/>
            <p:nvPr/>
          </p:nvSpPr>
          <p:spPr>
            <a:xfrm flipH="false" flipV="false" rot="0">
              <a:off x="0" y="0"/>
              <a:ext cx="82423" cy="3568954"/>
            </a:xfrm>
            <a:custGeom>
              <a:avLst/>
              <a:gdLst/>
              <a:ahLst/>
              <a:cxnLst/>
              <a:rect r="r" b="b" t="t" l="l"/>
              <a:pathLst>
                <a:path h="3568954" w="82423">
                  <a:moveTo>
                    <a:pt x="0" y="0"/>
                  </a:moveTo>
                  <a:lnTo>
                    <a:pt x="82423" y="0"/>
                  </a:lnTo>
                  <a:lnTo>
                    <a:pt x="82423" y="3568954"/>
                  </a:lnTo>
                  <a:lnTo>
                    <a:pt x="0" y="3568954"/>
                  </a:lnTo>
                  <a:close/>
                </a:path>
              </a:pathLst>
            </a:custGeom>
            <a:solidFill>
              <a:srgbClr val="A0C432"/>
            </a:solidFill>
          </p:spPr>
        </p:sp>
      </p:grpSp>
      <p:sp>
        <p:nvSpPr>
          <p:cNvPr name="TextBox 35" id="35"/>
          <p:cNvSpPr txBox="true"/>
          <p:nvPr/>
        </p:nvSpPr>
        <p:spPr>
          <a:xfrm rot="0">
            <a:off x="6982254" y="5618769"/>
            <a:ext cx="4443022" cy="400050"/>
          </a:xfrm>
          <a:prstGeom prst="rect">
            <a:avLst/>
          </a:prstGeom>
        </p:spPr>
        <p:txBody>
          <a:bodyPr anchor="t" rtlCol="false" tIns="0" lIns="0" bIns="0" rIns="0">
            <a:spAutoFit/>
          </a:bodyPr>
          <a:lstStyle/>
          <a:p>
            <a:pPr algn="l">
              <a:lnSpc>
                <a:spcPts val="3182"/>
              </a:lnSpc>
            </a:pPr>
            <a:r>
              <a:rPr lang="en-US" sz="2651" b="true">
                <a:solidFill>
                  <a:srgbClr val="F4F7F5"/>
                </a:solidFill>
                <a:latin typeface="Aptos Bold"/>
                <a:ea typeface="Aptos Bold"/>
                <a:cs typeface="Aptos Bold"/>
                <a:sym typeface="Aptos Bold"/>
              </a:rPr>
              <a:t>05  Athlete Management</a:t>
            </a:r>
          </a:p>
        </p:txBody>
      </p:sp>
      <p:sp>
        <p:nvSpPr>
          <p:cNvPr name="TextBox 36" id="36"/>
          <p:cNvSpPr txBox="true"/>
          <p:nvPr/>
        </p:nvSpPr>
        <p:spPr>
          <a:xfrm rot="0">
            <a:off x="6982254" y="6295577"/>
            <a:ext cx="4443022" cy="733425"/>
          </a:xfrm>
          <a:prstGeom prst="rect">
            <a:avLst/>
          </a:prstGeom>
        </p:spPr>
        <p:txBody>
          <a:bodyPr anchor="t" rtlCol="false" tIns="0" lIns="0" bIns="0" rIns="0">
            <a:spAutoFit/>
          </a:bodyPr>
          <a:lstStyle/>
          <a:p>
            <a:pPr algn="l">
              <a:lnSpc>
                <a:spcPts val="2911"/>
              </a:lnSpc>
            </a:pPr>
            <a:r>
              <a:rPr lang="en-US" sz="2426">
                <a:solidFill>
                  <a:srgbClr val="A7B3AD"/>
                </a:solidFill>
                <a:latin typeface="Aptos"/>
                <a:ea typeface="Aptos"/>
                <a:cs typeface="Aptos"/>
                <a:sym typeface="Aptos"/>
              </a:rPr>
              <a:t>Maintain athlete profiles and connect them to analysis.</a:t>
            </a:r>
          </a:p>
        </p:txBody>
      </p:sp>
      <p:grpSp>
        <p:nvGrpSpPr>
          <p:cNvPr name="Group 37" id="37"/>
          <p:cNvGrpSpPr/>
          <p:nvPr/>
        </p:nvGrpSpPr>
        <p:grpSpPr>
          <a:xfrm rot="0">
            <a:off x="12209631" y="5346278"/>
            <a:ext cx="5161817" cy="2691013"/>
            <a:chOff x="0" y="0"/>
            <a:chExt cx="6882422" cy="3588017"/>
          </a:xfrm>
        </p:grpSpPr>
        <p:sp>
          <p:nvSpPr>
            <p:cNvPr name="Freeform 38" id="38"/>
            <p:cNvSpPr/>
            <p:nvPr/>
          </p:nvSpPr>
          <p:spPr>
            <a:xfrm flipH="false" flipV="false" rot="0">
              <a:off x="0" y="0"/>
              <a:ext cx="6882511" cy="3588004"/>
            </a:xfrm>
            <a:custGeom>
              <a:avLst/>
              <a:gdLst/>
              <a:ahLst/>
              <a:cxnLst/>
              <a:rect r="r" b="b" t="t" l="l"/>
              <a:pathLst>
                <a:path h="3588004" w="6882511">
                  <a:moveTo>
                    <a:pt x="0" y="598043"/>
                  </a:moveTo>
                  <a:cubicBezTo>
                    <a:pt x="0" y="267716"/>
                    <a:pt x="267716" y="0"/>
                    <a:pt x="598043" y="0"/>
                  </a:cubicBezTo>
                  <a:lnTo>
                    <a:pt x="6284468" y="0"/>
                  </a:lnTo>
                  <a:cubicBezTo>
                    <a:pt x="6614795" y="0"/>
                    <a:pt x="6882511" y="267716"/>
                    <a:pt x="6882511" y="598043"/>
                  </a:cubicBezTo>
                  <a:lnTo>
                    <a:pt x="6882511" y="2989961"/>
                  </a:lnTo>
                  <a:cubicBezTo>
                    <a:pt x="6882511" y="3320288"/>
                    <a:pt x="6614795" y="3588004"/>
                    <a:pt x="6284468" y="3588004"/>
                  </a:cubicBezTo>
                  <a:lnTo>
                    <a:pt x="598043" y="3588004"/>
                  </a:lnTo>
                  <a:cubicBezTo>
                    <a:pt x="267716" y="3588004"/>
                    <a:pt x="0" y="3320288"/>
                    <a:pt x="0" y="2989961"/>
                  </a:cubicBezTo>
                  <a:close/>
                </a:path>
              </a:pathLst>
            </a:custGeom>
            <a:solidFill>
              <a:srgbClr val="121916"/>
            </a:solidFill>
            <a:ln w="14299" cap="sq">
              <a:solidFill>
                <a:srgbClr val="303E38"/>
              </a:solidFill>
              <a:prstDash val="solid"/>
              <a:miter/>
            </a:ln>
          </p:spPr>
        </p:sp>
      </p:grpSp>
      <p:grpSp>
        <p:nvGrpSpPr>
          <p:cNvPr name="Group 39" id="39"/>
          <p:cNvGrpSpPr/>
          <p:nvPr/>
        </p:nvGrpSpPr>
        <p:grpSpPr>
          <a:xfrm rot="0">
            <a:off x="12216784" y="5353421"/>
            <a:ext cx="61770" cy="2676716"/>
            <a:chOff x="0" y="0"/>
            <a:chExt cx="82360" cy="3568954"/>
          </a:xfrm>
        </p:grpSpPr>
        <p:sp>
          <p:nvSpPr>
            <p:cNvPr name="Freeform 40" id="40"/>
            <p:cNvSpPr/>
            <p:nvPr/>
          </p:nvSpPr>
          <p:spPr>
            <a:xfrm flipH="false" flipV="false" rot="0">
              <a:off x="0" y="0"/>
              <a:ext cx="82423" cy="3568954"/>
            </a:xfrm>
            <a:custGeom>
              <a:avLst/>
              <a:gdLst/>
              <a:ahLst/>
              <a:cxnLst/>
              <a:rect r="r" b="b" t="t" l="l"/>
              <a:pathLst>
                <a:path h="3568954" w="82423">
                  <a:moveTo>
                    <a:pt x="0" y="0"/>
                  </a:moveTo>
                  <a:lnTo>
                    <a:pt x="82423" y="0"/>
                  </a:lnTo>
                  <a:lnTo>
                    <a:pt x="82423" y="3568954"/>
                  </a:lnTo>
                  <a:lnTo>
                    <a:pt x="0" y="3568954"/>
                  </a:lnTo>
                  <a:close/>
                </a:path>
              </a:pathLst>
            </a:custGeom>
            <a:solidFill>
              <a:srgbClr val="A0C432"/>
            </a:solidFill>
          </p:spPr>
        </p:sp>
      </p:grpSp>
      <p:sp>
        <p:nvSpPr>
          <p:cNvPr name="TextBox 41" id="41"/>
          <p:cNvSpPr txBox="true"/>
          <p:nvPr/>
        </p:nvSpPr>
        <p:spPr>
          <a:xfrm rot="0">
            <a:off x="12610214" y="5618769"/>
            <a:ext cx="4443022" cy="400050"/>
          </a:xfrm>
          <a:prstGeom prst="rect">
            <a:avLst/>
          </a:prstGeom>
        </p:spPr>
        <p:txBody>
          <a:bodyPr anchor="t" rtlCol="false" tIns="0" lIns="0" bIns="0" rIns="0">
            <a:spAutoFit/>
          </a:bodyPr>
          <a:lstStyle/>
          <a:p>
            <a:pPr algn="l">
              <a:lnSpc>
                <a:spcPts val="3182"/>
              </a:lnSpc>
            </a:pPr>
            <a:r>
              <a:rPr lang="en-US" sz="2651" b="true">
                <a:solidFill>
                  <a:srgbClr val="F4F7F5"/>
                </a:solidFill>
                <a:latin typeface="Aptos Bold"/>
                <a:ea typeface="Aptos Bold"/>
                <a:cs typeface="Aptos Bold"/>
                <a:sym typeface="Aptos Bold"/>
              </a:rPr>
              <a:t>06  Reports &amp; History</a:t>
            </a:r>
          </a:p>
        </p:txBody>
      </p:sp>
      <p:sp>
        <p:nvSpPr>
          <p:cNvPr name="TextBox 42" id="42"/>
          <p:cNvSpPr txBox="true"/>
          <p:nvPr/>
        </p:nvSpPr>
        <p:spPr>
          <a:xfrm rot="0">
            <a:off x="12610214" y="6295577"/>
            <a:ext cx="4443022" cy="733425"/>
          </a:xfrm>
          <a:prstGeom prst="rect">
            <a:avLst/>
          </a:prstGeom>
        </p:spPr>
        <p:txBody>
          <a:bodyPr anchor="t" rtlCol="false" tIns="0" lIns="0" bIns="0" rIns="0">
            <a:spAutoFit/>
          </a:bodyPr>
          <a:lstStyle/>
          <a:p>
            <a:pPr algn="l">
              <a:lnSpc>
                <a:spcPts val="2911"/>
              </a:lnSpc>
            </a:pPr>
            <a:r>
              <a:rPr lang="en-US" sz="2426">
                <a:solidFill>
                  <a:srgbClr val="A7B3AD"/>
                </a:solidFill>
                <a:latin typeface="Aptos"/>
                <a:ea typeface="Aptos"/>
                <a:cs typeface="Aptos"/>
                <a:sym typeface="Aptos"/>
              </a:rPr>
              <a:t>Store analysis history and generate useful reports.</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080C0B"/>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96088"/>
            <a:chOff x="0" y="0"/>
            <a:chExt cx="24402453" cy="128118"/>
          </a:xfrm>
        </p:grpSpPr>
        <p:sp>
          <p:nvSpPr>
            <p:cNvPr name="Freeform 3" id="3"/>
            <p:cNvSpPr/>
            <p:nvPr/>
          </p:nvSpPr>
          <p:spPr>
            <a:xfrm flipH="false" flipV="false" rot="0">
              <a:off x="0" y="0"/>
              <a:ext cx="24402414" cy="128143"/>
            </a:xfrm>
            <a:custGeom>
              <a:avLst/>
              <a:gdLst/>
              <a:ahLst/>
              <a:cxnLst/>
              <a:rect r="r" b="b" t="t" l="l"/>
              <a:pathLst>
                <a:path h="128143" w="24402414">
                  <a:moveTo>
                    <a:pt x="0" y="0"/>
                  </a:moveTo>
                  <a:lnTo>
                    <a:pt x="24402414" y="0"/>
                  </a:lnTo>
                  <a:lnTo>
                    <a:pt x="24402414" y="128143"/>
                  </a:lnTo>
                  <a:lnTo>
                    <a:pt x="0" y="128143"/>
                  </a:lnTo>
                  <a:close/>
                </a:path>
              </a:pathLst>
            </a:custGeom>
            <a:solidFill>
              <a:srgbClr val="A0C432"/>
            </a:solidFill>
          </p:spPr>
        </p:sp>
      </p:grpSp>
      <p:sp>
        <p:nvSpPr>
          <p:cNvPr name="TextBox 4" id="4"/>
          <p:cNvSpPr txBox="true"/>
          <p:nvPr/>
        </p:nvSpPr>
        <p:spPr>
          <a:xfrm rot="0">
            <a:off x="942499" y="730177"/>
            <a:ext cx="3607594" cy="714375"/>
          </a:xfrm>
          <a:prstGeom prst="rect">
            <a:avLst/>
          </a:prstGeom>
        </p:spPr>
        <p:txBody>
          <a:bodyPr anchor="t" rtlCol="false" tIns="0" lIns="0" bIns="0" rIns="0">
            <a:spAutoFit/>
          </a:bodyPr>
          <a:lstStyle/>
          <a:p>
            <a:pPr algn="l">
              <a:lnSpc>
                <a:spcPts val="5759"/>
              </a:lnSpc>
            </a:pPr>
            <a:r>
              <a:rPr lang="en-US" sz="4800" b="true">
                <a:solidFill>
                  <a:srgbClr val="F4F7F5"/>
                </a:solidFill>
                <a:latin typeface="Aptos Bold"/>
                <a:ea typeface="Aptos Bold"/>
                <a:cs typeface="Aptos Bold"/>
                <a:sym typeface="Aptos Bold"/>
              </a:rPr>
              <a:t>Methodology</a:t>
            </a:r>
          </a:p>
        </p:txBody>
      </p:sp>
      <p:sp>
        <p:nvSpPr>
          <p:cNvPr name="TextBox 5" id="5"/>
          <p:cNvSpPr txBox="true"/>
          <p:nvPr/>
        </p:nvSpPr>
        <p:spPr>
          <a:xfrm rot="0">
            <a:off x="969950" y="1582455"/>
            <a:ext cx="14916512" cy="333375"/>
          </a:xfrm>
          <a:prstGeom prst="rect">
            <a:avLst/>
          </a:prstGeom>
        </p:spPr>
        <p:txBody>
          <a:bodyPr anchor="t" rtlCol="false" tIns="0" lIns="0" bIns="0" rIns="0">
            <a:spAutoFit/>
          </a:bodyPr>
          <a:lstStyle/>
          <a:p>
            <a:pPr algn="l">
              <a:lnSpc>
                <a:spcPts val="2639"/>
              </a:lnSpc>
            </a:pPr>
            <a:r>
              <a:rPr lang="en-US" sz="2199">
                <a:solidFill>
                  <a:srgbClr val="A7B3AD"/>
                </a:solidFill>
                <a:latin typeface="Aptos"/>
                <a:ea typeface="Aptos"/>
                <a:cs typeface="Aptos"/>
                <a:sym typeface="Aptos"/>
              </a:rPr>
              <a:t>A clear pipeline from raw video to athlete insight</a:t>
            </a:r>
          </a:p>
        </p:txBody>
      </p:sp>
      <p:sp>
        <p:nvSpPr>
          <p:cNvPr name="TextBox 6" id="6"/>
          <p:cNvSpPr txBox="true"/>
          <p:nvPr/>
        </p:nvSpPr>
        <p:spPr>
          <a:xfrm rot="0">
            <a:off x="16632145" y="585264"/>
            <a:ext cx="572091" cy="314325"/>
          </a:xfrm>
          <a:prstGeom prst="rect">
            <a:avLst/>
          </a:prstGeom>
        </p:spPr>
        <p:txBody>
          <a:bodyPr anchor="t" rtlCol="false" tIns="0" lIns="0" bIns="0" rIns="0">
            <a:spAutoFit/>
          </a:bodyPr>
          <a:lstStyle/>
          <a:p>
            <a:pPr algn="r">
              <a:lnSpc>
                <a:spcPts val="2401"/>
              </a:lnSpc>
            </a:pPr>
            <a:r>
              <a:rPr lang="en-US" b="true" sz="2001">
                <a:solidFill>
                  <a:srgbClr val="A0C432"/>
                </a:solidFill>
                <a:latin typeface="Aptos Bold"/>
                <a:ea typeface="Aptos Bold"/>
                <a:cs typeface="Aptos Bold"/>
                <a:sym typeface="Aptos Bold"/>
              </a:rPr>
              <a:t>04</a:t>
            </a:r>
          </a:p>
        </p:txBody>
      </p:sp>
      <p:grpSp>
        <p:nvGrpSpPr>
          <p:cNvPr name="Group 7" id="7"/>
          <p:cNvGrpSpPr/>
          <p:nvPr/>
        </p:nvGrpSpPr>
        <p:grpSpPr>
          <a:xfrm rot="0">
            <a:off x="706641" y="2944092"/>
            <a:ext cx="2375297" cy="2279209"/>
            <a:chOff x="0" y="0"/>
            <a:chExt cx="3167062" cy="3038945"/>
          </a:xfrm>
        </p:grpSpPr>
        <p:sp>
          <p:nvSpPr>
            <p:cNvPr name="Freeform 8" id="8"/>
            <p:cNvSpPr/>
            <p:nvPr/>
          </p:nvSpPr>
          <p:spPr>
            <a:xfrm flipH="false" flipV="false" rot="0">
              <a:off x="0" y="0"/>
              <a:ext cx="3166999" cy="3038856"/>
            </a:xfrm>
            <a:custGeom>
              <a:avLst/>
              <a:gdLst/>
              <a:ahLst/>
              <a:cxnLst/>
              <a:rect r="r" b="b" t="t" l="l"/>
              <a:pathLst>
                <a:path h="3038856" w="3166999">
                  <a:moveTo>
                    <a:pt x="0" y="506476"/>
                  </a:moveTo>
                  <a:cubicBezTo>
                    <a:pt x="0" y="226822"/>
                    <a:pt x="226822" y="0"/>
                    <a:pt x="506476" y="0"/>
                  </a:cubicBezTo>
                  <a:lnTo>
                    <a:pt x="2660523" y="0"/>
                  </a:lnTo>
                  <a:cubicBezTo>
                    <a:pt x="2940304" y="0"/>
                    <a:pt x="3166999" y="226822"/>
                    <a:pt x="3166999" y="506476"/>
                  </a:cubicBezTo>
                  <a:lnTo>
                    <a:pt x="3166999" y="2532380"/>
                  </a:lnTo>
                  <a:cubicBezTo>
                    <a:pt x="3166999" y="2812161"/>
                    <a:pt x="2940177" y="3038856"/>
                    <a:pt x="2660523" y="3038856"/>
                  </a:cubicBezTo>
                  <a:lnTo>
                    <a:pt x="506476" y="3038856"/>
                  </a:lnTo>
                  <a:cubicBezTo>
                    <a:pt x="226822" y="3038983"/>
                    <a:pt x="0" y="2812161"/>
                    <a:pt x="0" y="2532380"/>
                  </a:cubicBezTo>
                  <a:close/>
                </a:path>
              </a:pathLst>
            </a:custGeom>
            <a:solidFill>
              <a:srgbClr val="121916"/>
            </a:solidFill>
            <a:ln w="14299" cap="sq">
              <a:solidFill>
                <a:srgbClr val="A0C432"/>
              </a:solidFill>
              <a:prstDash val="solid"/>
              <a:miter/>
            </a:ln>
          </p:spPr>
        </p:sp>
      </p:grpSp>
      <p:sp>
        <p:nvSpPr>
          <p:cNvPr name="TextBox 9" id="9"/>
          <p:cNvSpPr txBox="true"/>
          <p:nvPr/>
        </p:nvSpPr>
        <p:spPr>
          <a:xfrm rot="0">
            <a:off x="969950" y="3257769"/>
            <a:ext cx="1807493" cy="333375"/>
          </a:xfrm>
          <a:prstGeom prst="rect">
            <a:avLst/>
          </a:prstGeom>
        </p:spPr>
        <p:txBody>
          <a:bodyPr anchor="t" rtlCol="false" tIns="0" lIns="0" bIns="0" rIns="0">
            <a:spAutoFit/>
          </a:bodyPr>
          <a:lstStyle/>
          <a:p>
            <a:pPr algn="ctr">
              <a:lnSpc>
                <a:spcPts val="2641"/>
              </a:lnSpc>
            </a:pPr>
            <a:r>
              <a:rPr lang="en-US" sz="2201" b="true">
                <a:solidFill>
                  <a:srgbClr val="A0C432"/>
                </a:solidFill>
                <a:latin typeface="Aptos Bold"/>
                <a:ea typeface="Aptos Bold"/>
                <a:cs typeface="Aptos Bold"/>
                <a:sym typeface="Aptos Bold"/>
              </a:rPr>
              <a:t>1</a:t>
            </a:r>
          </a:p>
        </p:txBody>
      </p:sp>
      <p:sp>
        <p:nvSpPr>
          <p:cNvPr name="TextBox 10" id="10"/>
          <p:cNvSpPr txBox="true"/>
          <p:nvPr/>
        </p:nvSpPr>
        <p:spPr>
          <a:xfrm rot="0">
            <a:off x="942499" y="3788912"/>
            <a:ext cx="1876130" cy="438150"/>
          </a:xfrm>
          <a:prstGeom prst="rect">
            <a:avLst/>
          </a:prstGeom>
        </p:spPr>
        <p:txBody>
          <a:bodyPr anchor="t" rtlCol="false" tIns="0" lIns="0" bIns="0" rIns="0">
            <a:spAutoFit/>
          </a:bodyPr>
          <a:lstStyle/>
          <a:p>
            <a:pPr algn="ctr">
              <a:lnSpc>
                <a:spcPts val="3599"/>
              </a:lnSpc>
            </a:pPr>
            <a:r>
              <a:rPr lang="en-US" sz="2999" b="true">
                <a:solidFill>
                  <a:srgbClr val="F4F7F5"/>
                </a:solidFill>
                <a:latin typeface="Aptos Bold"/>
                <a:ea typeface="Aptos Bold"/>
                <a:cs typeface="Aptos Bold"/>
                <a:sym typeface="Aptos Bold"/>
              </a:rPr>
              <a:t>Upload</a:t>
            </a:r>
          </a:p>
        </p:txBody>
      </p:sp>
      <p:sp>
        <p:nvSpPr>
          <p:cNvPr name="TextBox 11" id="11"/>
          <p:cNvSpPr txBox="true"/>
          <p:nvPr/>
        </p:nvSpPr>
        <p:spPr>
          <a:xfrm rot="0">
            <a:off x="942499" y="4373842"/>
            <a:ext cx="1876130" cy="323850"/>
          </a:xfrm>
          <a:prstGeom prst="rect">
            <a:avLst/>
          </a:prstGeom>
        </p:spPr>
        <p:txBody>
          <a:bodyPr anchor="t" rtlCol="false" tIns="0" lIns="0" bIns="0" rIns="0">
            <a:spAutoFit/>
          </a:bodyPr>
          <a:lstStyle/>
          <a:p>
            <a:pPr algn="ctr">
              <a:lnSpc>
                <a:spcPts val="2520"/>
              </a:lnSpc>
            </a:pPr>
            <a:r>
              <a:rPr lang="en-US" sz="2100">
                <a:solidFill>
                  <a:srgbClr val="A7B3AD"/>
                </a:solidFill>
                <a:latin typeface="Aptos"/>
                <a:ea typeface="Aptos"/>
                <a:cs typeface="Aptos"/>
                <a:sym typeface="Aptos"/>
              </a:rPr>
              <a:t>Video file</a:t>
            </a:r>
          </a:p>
        </p:txBody>
      </p:sp>
      <p:grpSp>
        <p:nvGrpSpPr>
          <p:cNvPr name="Group 12" id="12"/>
          <p:cNvGrpSpPr/>
          <p:nvPr/>
        </p:nvGrpSpPr>
        <p:grpSpPr>
          <a:xfrm rot="0">
            <a:off x="3115970" y="3870931"/>
            <a:ext cx="384353" cy="411804"/>
            <a:chOff x="0" y="0"/>
            <a:chExt cx="512470" cy="549072"/>
          </a:xfrm>
        </p:grpSpPr>
        <p:sp>
          <p:nvSpPr>
            <p:cNvPr name="Freeform 13" id="13"/>
            <p:cNvSpPr/>
            <p:nvPr/>
          </p:nvSpPr>
          <p:spPr>
            <a:xfrm flipH="false" flipV="false" rot="0">
              <a:off x="0" y="0"/>
              <a:ext cx="512445" cy="549021"/>
            </a:xfrm>
            <a:custGeom>
              <a:avLst/>
              <a:gdLst/>
              <a:ahLst/>
              <a:cxnLst/>
              <a:rect r="r" b="b" t="t" l="l"/>
              <a:pathLst>
                <a:path h="549021" w="512445">
                  <a:moveTo>
                    <a:pt x="0" y="137287"/>
                  </a:moveTo>
                  <a:lnTo>
                    <a:pt x="256286" y="137287"/>
                  </a:lnTo>
                  <a:lnTo>
                    <a:pt x="256286" y="0"/>
                  </a:lnTo>
                  <a:lnTo>
                    <a:pt x="512445" y="274574"/>
                  </a:lnTo>
                  <a:lnTo>
                    <a:pt x="256286" y="549021"/>
                  </a:lnTo>
                  <a:lnTo>
                    <a:pt x="256286" y="411861"/>
                  </a:lnTo>
                  <a:lnTo>
                    <a:pt x="0" y="411861"/>
                  </a:lnTo>
                  <a:close/>
                </a:path>
              </a:pathLst>
            </a:custGeom>
            <a:solidFill>
              <a:srgbClr val="A0C432"/>
            </a:solidFill>
          </p:spPr>
        </p:sp>
      </p:grpSp>
      <p:grpSp>
        <p:nvGrpSpPr>
          <p:cNvPr name="Group 14" id="14"/>
          <p:cNvGrpSpPr/>
          <p:nvPr/>
        </p:nvGrpSpPr>
        <p:grpSpPr>
          <a:xfrm rot="0">
            <a:off x="3630435" y="2944092"/>
            <a:ext cx="2375297" cy="2279209"/>
            <a:chOff x="0" y="0"/>
            <a:chExt cx="3167062" cy="3038945"/>
          </a:xfrm>
        </p:grpSpPr>
        <p:sp>
          <p:nvSpPr>
            <p:cNvPr name="Freeform 15" id="15"/>
            <p:cNvSpPr/>
            <p:nvPr/>
          </p:nvSpPr>
          <p:spPr>
            <a:xfrm flipH="false" flipV="false" rot="0">
              <a:off x="0" y="0"/>
              <a:ext cx="3166999" cy="3038856"/>
            </a:xfrm>
            <a:custGeom>
              <a:avLst/>
              <a:gdLst/>
              <a:ahLst/>
              <a:cxnLst/>
              <a:rect r="r" b="b" t="t" l="l"/>
              <a:pathLst>
                <a:path h="3038856" w="3166999">
                  <a:moveTo>
                    <a:pt x="0" y="506476"/>
                  </a:moveTo>
                  <a:cubicBezTo>
                    <a:pt x="0" y="226822"/>
                    <a:pt x="226822" y="0"/>
                    <a:pt x="506476" y="0"/>
                  </a:cubicBezTo>
                  <a:lnTo>
                    <a:pt x="2660523" y="0"/>
                  </a:lnTo>
                  <a:cubicBezTo>
                    <a:pt x="2940304" y="0"/>
                    <a:pt x="3166999" y="226822"/>
                    <a:pt x="3166999" y="506476"/>
                  </a:cubicBezTo>
                  <a:lnTo>
                    <a:pt x="3166999" y="2532380"/>
                  </a:lnTo>
                  <a:cubicBezTo>
                    <a:pt x="3166999" y="2812161"/>
                    <a:pt x="2940177" y="3038856"/>
                    <a:pt x="2660523" y="3038856"/>
                  </a:cubicBezTo>
                  <a:lnTo>
                    <a:pt x="506476" y="3038856"/>
                  </a:lnTo>
                  <a:cubicBezTo>
                    <a:pt x="226822" y="3038983"/>
                    <a:pt x="0" y="2812161"/>
                    <a:pt x="0" y="2532380"/>
                  </a:cubicBezTo>
                  <a:close/>
                </a:path>
              </a:pathLst>
            </a:custGeom>
            <a:solidFill>
              <a:srgbClr val="121916"/>
            </a:solidFill>
            <a:ln w="14299" cap="sq">
              <a:solidFill>
                <a:srgbClr val="A0C432"/>
              </a:solidFill>
              <a:prstDash val="solid"/>
              <a:miter/>
            </a:ln>
          </p:spPr>
        </p:sp>
      </p:grpSp>
      <p:sp>
        <p:nvSpPr>
          <p:cNvPr name="TextBox 16" id="16"/>
          <p:cNvSpPr txBox="true"/>
          <p:nvPr/>
        </p:nvSpPr>
        <p:spPr>
          <a:xfrm rot="0">
            <a:off x="3893744" y="3257769"/>
            <a:ext cx="1807493" cy="333375"/>
          </a:xfrm>
          <a:prstGeom prst="rect">
            <a:avLst/>
          </a:prstGeom>
        </p:spPr>
        <p:txBody>
          <a:bodyPr anchor="t" rtlCol="false" tIns="0" lIns="0" bIns="0" rIns="0">
            <a:spAutoFit/>
          </a:bodyPr>
          <a:lstStyle/>
          <a:p>
            <a:pPr algn="ctr">
              <a:lnSpc>
                <a:spcPts val="2639"/>
              </a:lnSpc>
            </a:pPr>
            <a:r>
              <a:rPr lang="en-US" sz="2199" b="true">
                <a:solidFill>
                  <a:srgbClr val="A0C432"/>
                </a:solidFill>
                <a:latin typeface="Aptos Bold"/>
                <a:ea typeface="Aptos Bold"/>
                <a:cs typeface="Aptos Bold"/>
                <a:sym typeface="Aptos Bold"/>
              </a:rPr>
              <a:t>2</a:t>
            </a:r>
          </a:p>
        </p:txBody>
      </p:sp>
      <p:sp>
        <p:nvSpPr>
          <p:cNvPr name="TextBox 17" id="17"/>
          <p:cNvSpPr txBox="true"/>
          <p:nvPr/>
        </p:nvSpPr>
        <p:spPr>
          <a:xfrm rot="0">
            <a:off x="3866293" y="3779387"/>
            <a:ext cx="1876130" cy="457200"/>
          </a:xfrm>
          <a:prstGeom prst="rect">
            <a:avLst/>
          </a:prstGeom>
        </p:spPr>
        <p:txBody>
          <a:bodyPr anchor="t" rtlCol="false" tIns="0" lIns="0" bIns="0" rIns="0">
            <a:spAutoFit/>
          </a:bodyPr>
          <a:lstStyle/>
          <a:p>
            <a:pPr algn="ctr">
              <a:lnSpc>
                <a:spcPts val="3600"/>
              </a:lnSpc>
            </a:pPr>
            <a:r>
              <a:rPr lang="en-US" sz="3000" b="true">
                <a:solidFill>
                  <a:srgbClr val="F4F7F5"/>
                </a:solidFill>
                <a:latin typeface="Aptos Bold"/>
                <a:ea typeface="Aptos Bold"/>
                <a:cs typeface="Aptos Bold"/>
                <a:sym typeface="Aptos Bold"/>
              </a:rPr>
              <a:t>Process</a:t>
            </a:r>
          </a:p>
        </p:txBody>
      </p:sp>
      <p:sp>
        <p:nvSpPr>
          <p:cNvPr name="TextBox 18" id="18"/>
          <p:cNvSpPr txBox="true"/>
          <p:nvPr/>
        </p:nvSpPr>
        <p:spPr>
          <a:xfrm rot="0">
            <a:off x="3866293" y="4373842"/>
            <a:ext cx="1876130" cy="323850"/>
          </a:xfrm>
          <a:prstGeom prst="rect">
            <a:avLst/>
          </a:prstGeom>
        </p:spPr>
        <p:txBody>
          <a:bodyPr anchor="t" rtlCol="false" tIns="0" lIns="0" bIns="0" rIns="0">
            <a:spAutoFit/>
          </a:bodyPr>
          <a:lstStyle/>
          <a:p>
            <a:pPr algn="ctr">
              <a:lnSpc>
                <a:spcPts val="2520"/>
              </a:lnSpc>
            </a:pPr>
            <a:r>
              <a:rPr lang="en-US" sz="2100">
                <a:solidFill>
                  <a:srgbClr val="A7B3AD"/>
                </a:solidFill>
                <a:latin typeface="Aptos"/>
                <a:ea typeface="Aptos"/>
                <a:cs typeface="Aptos"/>
                <a:sym typeface="Aptos"/>
              </a:rPr>
              <a:t>Frames + pose</a:t>
            </a:r>
          </a:p>
        </p:txBody>
      </p:sp>
      <p:grpSp>
        <p:nvGrpSpPr>
          <p:cNvPr name="Group 19" id="19"/>
          <p:cNvGrpSpPr/>
          <p:nvPr/>
        </p:nvGrpSpPr>
        <p:grpSpPr>
          <a:xfrm rot="0">
            <a:off x="6039755" y="3870931"/>
            <a:ext cx="384353" cy="411804"/>
            <a:chOff x="0" y="0"/>
            <a:chExt cx="512470" cy="549072"/>
          </a:xfrm>
        </p:grpSpPr>
        <p:sp>
          <p:nvSpPr>
            <p:cNvPr name="Freeform 20" id="20"/>
            <p:cNvSpPr/>
            <p:nvPr/>
          </p:nvSpPr>
          <p:spPr>
            <a:xfrm flipH="false" flipV="false" rot="0">
              <a:off x="0" y="0"/>
              <a:ext cx="512445" cy="549021"/>
            </a:xfrm>
            <a:custGeom>
              <a:avLst/>
              <a:gdLst/>
              <a:ahLst/>
              <a:cxnLst/>
              <a:rect r="r" b="b" t="t" l="l"/>
              <a:pathLst>
                <a:path h="549021" w="512445">
                  <a:moveTo>
                    <a:pt x="0" y="137287"/>
                  </a:moveTo>
                  <a:lnTo>
                    <a:pt x="256286" y="137287"/>
                  </a:lnTo>
                  <a:lnTo>
                    <a:pt x="256286" y="0"/>
                  </a:lnTo>
                  <a:lnTo>
                    <a:pt x="512445" y="274574"/>
                  </a:lnTo>
                  <a:lnTo>
                    <a:pt x="256286" y="549021"/>
                  </a:lnTo>
                  <a:lnTo>
                    <a:pt x="256286" y="411861"/>
                  </a:lnTo>
                  <a:lnTo>
                    <a:pt x="0" y="411861"/>
                  </a:lnTo>
                  <a:close/>
                </a:path>
              </a:pathLst>
            </a:custGeom>
            <a:solidFill>
              <a:srgbClr val="A0C432"/>
            </a:solidFill>
          </p:spPr>
        </p:sp>
      </p:grpSp>
      <p:grpSp>
        <p:nvGrpSpPr>
          <p:cNvPr name="Group 21" id="21"/>
          <p:cNvGrpSpPr/>
          <p:nvPr/>
        </p:nvGrpSpPr>
        <p:grpSpPr>
          <a:xfrm rot="0">
            <a:off x="6554219" y="2944092"/>
            <a:ext cx="2375297" cy="2279209"/>
            <a:chOff x="0" y="0"/>
            <a:chExt cx="3167062" cy="3038945"/>
          </a:xfrm>
        </p:grpSpPr>
        <p:sp>
          <p:nvSpPr>
            <p:cNvPr name="Freeform 22" id="22"/>
            <p:cNvSpPr/>
            <p:nvPr/>
          </p:nvSpPr>
          <p:spPr>
            <a:xfrm flipH="false" flipV="false" rot="0">
              <a:off x="0" y="0"/>
              <a:ext cx="3166999" cy="3038856"/>
            </a:xfrm>
            <a:custGeom>
              <a:avLst/>
              <a:gdLst/>
              <a:ahLst/>
              <a:cxnLst/>
              <a:rect r="r" b="b" t="t" l="l"/>
              <a:pathLst>
                <a:path h="3038856" w="3166999">
                  <a:moveTo>
                    <a:pt x="0" y="506476"/>
                  </a:moveTo>
                  <a:cubicBezTo>
                    <a:pt x="0" y="226822"/>
                    <a:pt x="226822" y="0"/>
                    <a:pt x="506476" y="0"/>
                  </a:cubicBezTo>
                  <a:lnTo>
                    <a:pt x="2660523" y="0"/>
                  </a:lnTo>
                  <a:cubicBezTo>
                    <a:pt x="2940304" y="0"/>
                    <a:pt x="3166999" y="226822"/>
                    <a:pt x="3166999" y="506476"/>
                  </a:cubicBezTo>
                  <a:lnTo>
                    <a:pt x="3166999" y="2532380"/>
                  </a:lnTo>
                  <a:cubicBezTo>
                    <a:pt x="3166999" y="2812161"/>
                    <a:pt x="2940177" y="3038856"/>
                    <a:pt x="2660523" y="3038856"/>
                  </a:cubicBezTo>
                  <a:lnTo>
                    <a:pt x="506476" y="3038856"/>
                  </a:lnTo>
                  <a:cubicBezTo>
                    <a:pt x="226822" y="3038983"/>
                    <a:pt x="0" y="2812161"/>
                    <a:pt x="0" y="2532380"/>
                  </a:cubicBezTo>
                  <a:close/>
                </a:path>
              </a:pathLst>
            </a:custGeom>
            <a:solidFill>
              <a:srgbClr val="121916"/>
            </a:solidFill>
            <a:ln w="14299" cap="sq">
              <a:solidFill>
                <a:srgbClr val="A0C432"/>
              </a:solidFill>
              <a:prstDash val="solid"/>
              <a:miter/>
            </a:ln>
          </p:spPr>
        </p:sp>
      </p:grpSp>
      <p:sp>
        <p:nvSpPr>
          <p:cNvPr name="TextBox 23" id="23"/>
          <p:cNvSpPr txBox="true"/>
          <p:nvPr/>
        </p:nvSpPr>
        <p:spPr>
          <a:xfrm rot="0">
            <a:off x="6817538" y="3257769"/>
            <a:ext cx="1807493" cy="333375"/>
          </a:xfrm>
          <a:prstGeom prst="rect">
            <a:avLst/>
          </a:prstGeom>
        </p:spPr>
        <p:txBody>
          <a:bodyPr anchor="t" rtlCol="false" tIns="0" lIns="0" bIns="0" rIns="0">
            <a:spAutoFit/>
          </a:bodyPr>
          <a:lstStyle/>
          <a:p>
            <a:pPr algn="ctr">
              <a:lnSpc>
                <a:spcPts val="2639"/>
              </a:lnSpc>
            </a:pPr>
            <a:r>
              <a:rPr lang="en-US" sz="2199" b="true">
                <a:solidFill>
                  <a:srgbClr val="A0C432"/>
                </a:solidFill>
                <a:latin typeface="Aptos Bold"/>
                <a:ea typeface="Aptos Bold"/>
                <a:cs typeface="Aptos Bold"/>
                <a:sym typeface="Aptos Bold"/>
              </a:rPr>
              <a:t>3</a:t>
            </a:r>
          </a:p>
        </p:txBody>
      </p:sp>
      <p:sp>
        <p:nvSpPr>
          <p:cNvPr name="TextBox 24" id="24"/>
          <p:cNvSpPr txBox="true"/>
          <p:nvPr/>
        </p:nvSpPr>
        <p:spPr>
          <a:xfrm rot="0">
            <a:off x="6790077" y="3779387"/>
            <a:ext cx="1876130" cy="457200"/>
          </a:xfrm>
          <a:prstGeom prst="rect">
            <a:avLst/>
          </a:prstGeom>
        </p:spPr>
        <p:txBody>
          <a:bodyPr anchor="t" rtlCol="false" tIns="0" lIns="0" bIns="0" rIns="0">
            <a:spAutoFit/>
          </a:bodyPr>
          <a:lstStyle/>
          <a:p>
            <a:pPr algn="ctr">
              <a:lnSpc>
                <a:spcPts val="3600"/>
              </a:lnSpc>
            </a:pPr>
            <a:r>
              <a:rPr lang="en-US" sz="3000" b="true">
                <a:solidFill>
                  <a:srgbClr val="F4F7F5"/>
                </a:solidFill>
                <a:latin typeface="Aptos Bold"/>
                <a:ea typeface="Aptos Bold"/>
                <a:cs typeface="Aptos Bold"/>
                <a:sym typeface="Aptos Bold"/>
              </a:rPr>
              <a:t>Analyze</a:t>
            </a:r>
          </a:p>
        </p:txBody>
      </p:sp>
      <p:sp>
        <p:nvSpPr>
          <p:cNvPr name="TextBox 25" id="25"/>
          <p:cNvSpPr txBox="true"/>
          <p:nvPr/>
        </p:nvSpPr>
        <p:spPr>
          <a:xfrm rot="0">
            <a:off x="6790077" y="4373842"/>
            <a:ext cx="1876130" cy="323850"/>
          </a:xfrm>
          <a:prstGeom prst="rect">
            <a:avLst/>
          </a:prstGeom>
        </p:spPr>
        <p:txBody>
          <a:bodyPr anchor="t" rtlCol="false" tIns="0" lIns="0" bIns="0" rIns="0">
            <a:spAutoFit/>
          </a:bodyPr>
          <a:lstStyle/>
          <a:p>
            <a:pPr algn="ctr">
              <a:lnSpc>
                <a:spcPts val="2520"/>
              </a:lnSpc>
            </a:pPr>
            <a:r>
              <a:rPr lang="en-US" sz="2100">
                <a:solidFill>
                  <a:srgbClr val="A7B3AD"/>
                </a:solidFill>
                <a:latin typeface="Aptos"/>
                <a:ea typeface="Aptos"/>
                <a:cs typeface="Aptos"/>
                <a:sym typeface="Aptos"/>
              </a:rPr>
              <a:t>Joint angles</a:t>
            </a:r>
          </a:p>
        </p:txBody>
      </p:sp>
      <p:grpSp>
        <p:nvGrpSpPr>
          <p:cNvPr name="Group 26" id="26"/>
          <p:cNvGrpSpPr/>
          <p:nvPr/>
        </p:nvGrpSpPr>
        <p:grpSpPr>
          <a:xfrm rot="0">
            <a:off x="8963549" y="3870931"/>
            <a:ext cx="384353" cy="411804"/>
            <a:chOff x="0" y="0"/>
            <a:chExt cx="512470" cy="549072"/>
          </a:xfrm>
        </p:grpSpPr>
        <p:sp>
          <p:nvSpPr>
            <p:cNvPr name="Freeform 27" id="27"/>
            <p:cNvSpPr/>
            <p:nvPr/>
          </p:nvSpPr>
          <p:spPr>
            <a:xfrm flipH="false" flipV="false" rot="0">
              <a:off x="0" y="0"/>
              <a:ext cx="512445" cy="549021"/>
            </a:xfrm>
            <a:custGeom>
              <a:avLst/>
              <a:gdLst/>
              <a:ahLst/>
              <a:cxnLst/>
              <a:rect r="r" b="b" t="t" l="l"/>
              <a:pathLst>
                <a:path h="549021" w="512445">
                  <a:moveTo>
                    <a:pt x="0" y="137287"/>
                  </a:moveTo>
                  <a:lnTo>
                    <a:pt x="256286" y="137287"/>
                  </a:lnTo>
                  <a:lnTo>
                    <a:pt x="256286" y="0"/>
                  </a:lnTo>
                  <a:lnTo>
                    <a:pt x="512445" y="274574"/>
                  </a:lnTo>
                  <a:lnTo>
                    <a:pt x="256286" y="549021"/>
                  </a:lnTo>
                  <a:lnTo>
                    <a:pt x="256286" y="411861"/>
                  </a:lnTo>
                  <a:lnTo>
                    <a:pt x="0" y="411861"/>
                  </a:lnTo>
                  <a:close/>
                </a:path>
              </a:pathLst>
            </a:custGeom>
            <a:solidFill>
              <a:srgbClr val="A0C432"/>
            </a:solidFill>
          </p:spPr>
        </p:sp>
      </p:grpSp>
      <p:grpSp>
        <p:nvGrpSpPr>
          <p:cNvPr name="Group 28" id="28"/>
          <p:cNvGrpSpPr/>
          <p:nvPr/>
        </p:nvGrpSpPr>
        <p:grpSpPr>
          <a:xfrm rot="0">
            <a:off x="9478013" y="2944092"/>
            <a:ext cx="2375297" cy="2279209"/>
            <a:chOff x="0" y="0"/>
            <a:chExt cx="3167062" cy="3038945"/>
          </a:xfrm>
        </p:grpSpPr>
        <p:sp>
          <p:nvSpPr>
            <p:cNvPr name="Freeform 29" id="29"/>
            <p:cNvSpPr/>
            <p:nvPr/>
          </p:nvSpPr>
          <p:spPr>
            <a:xfrm flipH="false" flipV="false" rot="0">
              <a:off x="0" y="0"/>
              <a:ext cx="3166999" cy="3038856"/>
            </a:xfrm>
            <a:custGeom>
              <a:avLst/>
              <a:gdLst/>
              <a:ahLst/>
              <a:cxnLst/>
              <a:rect r="r" b="b" t="t" l="l"/>
              <a:pathLst>
                <a:path h="3038856" w="3166999">
                  <a:moveTo>
                    <a:pt x="0" y="506476"/>
                  </a:moveTo>
                  <a:cubicBezTo>
                    <a:pt x="0" y="226822"/>
                    <a:pt x="226822" y="0"/>
                    <a:pt x="506476" y="0"/>
                  </a:cubicBezTo>
                  <a:lnTo>
                    <a:pt x="2660523" y="0"/>
                  </a:lnTo>
                  <a:cubicBezTo>
                    <a:pt x="2940304" y="0"/>
                    <a:pt x="3166999" y="226822"/>
                    <a:pt x="3166999" y="506476"/>
                  </a:cubicBezTo>
                  <a:lnTo>
                    <a:pt x="3166999" y="2532380"/>
                  </a:lnTo>
                  <a:cubicBezTo>
                    <a:pt x="3166999" y="2812161"/>
                    <a:pt x="2940177" y="3038856"/>
                    <a:pt x="2660523" y="3038856"/>
                  </a:cubicBezTo>
                  <a:lnTo>
                    <a:pt x="506476" y="3038856"/>
                  </a:lnTo>
                  <a:cubicBezTo>
                    <a:pt x="226822" y="3038983"/>
                    <a:pt x="0" y="2812161"/>
                    <a:pt x="0" y="2532380"/>
                  </a:cubicBezTo>
                  <a:close/>
                </a:path>
              </a:pathLst>
            </a:custGeom>
            <a:solidFill>
              <a:srgbClr val="121916"/>
            </a:solidFill>
            <a:ln w="14299" cap="sq">
              <a:solidFill>
                <a:srgbClr val="A0C432"/>
              </a:solidFill>
              <a:prstDash val="solid"/>
              <a:miter/>
            </a:ln>
          </p:spPr>
        </p:sp>
      </p:grpSp>
      <p:sp>
        <p:nvSpPr>
          <p:cNvPr name="TextBox 30" id="30"/>
          <p:cNvSpPr txBox="true"/>
          <p:nvPr/>
        </p:nvSpPr>
        <p:spPr>
          <a:xfrm rot="0">
            <a:off x="9741322" y="3257769"/>
            <a:ext cx="1807493" cy="333375"/>
          </a:xfrm>
          <a:prstGeom prst="rect">
            <a:avLst/>
          </a:prstGeom>
        </p:spPr>
        <p:txBody>
          <a:bodyPr anchor="t" rtlCol="false" tIns="0" lIns="0" bIns="0" rIns="0">
            <a:spAutoFit/>
          </a:bodyPr>
          <a:lstStyle/>
          <a:p>
            <a:pPr algn="ctr">
              <a:lnSpc>
                <a:spcPts val="2639"/>
              </a:lnSpc>
            </a:pPr>
            <a:r>
              <a:rPr lang="en-US" sz="2199" b="true">
                <a:solidFill>
                  <a:srgbClr val="A0C432"/>
                </a:solidFill>
                <a:latin typeface="Aptos Bold"/>
                <a:ea typeface="Aptos Bold"/>
                <a:cs typeface="Aptos Bold"/>
                <a:sym typeface="Aptos Bold"/>
              </a:rPr>
              <a:t>4</a:t>
            </a:r>
          </a:p>
        </p:txBody>
      </p:sp>
      <p:sp>
        <p:nvSpPr>
          <p:cNvPr name="TextBox 31" id="31"/>
          <p:cNvSpPr txBox="true"/>
          <p:nvPr/>
        </p:nvSpPr>
        <p:spPr>
          <a:xfrm rot="0">
            <a:off x="9713871" y="3779387"/>
            <a:ext cx="1876130" cy="457200"/>
          </a:xfrm>
          <a:prstGeom prst="rect">
            <a:avLst/>
          </a:prstGeom>
        </p:spPr>
        <p:txBody>
          <a:bodyPr anchor="t" rtlCol="false" tIns="0" lIns="0" bIns="0" rIns="0">
            <a:spAutoFit/>
          </a:bodyPr>
          <a:lstStyle/>
          <a:p>
            <a:pPr algn="ctr">
              <a:lnSpc>
                <a:spcPts val="3600"/>
              </a:lnSpc>
            </a:pPr>
            <a:r>
              <a:rPr lang="en-US" sz="3000" b="true">
                <a:solidFill>
                  <a:srgbClr val="F4F7F5"/>
                </a:solidFill>
                <a:latin typeface="Aptos Bold"/>
                <a:ea typeface="Aptos Bold"/>
                <a:cs typeface="Aptos Bold"/>
                <a:sym typeface="Aptos Bold"/>
              </a:rPr>
              <a:t>Predict</a:t>
            </a:r>
          </a:p>
        </p:txBody>
      </p:sp>
      <p:sp>
        <p:nvSpPr>
          <p:cNvPr name="TextBox 32" id="32"/>
          <p:cNvSpPr txBox="true"/>
          <p:nvPr/>
        </p:nvSpPr>
        <p:spPr>
          <a:xfrm rot="0">
            <a:off x="9713871" y="4373842"/>
            <a:ext cx="1876130" cy="323850"/>
          </a:xfrm>
          <a:prstGeom prst="rect">
            <a:avLst/>
          </a:prstGeom>
        </p:spPr>
        <p:txBody>
          <a:bodyPr anchor="t" rtlCol="false" tIns="0" lIns="0" bIns="0" rIns="0">
            <a:spAutoFit/>
          </a:bodyPr>
          <a:lstStyle/>
          <a:p>
            <a:pPr algn="ctr">
              <a:lnSpc>
                <a:spcPts val="2520"/>
              </a:lnSpc>
            </a:pPr>
            <a:r>
              <a:rPr lang="en-US" sz="2100">
                <a:solidFill>
                  <a:srgbClr val="A7B3AD"/>
                </a:solidFill>
                <a:latin typeface="Aptos"/>
                <a:ea typeface="Aptos"/>
                <a:cs typeface="Aptos"/>
                <a:sym typeface="Aptos"/>
              </a:rPr>
              <a:t>Risk signals</a:t>
            </a:r>
          </a:p>
        </p:txBody>
      </p:sp>
      <p:grpSp>
        <p:nvGrpSpPr>
          <p:cNvPr name="Group 33" id="33"/>
          <p:cNvGrpSpPr/>
          <p:nvPr/>
        </p:nvGrpSpPr>
        <p:grpSpPr>
          <a:xfrm rot="0">
            <a:off x="11887343" y="3870931"/>
            <a:ext cx="384353" cy="411804"/>
            <a:chOff x="0" y="0"/>
            <a:chExt cx="512470" cy="549072"/>
          </a:xfrm>
        </p:grpSpPr>
        <p:sp>
          <p:nvSpPr>
            <p:cNvPr name="Freeform 34" id="34"/>
            <p:cNvSpPr/>
            <p:nvPr/>
          </p:nvSpPr>
          <p:spPr>
            <a:xfrm flipH="false" flipV="false" rot="0">
              <a:off x="0" y="0"/>
              <a:ext cx="512445" cy="549021"/>
            </a:xfrm>
            <a:custGeom>
              <a:avLst/>
              <a:gdLst/>
              <a:ahLst/>
              <a:cxnLst/>
              <a:rect r="r" b="b" t="t" l="l"/>
              <a:pathLst>
                <a:path h="549021" w="512445">
                  <a:moveTo>
                    <a:pt x="0" y="137287"/>
                  </a:moveTo>
                  <a:lnTo>
                    <a:pt x="256286" y="137287"/>
                  </a:lnTo>
                  <a:lnTo>
                    <a:pt x="256286" y="0"/>
                  </a:lnTo>
                  <a:lnTo>
                    <a:pt x="512445" y="274574"/>
                  </a:lnTo>
                  <a:lnTo>
                    <a:pt x="256286" y="549021"/>
                  </a:lnTo>
                  <a:lnTo>
                    <a:pt x="256286" y="411861"/>
                  </a:lnTo>
                  <a:lnTo>
                    <a:pt x="0" y="411861"/>
                  </a:lnTo>
                  <a:close/>
                </a:path>
              </a:pathLst>
            </a:custGeom>
            <a:solidFill>
              <a:srgbClr val="A0C432"/>
            </a:solidFill>
          </p:spPr>
        </p:sp>
      </p:grpSp>
      <p:grpSp>
        <p:nvGrpSpPr>
          <p:cNvPr name="Group 35" id="35"/>
          <p:cNvGrpSpPr/>
          <p:nvPr/>
        </p:nvGrpSpPr>
        <p:grpSpPr>
          <a:xfrm rot="0">
            <a:off x="12401807" y="2944092"/>
            <a:ext cx="2375297" cy="2279209"/>
            <a:chOff x="0" y="0"/>
            <a:chExt cx="3167062" cy="3038945"/>
          </a:xfrm>
        </p:grpSpPr>
        <p:sp>
          <p:nvSpPr>
            <p:cNvPr name="Freeform 36" id="36"/>
            <p:cNvSpPr/>
            <p:nvPr/>
          </p:nvSpPr>
          <p:spPr>
            <a:xfrm flipH="false" flipV="false" rot="0">
              <a:off x="0" y="0"/>
              <a:ext cx="3166999" cy="3038856"/>
            </a:xfrm>
            <a:custGeom>
              <a:avLst/>
              <a:gdLst/>
              <a:ahLst/>
              <a:cxnLst/>
              <a:rect r="r" b="b" t="t" l="l"/>
              <a:pathLst>
                <a:path h="3038856" w="3166999">
                  <a:moveTo>
                    <a:pt x="0" y="506476"/>
                  </a:moveTo>
                  <a:cubicBezTo>
                    <a:pt x="0" y="226822"/>
                    <a:pt x="226822" y="0"/>
                    <a:pt x="506476" y="0"/>
                  </a:cubicBezTo>
                  <a:lnTo>
                    <a:pt x="2660523" y="0"/>
                  </a:lnTo>
                  <a:cubicBezTo>
                    <a:pt x="2940304" y="0"/>
                    <a:pt x="3166999" y="226822"/>
                    <a:pt x="3166999" y="506476"/>
                  </a:cubicBezTo>
                  <a:lnTo>
                    <a:pt x="3166999" y="2532380"/>
                  </a:lnTo>
                  <a:cubicBezTo>
                    <a:pt x="3166999" y="2812161"/>
                    <a:pt x="2940177" y="3038856"/>
                    <a:pt x="2660523" y="3038856"/>
                  </a:cubicBezTo>
                  <a:lnTo>
                    <a:pt x="506476" y="3038856"/>
                  </a:lnTo>
                  <a:cubicBezTo>
                    <a:pt x="226822" y="3038983"/>
                    <a:pt x="0" y="2812161"/>
                    <a:pt x="0" y="2532380"/>
                  </a:cubicBezTo>
                  <a:close/>
                </a:path>
              </a:pathLst>
            </a:custGeom>
            <a:solidFill>
              <a:srgbClr val="121916"/>
            </a:solidFill>
            <a:ln w="14299" cap="sq">
              <a:solidFill>
                <a:srgbClr val="A0C432"/>
              </a:solidFill>
              <a:prstDash val="solid"/>
              <a:miter/>
            </a:ln>
          </p:spPr>
        </p:sp>
      </p:grpSp>
      <p:sp>
        <p:nvSpPr>
          <p:cNvPr name="TextBox 37" id="37"/>
          <p:cNvSpPr txBox="true"/>
          <p:nvPr/>
        </p:nvSpPr>
        <p:spPr>
          <a:xfrm rot="0">
            <a:off x="12665116" y="3257769"/>
            <a:ext cx="1807493" cy="333375"/>
          </a:xfrm>
          <a:prstGeom prst="rect">
            <a:avLst/>
          </a:prstGeom>
        </p:spPr>
        <p:txBody>
          <a:bodyPr anchor="t" rtlCol="false" tIns="0" lIns="0" bIns="0" rIns="0">
            <a:spAutoFit/>
          </a:bodyPr>
          <a:lstStyle/>
          <a:p>
            <a:pPr algn="ctr">
              <a:lnSpc>
                <a:spcPts val="2639"/>
              </a:lnSpc>
            </a:pPr>
            <a:r>
              <a:rPr lang="en-US" sz="2199" b="true">
                <a:solidFill>
                  <a:srgbClr val="A0C432"/>
                </a:solidFill>
                <a:latin typeface="Aptos Bold"/>
                <a:ea typeface="Aptos Bold"/>
                <a:cs typeface="Aptos Bold"/>
                <a:sym typeface="Aptos Bold"/>
              </a:rPr>
              <a:t>5</a:t>
            </a:r>
          </a:p>
        </p:txBody>
      </p:sp>
      <p:sp>
        <p:nvSpPr>
          <p:cNvPr name="TextBox 38" id="38"/>
          <p:cNvSpPr txBox="true"/>
          <p:nvPr/>
        </p:nvSpPr>
        <p:spPr>
          <a:xfrm rot="0">
            <a:off x="12637665" y="3779387"/>
            <a:ext cx="1876130" cy="457200"/>
          </a:xfrm>
          <a:prstGeom prst="rect">
            <a:avLst/>
          </a:prstGeom>
        </p:spPr>
        <p:txBody>
          <a:bodyPr anchor="t" rtlCol="false" tIns="0" lIns="0" bIns="0" rIns="0">
            <a:spAutoFit/>
          </a:bodyPr>
          <a:lstStyle/>
          <a:p>
            <a:pPr algn="ctr">
              <a:lnSpc>
                <a:spcPts val="3600"/>
              </a:lnSpc>
            </a:pPr>
            <a:r>
              <a:rPr lang="en-US" sz="3000" b="true">
                <a:solidFill>
                  <a:srgbClr val="F4F7F5"/>
                </a:solidFill>
                <a:latin typeface="Aptos Bold"/>
                <a:ea typeface="Aptos Bold"/>
                <a:cs typeface="Aptos Bold"/>
                <a:sym typeface="Aptos Bold"/>
              </a:rPr>
              <a:t>Score</a:t>
            </a:r>
          </a:p>
        </p:txBody>
      </p:sp>
      <p:sp>
        <p:nvSpPr>
          <p:cNvPr name="TextBox 39" id="39"/>
          <p:cNvSpPr txBox="true"/>
          <p:nvPr/>
        </p:nvSpPr>
        <p:spPr>
          <a:xfrm rot="0">
            <a:off x="12637665" y="4373842"/>
            <a:ext cx="1876130" cy="323850"/>
          </a:xfrm>
          <a:prstGeom prst="rect">
            <a:avLst/>
          </a:prstGeom>
        </p:spPr>
        <p:txBody>
          <a:bodyPr anchor="t" rtlCol="false" tIns="0" lIns="0" bIns="0" rIns="0">
            <a:spAutoFit/>
          </a:bodyPr>
          <a:lstStyle/>
          <a:p>
            <a:pPr algn="ctr">
              <a:lnSpc>
                <a:spcPts val="2520"/>
              </a:lnSpc>
            </a:pPr>
            <a:r>
              <a:rPr lang="en-US" sz="2100">
                <a:solidFill>
                  <a:srgbClr val="A7B3AD"/>
                </a:solidFill>
                <a:latin typeface="Aptos"/>
                <a:ea typeface="Aptos"/>
                <a:cs typeface="Aptos"/>
                <a:sym typeface="Aptos"/>
              </a:rPr>
              <a:t>Overall risk</a:t>
            </a:r>
          </a:p>
        </p:txBody>
      </p:sp>
      <p:grpSp>
        <p:nvGrpSpPr>
          <p:cNvPr name="Group 40" id="40"/>
          <p:cNvGrpSpPr/>
          <p:nvPr/>
        </p:nvGrpSpPr>
        <p:grpSpPr>
          <a:xfrm rot="0">
            <a:off x="14811137" y="3870931"/>
            <a:ext cx="384353" cy="411804"/>
            <a:chOff x="0" y="0"/>
            <a:chExt cx="512470" cy="549072"/>
          </a:xfrm>
        </p:grpSpPr>
        <p:sp>
          <p:nvSpPr>
            <p:cNvPr name="Freeform 41" id="41"/>
            <p:cNvSpPr/>
            <p:nvPr/>
          </p:nvSpPr>
          <p:spPr>
            <a:xfrm flipH="false" flipV="false" rot="0">
              <a:off x="0" y="0"/>
              <a:ext cx="512445" cy="549021"/>
            </a:xfrm>
            <a:custGeom>
              <a:avLst/>
              <a:gdLst/>
              <a:ahLst/>
              <a:cxnLst/>
              <a:rect r="r" b="b" t="t" l="l"/>
              <a:pathLst>
                <a:path h="549021" w="512445">
                  <a:moveTo>
                    <a:pt x="0" y="137287"/>
                  </a:moveTo>
                  <a:lnTo>
                    <a:pt x="256286" y="137287"/>
                  </a:lnTo>
                  <a:lnTo>
                    <a:pt x="256286" y="0"/>
                  </a:lnTo>
                  <a:lnTo>
                    <a:pt x="512445" y="274574"/>
                  </a:lnTo>
                  <a:lnTo>
                    <a:pt x="256286" y="549021"/>
                  </a:lnTo>
                  <a:lnTo>
                    <a:pt x="256286" y="411861"/>
                  </a:lnTo>
                  <a:lnTo>
                    <a:pt x="0" y="411861"/>
                  </a:lnTo>
                  <a:close/>
                </a:path>
              </a:pathLst>
            </a:custGeom>
            <a:solidFill>
              <a:srgbClr val="A0C432"/>
            </a:solidFill>
          </p:spPr>
        </p:sp>
      </p:grpSp>
      <p:grpSp>
        <p:nvGrpSpPr>
          <p:cNvPr name="Group 42" id="42"/>
          <p:cNvGrpSpPr/>
          <p:nvPr/>
        </p:nvGrpSpPr>
        <p:grpSpPr>
          <a:xfrm rot="0">
            <a:off x="15325601" y="2944092"/>
            <a:ext cx="2375297" cy="2279209"/>
            <a:chOff x="0" y="0"/>
            <a:chExt cx="3167062" cy="3038945"/>
          </a:xfrm>
        </p:grpSpPr>
        <p:sp>
          <p:nvSpPr>
            <p:cNvPr name="Freeform 43" id="43"/>
            <p:cNvSpPr/>
            <p:nvPr/>
          </p:nvSpPr>
          <p:spPr>
            <a:xfrm flipH="false" flipV="false" rot="0">
              <a:off x="0" y="0"/>
              <a:ext cx="3166999" cy="3038856"/>
            </a:xfrm>
            <a:custGeom>
              <a:avLst/>
              <a:gdLst/>
              <a:ahLst/>
              <a:cxnLst/>
              <a:rect r="r" b="b" t="t" l="l"/>
              <a:pathLst>
                <a:path h="3038856" w="3166999">
                  <a:moveTo>
                    <a:pt x="0" y="506476"/>
                  </a:moveTo>
                  <a:cubicBezTo>
                    <a:pt x="0" y="226822"/>
                    <a:pt x="226822" y="0"/>
                    <a:pt x="506476" y="0"/>
                  </a:cubicBezTo>
                  <a:lnTo>
                    <a:pt x="2660523" y="0"/>
                  </a:lnTo>
                  <a:cubicBezTo>
                    <a:pt x="2940304" y="0"/>
                    <a:pt x="3166999" y="226822"/>
                    <a:pt x="3166999" y="506476"/>
                  </a:cubicBezTo>
                  <a:lnTo>
                    <a:pt x="3166999" y="2532380"/>
                  </a:lnTo>
                  <a:cubicBezTo>
                    <a:pt x="3166999" y="2812161"/>
                    <a:pt x="2940177" y="3038856"/>
                    <a:pt x="2660523" y="3038856"/>
                  </a:cubicBezTo>
                  <a:lnTo>
                    <a:pt x="506476" y="3038856"/>
                  </a:lnTo>
                  <a:cubicBezTo>
                    <a:pt x="226822" y="3038983"/>
                    <a:pt x="0" y="2812161"/>
                    <a:pt x="0" y="2532380"/>
                  </a:cubicBezTo>
                  <a:close/>
                </a:path>
              </a:pathLst>
            </a:custGeom>
            <a:solidFill>
              <a:srgbClr val="121916"/>
            </a:solidFill>
            <a:ln w="14299" cap="sq">
              <a:solidFill>
                <a:srgbClr val="A0C432"/>
              </a:solidFill>
              <a:prstDash val="solid"/>
              <a:miter/>
            </a:ln>
          </p:spPr>
        </p:sp>
      </p:grpSp>
      <p:sp>
        <p:nvSpPr>
          <p:cNvPr name="TextBox 44" id="44"/>
          <p:cNvSpPr txBox="true"/>
          <p:nvPr/>
        </p:nvSpPr>
        <p:spPr>
          <a:xfrm rot="0">
            <a:off x="15588910" y="3257769"/>
            <a:ext cx="1807493" cy="333375"/>
          </a:xfrm>
          <a:prstGeom prst="rect">
            <a:avLst/>
          </a:prstGeom>
        </p:spPr>
        <p:txBody>
          <a:bodyPr anchor="t" rtlCol="false" tIns="0" lIns="0" bIns="0" rIns="0">
            <a:spAutoFit/>
          </a:bodyPr>
          <a:lstStyle/>
          <a:p>
            <a:pPr algn="ctr">
              <a:lnSpc>
                <a:spcPts val="2639"/>
              </a:lnSpc>
            </a:pPr>
            <a:r>
              <a:rPr lang="en-US" sz="2199" b="true">
                <a:solidFill>
                  <a:srgbClr val="A0C432"/>
                </a:solidFill>
                <a:latin typeface="Aptos Bold"/>
                <a:ea typeface="Aptos Bold"/>
                <a:cs typeface="Aptos Bold"/>
                <a:sym typeface="Aptos Bold"/>
              </a:rPr>
              <a:t>6</a:t>
            </a:r>
          </a:p>
        </p:txBody>
      </p:sp>
      <p:sp>
        <p:nvSpPr>
          <p:cNvPr name="TextBox 45" id="45"/>
          <p:cNvSpPr txBox="true"/>
          <p:nvPr/>
        </p:nvSpPr>
        <p:spPr>
          <a:xfrm rot="0">
            <a:off x="15561459" y="3779387"/>
            <a:ext cx="1876130" cy="457200"/>
          </a:xfrm>
          <a:prstGeom prst="rect">
            <a:avLst/>
          </a:prstGeom>
        </p:spPr>
        <p:txBody>
          <a:bodyPr anchor="t" rtlCol="false" tIns="0" lIns="0" bIns="0" rIns="0">
            <a:spAutoFit/>
          </a:bodyPr>
          <a:lstStyle/>
          <a:p>
            <a:pPr algn="ctr">
              <a:lnSpc>
                <a:spcPts val="3600"/>
              </a:lnSpc>
            </a:pPr>
            <a:r>
              <a:rPr lang="en-US" sz="3000" b="true">
                <a:solidFill>
                  <a:srgbClr val="F4F7F5"/>
                </a:solidFill>
                <a:latin typeface="Aptos Bold"/>
                <a:ea typeface="Aptos Bold"/>
                <a:cs typeface="Aptos Bold"/>
                <a:sym typeface="Aptos Bold"/>
              </a:rPr>
              <a:t>Report</a:t>
            </a:r>
          </a:p>
        </p:txBody>
      </p:sp>
      <p:sp>
        <p:nvSpPr>
          <p:cNvPr name="TextBox 46" id="46"/>
          <p:cNvSpPr txBox="true"/>
          <p:nvPr/>
        </p:nvSpPr>
        <p:spPr>
          <a:xfrm rot="0">
            <a:off x="15443530" y="4373842"/>
            <a:ext cx="2139439" cy="314325"/>
          </a:xfrm>
          <a:prstGeom prst="rect">
            <a:avLst/>
          </a:prstGeom>
        </p:spPr>
        <p:txBody>
          <a:bodyPr anchor="t" rtlCol="false" tIns="0" lIns="0" bIns="0" rIns="0">
            <a:spAutoFit/>
          </a:bodyPr>
          <a:lstStyle/>
          <a:p>
            <a:pPr algn="ctr">
              <a:lnSpc>
                <a:spcPts val="2400"/>
              </a:lnSpc>
            </a:pPr>
            <a:r>
              <a:rPr lang="en-US" sz="2000">
                <a:solidFill>
                  <a:srgbClr val="A7B3AD"/>
                </a:solidFill>
                <a:latin typeface="Aptos"/>
                <a:ea typeface="Aptos"/>
                <a:cs typeface="Aptos"/>
                <a:sym typeface="Aptos"/>
              </a:rPr>
              <a:t>Recommendations</a:t>
            </a:r>
          </a:p>
        </p:txBody>
      </p:sp>
      <p:grpSp>
        <p:nvGrpSpPr>
          <p:cNvPr name="Group 47" id="47"/>
          <p:cNvGrpSpPr/>
          <p:nvPr/>
        </p:nvGrpSpPr>
        <p:grpSpPr>
          <a:xfrm rot="0">
            <a:off x="1502788" y="6238513"/>
            <a:ext cx="15250963" cy="1661503"/>
            <a:chOff x="0" y="0"/>
            <a:chExt cx="20334618" cy="2215337"/>
          </a:xfrm>
        </p:grpSpPr>
        <p:sp>
          <p:nvSpPr>
            <p:cNvPr name="Freeform 48" id="48"/>
            <p:cNvSpPr/>
            <p:nvPr/>
          </p:nvSpPr>
          <p:spPr>
            <a:xfrm flipH="false" flipV="false" rot="0">
              <a:off x="0" y="0"/>
              <a:ext cx="20334478" cy="2215261"/>
            </a:xfrm>
            <a:custGeom>
              <a:avLst/>
              <a:gdLst/>
              <a:ahLst/>
              <a:cxnLst/>
              <a:rect r="r" b="b" t="t" l="l"/>
              <a:pathLst>
                <a:path h="2215261" w="20334478">
                  <a:moveTo>
                    <a:pt x="0" y="369189"/>
                  </a:moveTo>
                  <a:cubicBezTo>
                    <a:pt x="0" y="165354"/>
                    <a:pt x="165354" y="0"/>
                    <a:pt x="369189" y="0"/>
                  </a:cubicBezTo>
                  <a:lnTo>
                    <a:pt x="19965288" y="0"/>
                  </a:lnTo>
                  <a:cubicBezTo>
                    <a:pt x="20169251" y="0"/>
                    <a:pt x="20334478" y="165354"/>
                    <a:pt x="20334478" y="369189"/>
                  </a:cubicBezTo>
                  <a:lnTo>
                    <a:pt x="20334478" y="1846072"/>
                  </a:lnTo>
                  <a:cubicBezTo>
                    <a:pt x="20334478" y="2050034"/>
                    <a:pt x="20169124" y="2215261"/>
                    <a:pt x="19965288" y="2215261"/>
                  </a:cubicBezTo>
                  <a:lnTo>
                    <a:pt x="369189" y="2215261"/>
                  </a:lnTo>
                  <a:cubicBezTo>
                    <a:pt x="165354" y="2215388"/>
                    <a:pt x="0" y="2050034"/>
                    <a:pt x="0" y="1846072"/>
                  </a:cubicBezTo>
                  <a:close/>
                </a:path>
              </a:pathLst>
            </a:custGeom>
            <a:solidFill>
              <a:srgbClr val="121916"/>
            </a:solidFill>
            <a:ln w="14299" cap="sq">
              <a:solidFill>
                <a:srgbClr val="303E38"/>
              </a:solidFill>
              <a:prstDash val="solid"/>
              <a:miter/>
            </a:ln>
          </p:spPr>
        </p:sp>
      </p:grpSp>
      <p:grpSp>
        <p:nvGrpSpPr>
          <p:cNvPr name="Group 49" id="49"/>
          <p:cNvGrpSpPr/>
          <p:nvPr/>
        </p:nvGrpSpPr>
        <p:grpSpPr>
          <a:xfrm rot="0">
            <a:off x="1509941" y="6245657"/>
            <a:ext cx="61770" cy="1647206"/>
            <a:chOff x="0" y="0"/>
            <a:chExt cx="82360" cy="2196274"/>
          </a:xfrm>
        </p:grpSpPr>
        <p:sp>
          <p:nvSpPr>
            <p:cNvPr name="Freeform 50" id="50"/>
            <p:cNvSpPr/>
            <p:nvPr/>
          </p:nvSpPr>
          <p:spPr>
            <a:xfrm flipH="false" flipV="false" rot="0">
              <a:off x="0" y="0"/>
              <a:ext cx="82423" cy="2196338"/>
            </a:xfrm>
            <a:custGeom>
              <a:avLst/>
              <a:gdLst/>
              <a:ahLst/>
              <a:cxnLst/>
              <a:rect r="r" b="b" t="t" l="l"/>
              <a:pathLst>
                <a:path h="2196338" w="82423">
                  <a:moveTo>
                    <a:pt x="0" y="0"/>
                  </a:moveTo>
                  <a:lnTo>
                    <a:pt x="82423" y="0"/>
                  </a:lnTo>
                  <a:lnTo>
                    <a:pt x="82423" y="2196338"/>
                  </a:lnTo>
                  <a:lnTo>
                    <a:pt x="0" y="2196338"/>
                  </a:lnTo>
                  <a:close/>
                </a:path>
              </a:pathLst>
            </a:custGeom>
            <a:solidFill>
              <a:srgbClr val="A0C432"/>
            </a:solidFill>
          </p:spPr>
        </p:sp>
      </p:grpSp>
      <p:sp>
        <p:nvSpPr>
          <p:cNvPr name="TextBox 51" id="51"/>
          <p:cNvSpPr txBox="true"/>
          <p:nvPr/>
        </p:nvSpPr>
        <p:spPr>
          <a:xfrm rot="0">
            <a:off x="1903371" y="6511004"/>
            <a:ext cx="14532169" cy="390525"/>
          </a:xfrm>
          <a:prstGeom prst="rect">
            <a:avLst/>
          </a:prstGeom>
        </p:spPr>
        <p:txBody>
          <a:bodyPr anchor="t" rtlCol="false" tIns="0" lIns="0" bIns="0" rIns="0">
            <a:spAutoFit/>
          </a:bodyPr>
          <a:lstStyle/>
          <a:p>
            <a:pPr algn="l">
              <a:lnSpc>
                <a:spcPts val="3120"/>
              </a:lnSpc>
            </a:pPr>
            <a:r>
              <a:rPr lang="en-US" sz="2600" b="true">
                <a:solidFill>
                  <a:srgbClr val="F4F7F5"/>
                </a:solidFill>
                <a:latin typeface="Aptos Bold"/>
                <a:ea typeface="Aptos Bold"/>
                <a:cs typeface="Aptos Bold"/>
                <a:sym typeface="Aptos Bold"/>
              </a:rPr>
              <a:t>Analysis Layer</a:t>
            </a:r>
          </a:p>
        </p:txBody>
      </p:sp>
      <p:sp>
        <p:nvSpPr>
          <p:cNvPr name="TextBox 52" id="52"/>
          <p:cNvSpPr txBox="true"/>
          <p:nvPr/>
        </p:nvSpPr>
        <p:spPr>
          <a:xfrm rot="0">
            <a:off x="1862185" y="7059735"/>
            <a:ext cx="14532169" cy="638175"/>
          </a:xfrm>
          <a:prstGeom prst="rect">
            <a:avLst/>
          </a:prstGeom>
        </p:spPr>
        <p:txBody>
          <a:bodyPr anchor="t" rtlCol="false" tIns="0" lIns="0" bIns="0" rIns="0">
            <a:spAutoFit/>
          </a:bodyPr>
          <a:lstStyle/>
          <a:p>
            <a:pPr algn="l">
              <a:lnSpc>
                <a:spcPts val="2520"/>
              </a:lnSpc>
            </a:pPr>
            <a:r>
              <a:rPr lang="en-US" sz="2100">
                <a:solidFill>
                  <a:srgbClr val="A7B3AD"/>
                </a:solidFill>
                <a:latin typeface="Aptos"/>
                <a:ea typeface="Aptos"/>
                <a:cs typeface="Aptos"/>
                <a:sym typeface="Aptos"/>
              </a:rPr>
              <a:t>Pose landmarks → joint-angle information → movement quality → injury prediction → anomaly detection → risk score → corrective recommendations.</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080C0B"/>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96088"/>
            <a:chOff x="0" y="0"/>
            <a:chExt cx="24402453" cy="128118"/>
          </a:xfrm>
        </p:grpSpPr>
        <p:sp>
          <p:nvSpPr>
            <p:cNvPr name="Freeform 3" id="3"/>
            <p:cNvSpPr/>
            <p:nvPr/>
          </p:nvSpPr>
          <p:spPr>
            <a:xfrm flipH="false" flipV="false" rot="0">
              <a:off x="0" y="0"/>
              <a:ext cx="24402414" cy="128143"/>
            </a:xfrm>
            <a:custGeom>
              <a:avLst/>
              <a:gdLst/>
              <a:ahLst/>
              <a:cxnLst/>
              <a:rect r="r" b="b" t="t" l="l"/>
              <a:pathLst>
                <a:path h="128143" w="24402414">
                  <a:moveTo>
                    <a:pt x="0" y="0"/>
                  </a:moveTo>
                  <a:lnTo>
                    <a:pt x="24402414" y="0"/>
                  </a:lnTo>
                  <a:lnTo>
                    <a:pt x="24402414" y="128143"/>
                  </a:lnTo>
                  <a:lnTo>
                    <a:pt x="0" y="128143"/>
                  </a:lnTo>
                  <a:close/>
                </a:path>
              </a:pathLst>
            </a:custGeom>
            <a:solidFill>
              <a:srgbClr val="A0C432"/>
            </a:solidFill>
          </p:spPr>
        </p:sp>
      </p:grpSp>
      <p:sp>
        <p:nvSpPr>
          <p:cNvPr name="TextBox 4" id="4"/>
          <p:cNvSpPr txBox="true"/>
          <p:nvPr/>
        </p:nvSpPr>
        <p:spPr>
          <a:xfrm rot="0">
            <a:off x="983675" y="539887"/>
            <a:ext cx="5448077" cy="695325"/>
          </a:xfrm>
          <a:prstGeom prst="rect">
            <a:avLst/>
          </a:prstGeom>
        </p:spPr>
        <p:txBody>
          <a:bodyPr anchor="t" rtlCol="false" tIns="0" lIns="0" bIns="0" rIns="0">
            <a:spAutoFit/>
          </a:bodyPr>
          <a:lstStyle/>
          <a:p>
            <a:pPr algn="l">
              <a:lnSpc>
                <a:spcPts val="5523"/>
              </a:lnSpc>
            </a:pPr>
            <a:r>
              <a:rPr lang="en-US" sz="4603" b="true">
                <a:solidFill>
                  <a:srgbClr val="F4F7F5"/>
                </a:solidFill>
                <a:latin typeface="Aptos Bold"/>
                <a:ea typeface="Aptos Bold"/>
                <a:cs typeface="Aptos Bold"/>
                <a:sym typeface="Aptos Bold"/>
              </a:rPr>
              <a:t>System Architecture</a:t>
            </a:r>
          </a:p>
        </p:txBody>
      </p:sp>
      <p:sp>
        <p:nvSpPr>
          <p:cNvPr name="TextBox 5" id="5"/>
          <p:cNvSpPr txBox="true"/>
          <p:nvPr/>
        </p:nvSpPr>
        <p:spPr>
          <a:xfrm rot="0">
            <a:off x="1011126" y="1294848"/>
            <a:ext cx="14916512" cy="333375"/>
          </a:xfrm>
          <a:prstGeom prst="rect">
            <a:avLst/>
          </a:prstGeom>
        </p:spPr>
        <p:txBody>
          <a:bodyPr anchor="t" rtlCol="false" tIns="0" lIns="0" bIns="0" rIns="0">
            <a:spAutoFit/>
          </a:bodyPr>
          <a:lstStyle/>
          <a:p>
            <a:pPr algn="l">
              <a:lnSpc>
                <a:spcPts val="2641"/>
              </a:lnSpc>
            </a:pPr>
            <a:r>
              <a:rPr lang="en-US" sz="2201">
                <a:solidFill>
                  <a:srgbClr val="A7B3AD"/>
                </a:solidFill>
                <a:latin typeface="Aptos"/>
                <a:ea typeface="Aptos"/>
                <a:cs typeface="Aptos"/>
                <a:sym typeface="Aptos"/>
              </a:rPr>
              <a:t>Frontend, API layer and analysis services work as one pipeline</a:t>
            </a:r>
          </a:p>
        </p:txBody>
      </p:sp>
      <p:sp>
        <p:nvSpPr>
          <p:cNvPr name="TextBox 6" id="6"/>
          <p:cNvSpPr txBox="true"/>
          <p:nvPr/>
        </p:nvSpPr>
        <p:spPr>
          <a:xfrm rot="0">
            <a:off x="16632145" y="594789"/>
            <a:ext cx="572091" cy="251727"/>
          </a:xfrm>
          <a:prstGeom prst="rect">
            <a:avLst/>
          </a:prstGeom>
        </p:spPr>
        <p:txBody>
          <a:bodyPr anchor="t" rtlCol="false" tIns="0" lIns="0" bIns="0" rIns="0">
            <a:spAutoFit/>
          </a:bodyPr>
          <a:lstStyle/>
          <a:p>
            <a:pPr algn="r">
              <a:lnSpc>
                <a:spcPts val="1801"/>
              </a:lnSpc>
            </a:pPr>
            <a:r>
              <a:rPr lang="en-US" b="true" sz="1501">
                <a:solidFill>
                  <a:srgbClr val="A0C432"/>
                </a:solidFill>
                <a:latin typeface="Aptos Bold"/>
                <a:ea typeface="Aptos Bold"/>
                <a:cs typeface="Aptos Bold"/>
                <a:sym typeface="Aptos Bold"/>
              </a:rPr>
              <a:t>05</a:t>
            </a:r>
          </a:p>
        </p:txBody>
      </p:sp>
      <p:grpSp>
        <p:nvGrpSpPr>
          <p:cNvPr name="Group 7" id="7"/>
          <p:cNvGrpSpPr/>
          <p:nvPr/>
        </p:nvGrpSpPr>
        <p:grpSpPr>
          <a:xfrm rot="0">
            <a:off x="953719" y="2120494"/>
            <a:ext cx="4132316" cy="6740395"/>
            <a:chOff x="0" y="0"/>
            <a:chExt cx="5509755" cy="8987193"/>
          </a:xfrm>
        </p:grpSpPr>
        <p:sp>
          <p:nvSpPr>
            <p:cNvPr name="Freeform 8" id="8"/>
            <p:cNvSpPr/>
            <p:nvPr/>
          </p:nvSpPr>
          <p:spPr>
            <a:xfrm flipH="false" flipV="false" rot="0">
              <a:off x="0" y="0"/>
              <a:ext cx="5509768" cy="8987155"/>
            </a:xfrm>
            <a:custGeom>
              <a:avLst/>
              <a:gdLst/>
              <a:ahLst/>
              <a:cxnLst/>
              <a:rect r="r" b="b" t="t" l="l"/>
              <a:pathLst>
                <a:path h="8987155" w="5509768">
                  <a:moveTo>
                    <a:pt x="0" y="918337"/>
                  </a:moveTo>
                  <a:cubicBezTo>
                    <a:pt x="0" y="411099"/>
                    <a:pt x="411099" y="0"/>
                    <a:pt x="918337" y="0"/>
                  </a:cubicBezTo>
                  <a:lnTo>
                    <a:pt x="4591431" y="0"/>
                  </a:lnTo>
                  <a:cubicBezTo>
                    <a:pt x="5098542" y="0"/>
                    <a:pt x="5509768" y="411099"/>
                    <a:pt x="5509768" y="918337"/>
                  </a:cubicBezTo>
                  <a:lnTo>
                    <a:pt x="5509768" y="8068818"/>
                  </a:lnTo>
                  <a:cubicBezTo>
                    <a:pt x="5509768" y="8575929"/>
                    <a:pt x="5098669" y="8987155"/>
                    <a:pt x="4591431" y="8987155"/>
                  </a:cubicBezTo>
                  <a:lnTo>
                    <a:pt x="918337" y="8987155"/>
                  </a:lnTo>
                  <a:cubicBezTo>
                    <a:pt x="411099" y="8987155"/>
                    <a:pt x="0" y="8576056"/>
                    <a:pt x="0" y="8068818"/>
                  </a:cubicBezTo>
                  <a:close/>
                </a:path>
              </a:pathLst>
            </a:custGeom>
            <a:solidFill>
              <a:srgbClr val="121916"/>
            </a:solidFill>
            <a:ln w="14299" cap="sq">
              <a:solidFill>
                <a:srgbClr val="303E38"/>
              </a:solidFill>
              <a:prstDash val="solid"/>
              <a:miter/>
            </a:ln>
          </p:spPr>
        </p:sp>
      </p:grpSp>
      <p:grpSp>
        <p:nvGrpSpPr>
          <p:cNvPr name="Group 9" id="9"/>
          <p:cNvGrpSpPr/>
          <p:nvPr/>
        </p:nvGrpSpPr>
        <p:grpSpPr>
          <a:xfrm rot="0">
            <a:off x="960872" y="2127647"/>
            <a:ext cx="61770" cy="6726098"/>
            <a:chOff x="0" y="0"/>
            <a:chExt cx="82360" cy="8968130"/>
          </a:xfrm>
        </p:grpSpPr>
        <p:sp>
          <p:nvSpPr>
            <p:cNvPr name="Freeform 10" id="10"/>
            <p:cNvSpPr/>
            <p:nvPr/>
          </p:nvSpPr>
          <p:spPr>
            <a:xfrm flipH="false" flipV="false" rot="0">
              <a:off x="0" y="0"/>
              <a:ext cx="82423" cy="8968105"/>
            </a:xfrm>
            <a:custGeom>
              <a:avLst/>
              <a:gdLst/>
              <a:ahLst/>
              <a:cxnLst/>
              <a:rect r="r" b="b" t="t" l="l"/>
              <a:pathLst>
                <a:path h="8968105" w="82423">
                  <a:moveTo>
                    <a:pt x="0" y="0"/>
                  </a:moveTo>
                  <a:lnTo>
                    <a:pt x="82423" y="0"/>
                  </a:lnTo>
                  <a:lnTo>
                    <a:pt x="82423" y="8968105"/>
                  </a:lnTo>
                  <a:lnTo>
                    <a:pt x="0" y="8968105"/>
                  </a:lnTo>
                  <a:close/>
                </a:path>
              </a:pathLst>
            </a:custGeom>
            <a:solidFill>
              <a:srgbClr val="A0C432"/>
            </a:solidFill>
          </p:spPr>
        </p:sp>
      </p:grpSp>
      <p:sp>
        <p:nvSpPr>
          <p:cNvPr name="TextBox 11" id="11"/>
          <p:cNvSpPr txBox="true"/>
          <p:nvPr/>
        </p:nvSpPr>
        <p:spPr>
          <a:xfrm rot="0">
            <a:off x="1354293" y="2402519"/>
            <a:ext cx="3413522" cy="438150"/>
          </a:xfrm>
          <a:prstGeom prst="rect">
            <a:avLst/>
          </a:prstGeom>
        </p:spPr>
        <p:txBody>
          <a:bodyPr anchor="t" rtlCol="false" tIns="0" lIns="0" bIns="0" rIns="0">
            <a:spAutoFit/>
          </a:bodyPr>
          <a:lstStyle/>
          <a:p>
            <a:pPr algn="l">
              <a:lnSpc>
                <a:spcPts val="3599"/>
              </a:lnSpc>
            </a:pPr>
            <a:r>
              <a:rPr lang="en-US" sz="2999" b="true">
                <a:solidFill>
                  <a:srgbClr val="F4F7F5"/>
                </a:solidFill>
                <a:latin typeface="Aptos Bold"/>
                <a:ea typeface="Aptos Bold"/>
                <a:cs typeface="Aptos Bold"/>
                <a:sym typeface="Aptos Bold"/>
              </a:rPr>
              <a:t>FRONTEND</a:t>
            </a:r>
          </a:p>
        </p:txBody>
      </p:sp>
      <p:sp>
        <p:nvSpPr>
          <p:cNvPr name="TextBox 12" id="12"/>
          <p:cNvSpPr txBox="true"/>
          <p:nvPr/>
        </p:nvSpPr>
        <p:spPr>
          <a:xfrm rot="0">
            <a:off x="1354293" y="3079328"/>
            <a:ext cx="3413522" cy="2667000"/>
          </a:xfrm>
          <a:prstGeom prst="rect">
            <a:avLst/>
          </a:prstGeom>
        </p:spPr>
        <p:txBody>
          <a:bodyPr anchor="t" rtlCol="false" tIns="0" lIns="0" bIns="0" rIns="0">
            <a:spAutoFit/>
          </a:bodyPr>
          <a:lstStyle/>
          <a:p>
            <a:pPr algn="l">
              <a:lnSpc>
                <a:spcPts val="3031"/>
              </a:lnSpc>
            </a:pPr>
            <a:r>
              <a:rPr lang="en-US" sz="2526">
                <a:solidFill>
                  <a:srgbClr val="A7B3AD"/>
                </a:solidFill>
                <a:latin typeface="Aptos"/>
                <a:ea typeface="Aptos"/>
                <a:cs typeface="Aptos"/>
                <a:sym typeface="Aptos"/>
              </a:rPr>
              <a:t>React.js</a:t>
            </a:r>
          </a:p>
          <a:p>
            <a:pPr algn="l">
              <a:lnSpc>
                <a:spcPts val="3031"/>
              </a:lnSpc>
            </a:pPr>
          </a:p>
          <a:p>
            <a:pPr algn="l">
              <a:lnSpc>
                <a:spcPts val="3031"/>
              </a:lnSpc>
            </a:pPr>
            <a:r>
              <a:rPr lang="en-US" sz="2526">
                <a:solidFill>
                  <a:srgbClr val="A7B3AD"/>
                </a:solidFill>
                <a:latin typeface="Aptos"/>
                <a:ea typeface="Aptos"/>
                <a:cs typeface="Aptos"/>
                <a:sym typeface="Aptos"/>
              </a:rPr>
              <a:t>• Login / registration</a:t>
            </a:r>
          </a:p>
          <a:p>
            <a:pPr algn="l">
              <a:lnSpc>
                <a:spcPts val="3031"/>
              </a:lnSpc>
            </a:pPr>
            <a:r>
              <a:rPr lang="en-US" sz="2526">
                <a:solidFill>
                  <a:srgbClr val="A7B3AD"/>
                </a:solidFill>
                <a:latin typeface="Aptos"/>
                <a:ea typeface="Aptos"/>
                <a:cs typeface="Aptos"/>
                <a:sym typeface="Aptos"/>
              </a:rPr>
              <a:t>• Coach dashboard</a:t>
            </a:r>
          </a:p>
          <a:p>
            <a:pPr algn="l">
              <a:lnSpc>
                <a:spcPts val="3031"/>
              </a:lnSpc>
            </a:pPr>
            <a:r>
              <a:rPr lang="en-US" sz="2526">
                <a:solidFill>
                  <a:srgbClr val="A7B3AD"/>
                </a:solidFill>
                <a:latin typeface="Aptos"/>
                <a:ea typeface="Aptos"/>
                <a:cs typeface="Aptos"/>
                <a:sym typeface="Aptos"/>
              </a:rPr>
              <a:t>• Athlete management</a:t>
            </a:r>
          </a:p>
          <a:p>
            <a:pPr algn="l">
              <a:lnSpc>
                <a:spcPts val="3031"/>
              </a:lnSpc>
            </a:pPr>
            <a:r>
              <a:rPr lang="en-US" sz="2526">
                <a:solidFill>
                  <a:srgbClr val="A7B3AD"/>
                </a:solidFill>
                <a:latin typeface="Aptos"/>
                <a:ea typeface="Aptos"/>
                <a:cs typeface="Aptos"/>
                <a:sym typeface="Aptos"/>
              </a:rPr>
              <a:t>• Video upload</a:t>
            </a:r>
          </a:p>
          <a:p>
            <a:pPr algn="l">
              <a:lnSpc>
                <a:spcPts val="3031"/>
              </a:lnSpc>
            </a:pPr>
            <a:r>
              <a:rPr lang="en-US" sz="2526">
                <a:solidFill>
                  <a:srgbClr val="A7B3AD"/>
                </a:solidFill>
                <a:latin typeface="Aptos"/>
                <a:ea typeface="Aptos"/>
                <a:cs typeface="Aptos"/>
                <a:sym typeface="Aptos"/>
              </a:rPr>
              <a:t>• Analysis &amp; history</a:t>
            </a:r>
          </a:p>
        </p:txBody>
      </p:sp>
      <p:grpSp>
        <p:nvGrpSpPr>
          <p:cNvPr name="Group 13" id="13"/>
          <p:cNvGrpSpPr/>
          <p:nvPr/>
        </p:nvGrpSpPr>
        <p:grpSpPr>
          <a:xfrm rot="0">
            <a:off x="5689444" y="2120494"/>
            <a:ext cx="5710885" cy="6740395"/>
            <a:chOff x="0" y="0"/>
            <a:chExt cx="7614514" cy="8987193"/>
          </a:xfrm>
        </p:grpSpPr>
        <p:sp>
          <p:nvSpPr>
            <p:cNvPr name="Freeform 14" id="14"/>
            <p:cNvSpPr/>
            <p:nvPr/>
          </p:nvSpPr>
          <p:spPr>
            <a:xfrm flipH="false" flipV="false" rot="0">
              <a:off x="0" y="0"/>
              <a:ext cx="7614539" cy="8987155"/>
            </a:xfrm>
            <a:custGeom>
              <a:avLst/>
              <a:gdLst/>
              <a:ahLst/>
              <a:cxnLst/>
              <a:rect r="r" b="b" t="t" l="l"/>
              <a:pathLst>
                <a:path h="8987155" w="7614539">
                  <a:moveTo>
                    <a:pt x="0" y="1269111"/>
                  </a:moveTo>
                  <a:cubicBezTo>
                    <a:pt x="0" y="568198"/>
                    <a:pt x="568198" y="0"/>
                    <a:pt x="1269111" y="0"/>
                  </a:cubicBezTo>
                  <a:lnTo>
                    <a:pt x="6345428" y="0"/>
                  </a:lnTo>
                  <a:cubicBezTo>
                    <a:pt x="7046341" y="0"/>
                    <a:pt x="7614539" y="568198"/>
                    <a:pt x="7614539" y="1269111"/>
                  </a:cubicBezTo>
                  <a:lnTo>
                    <a:pt x="7614539" y="7718044"/>
                  </a:lnTo>
                  <a:cubicBezTo>
                    <a:pt x="7614539" y="8418957"/>
                    <a:pt x="7046341" y="8987155"/>
                    <a:pt x="6345428" y="8987155"/>
                  </a:cubicBezTo>
                  <a:lnTo>
                    <a:pt x="1269111" y="8987155"/>
                  </a:lnTo>
                  <a:cubicBezTo>
                    <a:pt x="568198" y="8987155"/>
                    <a:pt x="0" y="8418957"/>
                    <a:pt x="0" y="7718044"/>
                  </a:cubicBezTo>
                  <a:close/>
                </a:path>
              </a:pathLst>
            </a:custGeom>
            <a:solidFill>
              <a:srgbClr val="121916"/>
            </a:solidFill>
            <a:ln w="14299" cap="sq">
              <a:solidFill>
                <a:srgbClr val="303E38"/>
              </a:solidFill>
              <a:prstDash val="solid"/>
              <a:miter/>
            </a:ln>
          </p:spPr>
        </p:sp>
      </p:grpSp>
      <p:grpSp>
        <p:nvGrpSpPr>
          <p:cNvPr name="Group 15" id="15"/>
          <p:cNvGrpSpPr/>
          <p:nvPr/>
        </p:nvGrpSpPr>
        <p:grpSpPr>
          <a:xfrm rot="0">
            <a:off x="5696588" y="2127647"/>
            <a:ext cx="61770" cy="6726098"/>
            <a:chOff x="0" y="0"/>
            <a:chExt cx="82360" cy="8968130"/>
          </a:xfrm>
        </p:grpSpPr>
        <p:sp>
          <p:nvSpPr>
            <p:cNvPr name="Freeform 16" id="16"/>
            <p:cNvSpPr/>
            <p:nvPr/>
          </p:nvSpPr>
          <p:spPr>
            <a:xfrm flipH="false" flipV="false" rot="0">
              <a:off x="0" y="0"/>
              <a:ext cx="82423" cy="8968105"/>
            </a:xfrm>
            <a:custGeom>
              <a:avLst/>
              <a:gdLst/>
              <a:ahLst/>
              <a:cxnLst/>
              <a:rect r="r" b="b" t="t" l="l"/>
              <a:pathLst>
                <a:path h="8968105" w="82423">
                  <a:moveTo>
                    <a:pt x="0" y="0"/>
                  </a:moveTo>
                  <a:lnTo>
                    <a:pt x="82423" y="0"/>
                  </a:lnTo>
                  <a:lnTo>
                    <a:pt x="82423" y="8968105"/>
                  </a:lnTo>
                  <a:lnTo>
                    <a:pt x="0" y="8968105"/>
                  </a:lnTo>
                  <a:close/>
                </a:path>
              </a:pathLst>
            </a:custGeom>
            <a:solidFill>
              <a:srgbClr val="A0C432"/>
            </a:solidFill>
          </p:spPr>
        </p:sp>
      </p:grpSp>
      <p:sp>
        <p:nvSpPr>
          <p:cNvPr name="TextBox 17" id="17"/>
          <p:cNvSpPr txBox="true"/>
          <p:nvPr/>
        </p:nvSpPr>
        <p:spPr>
          <a:xfrm rot="0">
            <a:off x="6090018" y="2392994"/>
            <a:ext cx="4992091" cy="447675"/>
          </a:xfrm>
          <a:prstGeom prst="rect">
            <a:avLst/>
          </a:prstGeom>
        </p:spPr>
        <p:txBody>
          <a:bodyPr anchor="t" rtlCol="false" tIns="0" lIns="0" bIns="0" rIns="0">
            <a:spAutoFit/>
          </a:bodyPr>
          <a:lstStyle/>
          <a:p>
            <a:pPr algn="l">
              <a:lnSpc>
                <a:spcPts val="3542"/>
              </a:lnSpc>
            </a:pPr>
            <a:r>
              <a:rPr lang="en-US" sz="2951" b="true">
                <a:solidFill>
                  <a:srgbClr val="F4F7F5"/>
                </a:solidFill>
                <a:latin typeface="Aptos Bold"/>
                <a:ea typeface="Aptos Bold"/>
                <a:cs typeface="Aptos Bold"/>
                <a:sym typeface="Aptos Bold"/>
              </a:rPr>
              <a:t>FASTAPI BACKEND</a:t>
            </a:r>
          </a:p>
        </p:txBody>
      </p:sp>
      <p:sp>
        <p:nvSpPr>
          <p:cNvPr name="TextBox 18" id="18"/>
          <p:cNvSpPr txBox="true"/>
          <p:nvPr/>
        </p:nvSpPr>
        <p:spPr>
          <a:xfrm rot="0">
            <a:off x="6090018" y="3079328"/>
            <a:ext cx="4992091" cy="2667000"/>
          </a:xfrm>
          <a:prstGeom prst="rect">
            <a:avLst/>
          </a:prstGeom>
        </p:spPr>
        <p:txBody>
          <a:bodyPr anchor="t" rtlCol="false" tIns="0" lIns="0" bIns="0" rIns="0">
            <a:spAutoFit/>
          </a:bodyPr>
          <a:lstStyle/>
          <a:p>
            <a:pPr algn="l">
              <a:lnSpc>
                <a:spcPts val="3031"/>
              </a:lnSpc>
            </a:pPr>
            <a:r>
              <a:rPr lang="en-US" sz="2526">
                <a:solidFill>
                  <a:srgbClr val="A7B3AD"/>
                </a:solidFill>
                <a:latin typeface="Aptos"/>
                <a:ea typeface="Aptos"/>
                <a:cs typeface="Aptos"/>
                <a:sym typeface="Aptos"/>
              </a:rPr>
              <a:t>REST API</a:t>
            </a:r>
          </a:p>
          <a:p>
            <a:pPr algn="l">
              <a:lnSpc>
                <a:spcPts val="3031"/>
              </a:lnSpc>
            </a:pPr>
          </a:p>
          <a:p>
            <a:pPr algn="l">
              <a:lnSpc>
                <a:spcPts val="3031"/>
              </a:lnSpc>
            </a:pPr>
            <a:r>
              <a:rPr lang="en-US" sz="2526">
                <a:solidFill>
                  <a:srgbClr val="A7B3AD"/>
                </a:solidFill>
                <a:latin typeface="Aptos"/>
                <a:ea typeface="Aptos"/>
                <a:cs typeface="Aptos"/>
                <a:sym typeface="Aptos"/>
              </a:rPr>
              <a:t>• User / athlete APIs</a:t>
            </a:r>
          </a:p>
          <a:p>
            <a:pPr algn="l">
              <a:lnSpc>
                <a:spcPts val="3031"/>
              </a:lnSpc>
            </a:pPr>
            <a:r>
              <a:rPr lang="en-US" sz="2526">
                <a:solidFill>
                  <a:srgbClr val="A7B3AD"/>
                </a:solidFill>
                <a:latin typeface="Aptos"/>
                <a:ea typeface="Aptos"/>
                <a:cs typeface="Aptos"/>
                <a:sym typeface="Aptos"/>
              </a:rPr>
              <a:t>• Video upload endpoint</a:t>
            </a:r>
          </a:p>
          <a:p>
            <a:pPr algn="l">
              <a:lnSpc>
                <a:spcPts val="3031"/>
              </a:lnSpc>
            </a:pPr>
            <a:r>
              <a:rPr lang="en-US" sz="2526">
                <a:solidFill>
                  <a:srgbClr val="A7B3AD"/>
                </a:solidFill>
                <a:latin typeface="Aptos"/>
                <a:ea typeface="Aptos"/>
                <a:cs typeface="Aptos"/>
                <a:sym typeface="Aptos"/>
              </a:rPr>
              <a:t>• History endpoint</a:t>
            </a:r>
          </a:p>
          <a:p>
            <a:pPr algn="l">
              <a:lnSpc>
                <a:spcPts val="3031"/>
              </a:lnSpc>
            </a:pPr>
            <a:r>
              <a:rPr lang="en-US" sz="2526">
                <a:solidFill>
                  <a:srgbClr val="A7B3AD"/>
                </a:solidFill>
                <a:latin typeface="Aptos"/>
                <a:ea typeface="Aptos"/>
                <a:cs typeface="Aptos"/>
                <a:sym typeface="Aptos"/>
              </a:rPr>
              <a:t>• File handling</a:t>
            </a:r>
          </a:p>
          <a:p>
            <a:pPr algn="l">
              <a:lnSpc>
                <a:spcPts val="3031"/>
              </a:lnSpc>
            </a:pPr>
            <a:r>
              <a:rPr lang="en-US" sz="2526">
                <a:solidFill>
                  <a:srgbClr val="A7B3AD"/>
                </a:solidFill>
                <a:latin typeface="Aptos"/>
                <a:ea typeface="Aptos"/>
                <a:cs typeface="Aptos"/>
                <a:sym typeface="Aptos"/>
              </a:rPr>
              <a:t>• Response to frontend</a:t>
            </a:r>
          </a:p>
        </p:txBody>
      </p:sp>
      <p:grpSp>
        <p:nvGrpSpPr>
          <p:cNvPr name="Group 19" id="19"/>
          <p:cNvGrpSpPr/>
          <p:nvPr/>
        </p:nvGrpSpPr>
        <p:grpSpPr>
          <a:xfrm rot="0">
            <a:off x="12003738" y="2120494"/>
            <a:ext cx="5299091" cy="6740395"/>
            <a:chOff x="0" y="0"/>
            <a:chExt cx="7065454" cy="8987193"/>
          </a:xfrm>
        </p:grpSpPr>
        <p:sp>
          <p:nvSpPr>
            <p:cNvPr name="Freeform 20" id="20"/>
            <p:cNvSpPr/>
            <p:nvPr/>
          </p:nvSpPr>
          <p:spPr>
            <a:xfrm flipH="false" flipV="false" rot="0">
              <a:off x="0" y="0"/>
              <a:ext cx="7065391" cy="8987028"/>
            </a:xfrm>
            <a:custGeom>
              <a:avLst/>
              <a:gdLst/>
              <a:ahLst/>
              <a:cxnLst/>
              <a:rect r="r" b="b" t="t" l="l"/>
              <a:pathLst>
                <a:path h="8987028" w="7065391">
                  <a:moveTo>
                    <a:pt x="0" y="1177544"/>
                  </a:moveTo>
                  <a:cubicBezTo>
                    <a:pt x="0" y="527177"/>
                    <a:pt x="527177" y="0"/>
                    <a:pt x="1177544" y="0"/>
                  </a:cubicBezTo>
                  <a:lnTo>
                    <a:pt x="5887847" y="0"/>
                  </a:lnTo>
                  <a:cubicBezTo>
                    <a:pt x="6538214" y="0"/>
                    <a:pt x="7065391" y="527177"/>
                    <a:pt x="7065391" y="1177544"/>
                  </a:cubicBezTo>
                  <a:lnTo>
                    <a:pt x="7065391" y="7809485"/>
                  </a:lnTo>
                  <a:cubicBezTo>
                    <a:pt x="7065391" y="8459851"/>
                    <a:pt x="6538214" y="8987028"/>
                    <a:pt x="5887847" y="8987028"/>
                  </a:cubicBezTo>
                  <a:lnTo>
                    <a:pt x="1177544" y="8987028"/>
                  </a:lnTo>
                  <a:cubicBezTo>
                    <a:pt x="527177" y="8987155"/>
                    <a:pt x="0" y="8459978"/>
                    <a:pt x="0" y="7809611"/>
                  </a:cubicBezTo>
                  <a:close/>
                </a:path>
              </a:pathLst>
            </a:custGeom>
            <a:solidFill>
              <a:srgbClr val="121916"/>
            </a:solidFill>
            <a:ln w="14299" cap="sq">
              <a:solidFill>
                <a:srgbClr val="303E38"/>
              </a:solidFill>
              <a:prstDash val="solid"/>
              <a:miter/>
            </a:ln>
          </p:spPr>
        </p:sp>
      </p:grpSp>
      <p:grpSp>
        <p:nvGrpSpPr>
          <p:cNvPr name="Group 21" id="21"/>
          <p:cNvGrpSpPr/>
          <p:nvPr/>
        </p:nvGrpSpPr>
        <p:grpSpPr>
          <a:xfrm rot="0">
            <a:off x="12010882" y="2127647"/>
            <a:ext cx="61770" cy="6726098"/>
            <a:chOff x="0" y="0"/>
            <a:chExt cx="82360" cy="8968130"/>
          </a:xfrm>
        </p:grpSpPr>
        <p:sp>
          <p:nvSpPr>
            <p:cNvPr name="Freeform 22" id="22"/>
            <p:cNvSpPr/>
            <p:nvPr/>
          </p:nvSpPr>
          <p:spPr>
            <a:xfrm flipH="false" flipV="false" rot="0">
              <a:off x="0" y="0"/>
              <a:ext cx="82423" cy="8968105"/>
            </a:xfrm>
            <a:custGeom>
              <a:avLst/>
              <a:gdLst/>
              <a:ahLst/>
              <a:cxnLst/>
              <a:rect r="r" b="b" t="t" l="l"/>
              <a:pathLst>
                <a:path h="8968105" w="82423">
                  <a:moveTo>
                    <a:pt x="0" y="0"/>
                  </a:moveTo>
                  <a:lnTo>
                    <a:pt x="82423" y="0"/>
                  </a:lnTo>
                  <a:lnTo>
                    <a:pt x="82423" y="8968105"/>
                  </a:lnTo>
                  <a:lnTo>
                    <a:pt x="0" y="8968105"/>
                  </a:lnTo>
                  <a:close/>
                </a:path>
              </a:pathLst>
            </a:custGeom>
            <a:solidFill>
              <a:srgbClr val="A0C432"/>
            </a:solidFill>
          </p:spPr>
        </p:sp>
      </p:grpSp>
      <p:sp>
        <p:nvSpPr>
          <p:cNvPr name="TextBox 23" id="23"/>
          <p:cNvSpPr txBox="true"/>
          <p:nvPr/>
        </p:nvSpPr>
        <p:spPr>
          <a:xfrm rot="0">
            <a:off x="12404312" y="2392994"/>
            <a:ext cx="4580296" cy="447675"/>
          </a:xfrm>
          <a:prstGeom prst="rect">
            <a:avLst/>
          </a:prstGeom>
        </p:spPr>
        <p:txBody>
          <a:bodyPr anchor="t" rtlCol="false" tIns="0" lIns="0" bIns="0" rIns="0">
            <a:spAutoFit/>
          </a:bodyPr>
          <a:lstStyle/>
          <a:p>
            <a:pPr algn="l">
              <a:lnSpc>
                <a:spcPts val="3542"/>
              </a:lnSpc>
            </a:pPr>
            <a:r>
              <a:rPr lang="en-US" sz="2951" b="true">
                <a:solidFill>
                  <a:srgbClr val="F4F7F5"/>
                </a:solidFill>
                <a:latin typeface="Aptos Bold"/>
                <a:ea typeface="Aptos Bold"/>
                <a:cs typeface="Aptos Bold"/>
                <a:sym typeface="Aptos Bold"/>
              </a:rPr>
              <a:t>AI / ANALYSIS SERVICES</a:t>
            </a:r>
          </a:p>
        </p:txBody>
      </p:sp>
      <p:sp>
        <p:nvSpPr>
          <p:cNvPr name="TextBox 24" id="24"/>
          <p:cNvSpPr txBox="true"/>
          <p:nvPr/>
        </p:nvSpPr>
        <p:spPr>
          <a:xfrm rot="0">
            <a:off x="12404312" y="3079328"/>
            <a:ext cx="4580296" cy="3048000"/>
          </a:xfrm>
          <a:prstGeom prst="rect">
            <a:avLst/>
          </a:prstGeom>
        </p:spPr>
        <p:txBody>
          <a:bodyPr anchor="t" rtlCol="false" tIns="0" lIns="0" bIns="0" rIns="0">
            <a:spAutoFit/>
          </a:bodyPr>
          <a:lstStyle/>
          <a:p>
            <a:pPr algn="l">
              <a:lnSpc>
                <a:spcPts val="3031"/>
              </a:lnSpc>
            </a:pPr>
            <a:r>
              <a:rPr lang="en-US" sz="2526">
                <a:solidFill>
                  <a:srgbClr val="A7B3AD"/>
                </a:solidFill>
                <a:latin typeface="Aptos"/>
                <a:ea typeface="Aptos"/>
                <a:cs typeface="Aptos"/>
                <a:sym typeface="Aptos"/>
              </a:rPr>
              <a:t>• OpenCV video processing</a:t>
            </a:r>
          </a:p>
          <a:p>
            <a:pPr algn="l">
              <a:lnSpc>
                <a:spcPts val="3031"/>
              </a:lnSpc>
            </a:pPr>
            <a:r>
              <a:rPr lang="en-US" sz="2526">
                <a:solidFill>
                  <a:srgbClr val="A7B3AD"/>
                </a:solidFill>
                <a:latin typeface="Aptos"/>
                <a:ea typeface="Aptos"/>
                <a:cs typeface="Aptos"/>
                <a:sym typeface="Aptos"/>
              </a:rPr>
              <a:t>• MediaPipe pose landmarks</a:t>
            </a:r>
          </a:p>
          <a:p>
            <a:pPr algn="l">
              <a:lnSpc>
                <a:spcPts val="3031"/>
              </a:lnSpc>
            </a:pPr>
            <a:r>
              <a:rPr lang="en-US" sz="2526">
                <a:solidFill>
                  <a:srgbClr val="A7B3AD"/>
                </a:solidFill>
                <a:latin typeface="Aptos"/>
                <a:ea typeface="Aptos"/>
                <a:cs typeface="Aptos"/>
                <a:sym typeface="Aptos"/>
              </a:rPr>
              <a:t>• Joint-angle analysis</a:t>
            </a:r>
          </a:p>
          <a:p>
            <a:pPr algn="l">
              <a:lnSpc>
                <a:spcPts val="3031"/>
              </a:lnSpc>
            </a:pPr>
            <a:r>
              <a:rPr lang="en-US" sz="2526">
                <a:solidFill>
                  <a:srgbClr val="A7B3AD"/>
                </a:solidFill>
                <a:latin typeface="Aptos"/>
                <a:ea typeface="Aptos"/>
                <a:cs typeface="Aptos"/>
                <a:sym typeface="Aptos"/>
              </a:rPr>
              <a:t>• Injury prediction</a:t>
            </a:r>
          </a:p>
          <a:p>
            <a:pPr algn="l">
              <a:lnSpc>
                <a:spcPts val="3031"/>
              </a:lnSpc>
            </a:pPr>
            <a:r>
              <a:rPr lang="en-US" sz="2526">
                <a:solidFill>
                  <a:srgbClr val="A7B3AD"/>
                </a:solidFill>
                <a:latin typeface="Aptos"/>
                <a:ea typeface="Aptos"/>
                <a:cs typeface="Aptos"/>
                <a:sym typeface="Aptos"/>
              </a:rPr>
              <a:t>• Anomaly detection</a:t>
            </a:r>
          </a:p>
          <a:p>
            <a:pPr algn="l">
              <a:lnSpc>
                <a:spcPts val="3031"/>
              </a:lnSpc>
            </a:pPr>
            <a:r>
              <a:rPr lang="en-US" sz="2526">
                <a:solidFill>
                  <a:srgbClr val="A7B3AD"/>
                </a:solidFill>
                <a:latin typeface="Aptos"/>
                <a:ea typeface="Aptos"/>
                <a:cs typeface="Aptos"/>
                <a:sym typeface="Aptos"/>
              </a:rPr>
              <a:t>• Risk scoring</a:t>
            </a:r>
          </a:p>
          <a:p>
            <a:pPr algn="l">
              <a:lnSpc>
                <a:spcPts val="3031"/>
              </a:lnSpc>
            </a:pPr>
            <a:r>
              <a:rPr lang="en-US" sz="2526">
                <a:solidFill>
                  <a:srgbClr val="A7B3AD"/>
                </a:solidFill>
                <a:latin typeface="Aptos"/>
                <a:ea typeface="Aptos"/>
                <a:cs typeface="Aptos"/>
                <a:sym typeface="Aptos"/>
              </a:rPr>
              <a:t>• Recommendations</a:t>
            </a:r>
          </a:p>
          <a:p>
            <a:pPr algn="l">
              <a:lnSpc>
                <a:spcPts val="3031"/>
              </a:lnSpc>
            </a:pPr>
            <a:r>
              <a:rPr lang="en-US" sz="2526">
                <a:solidFill>
                  <a:srgbClr val="A7B3AD"/>
                </a:solidFill>
                <a:latin typeface="Aptos"/>
                <a:ea typeface="Aptos"/>
                <a:cs typeface="Aptos"/>
                <a:sym typeface="Aptos"/>
              </a:rPr>
              <a:t>• PDF report</a:t>
            </a:r>
          </a:p>
        </p:txBody>
      </p:sp>
      <p:grpSp>
        <p:nvGrpSpPr>
          <p:cNvPr name="Group 25" id="25"/>
          <p:cNvGrpSpPr/>
          <p:nvPr/>
        </p:nvGrpSpPr>
        <p:grpSpPr>
          <a:xfrm rot="0">
            <a:off x="5161245" y="4735716"/>
            <a:ext cx="466706" cy="576520"/>
            <a:chOff x="0" y="0"/>
            <a:chExt cx="622275" cy="768693"/>
          </a:xfrm>
        </p:grpSpPr>
        <p:sp>
          <p:nvSpPr>
            <p:cNvPr name="Freeform 26" id="26"/>
            <p:cNvSpPr/>
            <p:nvPr/>
          </p:nvSpPr>
          <p:spPr>
            <a:xfrm flipH="false" flipV="false" rot="0">
              <a:off x="0" y="0"/>
              <a:ext cx="622300" cy="768731"/>
            </a:xfrm>
            <a:custGeom>
              <a:avLst/>
              <a:gdLst/>
              <a:ahLst/>
              <a:cxnLst/>
              <a:rect r="r" b="b" t="t" l="l"/>
              <a:pathLst>
                <a:path h="768731" w="622300">
                  <a:moveTo>
                    <a:pt x="0" y="192151"/>
                  </a:moveTo>
                  <a:lnTo>
                    <a:pt x="311150" y="192151"/>
                  </a:lnTo>
                  <a:lnTo>
                    <a:pt x="311150" y="0"/>
                  </a:lnTo>
                  <a:lnTo>
                    <a:pt x="622300" y="384302"/>
                  </a:lnTo>
                  <a:lnTo>
                    <a:pt x="311150" y="768731"/>
                  </a:lnTo>
                  <a:lnTo>
                    <a:pt x="311150" y="576580"/>
                  </a:lnTo>
                  <a:lnTo>
                    <a:pt x="0" y="576580"/>
                  </a:lnTo>
                  <a:close/>
                </a:path>
              </a:pathLst>
            </a:custGeom>
            <a:solidFill>
              <a:srgbClr val="A0C432"/>
            </a:solidFill>
          </p:spPr>
        </p:sp>
      </p:grpSp>
      <p:grpSp>
        <p:nvGrpSpPr>
          <p:cNvPr name="Group 27" id="27"/>
          <p:cNvGrpSpPr/>
          <p:nvPr/>
        </p:nvGrpSpPr>
        <p:grpSpPr>
          <a:xfrm rot="0">
            <a:off x="11365725" y="4735716"/>
            <a:ext cx="466706" cy="576520"/>
            <a:chOff x="0" y="0"/>
            <a:chExt cx="622275" cy="768693"/>
          </a:xfrm>
        </p:grpSpPr>
        <p:sp>
          <p:nvSpPr>
            <p:cNvPr name="Freeform 28" id="28"/>
            <p:cNvSpPr/>
            <p:nvPr/>
          </p:nvSpPr>
          <p:spPr>
            <a:xfrm flipH="false" flipV="false" rot="0">
              <a:off x="0" y="0"/>
              <a:ext cx="622300" cy="768731"/>
            </a:xfrm>
            <a:custGeom>
              <a:avLst/>
              <a:gdLst/>
              <a:ahLst/>
              <a:cxnLst/>
              <a:rect r="r" b="b" t="t" l="l"/>
              <a:pathLst>
                <a:path h="768731" w="622300">
                  <a:moveTo>
                    <a:pt x="0" y="192151"/>
                  </a:moveTo>
                  <a:lnTo>
                    <a:pt x="311150" y="192151"/>
                  </a:lnTo>
                  <a:lnTo>
                    <a:pt x="311150" y="0"/>
                  </a:lnTo>
                  <a:lnTo>
                    <a:pt x="622300" y="384302"/>
                  </a:lnTo>
                  <a:lnTo>
                    <a:pt x="311150" y="768731"/>
                  </a:lnTo>
                  <a:lnTo>
                    <a:pt x="311150" y="576580"/>
                  </a:lnTo>
                  <a:lnTo>
                    <a:pt x="0" y="576580"/>
                  </a:lnTo>
                  <a:close/>
                </a:path>
              </a:pathLst>
            </a:custGeom>
            <a:solidFill>
              <a:srgbClr val="A0C432"/>
            </a:solidFill>
          </p:spPr>
        </p:sp>
      </p:grpSp>
    </p:spTree>
  </p:cSld>
  <p:clrMapOvr>
    <a:masterClrMapping/>
  </p:clrMapOvr>
</p:sld>
</file>

<file path=ppt/slides/slide6.xml><?xml version="1.0" encoding="utf-8"?>
<p:sld xmlns:p="http://schemas.openxmlformats.org/presentationml/2006/main" xmlns:a="http://schemas.openxmlformats.org/drawingml/2006/main">
  <p:cSld>
    <p:bg>
      <p:bgPr>
        <a:solidFill>
          <a:srgbClr val="080C0B"/>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96088"/>
            <a:chOff x="0" y="0"/>
            <a:chExt cx="24402453" cy="128118"/>
          </a:xfrm>
        </p:grpSpPr>
        <p:sp>
          <p:nvSpPr>
            <p:cNvPr name="Freeform 3" id="3"/>
            <p:cNvSpPr/>
            <p:nvPr/>
          </p:nvSpPr>
          <p:spPr>
            <a:xfrm flipH="false" flipV="false" rot="0">
              <a:off x="0" y="0"/>
              <a:ext cx="24402414" cy="128143"/>
            </a:xfrm>
            <a:custGeom>
              <a:avLst/>
              <a:gdLst/>
              <a:ahLst/>
              <a:cxnLst/>
              <a:rect r="r" b="b" t="t" l="l"/>
              <a:pathLst>
                <a:path h="128143" w="24402414">
                  <a:moveTo>
                    <a:pt x="0" y="0"/>
                  </a:moveTo>
                  <a:lnTo>
                    <a:pt x="24402414" y="0"/>
                  </a:lnTo>
                  <a:lnTo>
                    <a:pt x="24402414" y="128143"/>
                  </a:lnTo>
                  <a:lnTo>
                    <a:pt x="0" y="128143"/>
                  </a:lnTo>
                  <a:close/>
                </a:path>
              </a:pathLst>
            </a:custGeom>
            <a:solidFill>
              <a:srgbClr val="A0C432"/>
            </a:solidFill>
          </p:spPr>
        </p:sp>
      </p:grpSp>
      <p:sp>
        <p:nvSpPr>
          <p:cNvPr name="TextBox 4" id="4"/>
          <p:cNvSpPr txBox="true"/>
          <p:nvPr/>
        </p:nvSpPr>
        <p:spPr>
          <a:xfrm rot="0">
            <a:off x="983675" y="549412"/>
            <a:ext cx="4782889" cy="704850"/>
          </a:xfrm>
          <a:prstGeom prst="rect">
            <a:avLst/>
          </a:prstGeom>
        </p:spPr>
        <p:txBody>
          <a:bodyPr anchor="t" rtlCol="false" tIns="0" lIns="0" bIns="0" rIns="0">
            <a:spAutoFit/>
          </a:bodyPr>
          <a:lstStyle/>
          <a:p>
            <a:pPr algn="l">
              <a:lnSpc>
                <a:spcPts val="5643"/>
              </a:lnSpc>
            </a:pPr>
            <a:r>
              <a:rPr lang="en-US" sz="4703" b="true">
                <a:solidFill>
                  <a:srgbClr val="F4F7F5"/>
                </a:solidFill>
                <a:latin typeface="Aptos Bold"/>
                <a:ea typeface="Aptos Bold"/>
                <a:cs typeface="Aptos Bold"/>
                <a:sym typeface="Aptos Bold"/>
              </a:rPr>
              <a:t>Technology Stack</a:t>
            </a:r>
          </a:p>
        </p:txBody>
      </p:sp>
      <p:sp>
        <p:nvSpPr>
          <p:cNvPr name="TextBox 5" id="5"/>
          <p:cNvSpPr txBox="true"/>
          <p:nvPr/>
        </p:nvSpPr>
        <p:spPr>
          <a:xfrm rot="0">
            <a:off x="1011126" y="1294848"/>
            <a:ext cx="14916512" cy="333375"/>
          </a:xfrm>
          <a:prstGeom prst="rect">
            <a:avLst/>
          </a:prstGeom>
        </p:spPr>
        <p:txBody>
          <a:bodyPr anchor="t" rtlCol="false" tIns="0" lIns="0" bIns="0" rIns="0">
            <a:spAutoFit/>
          </a:bodyPr>
          <a:lstStyle/>
          <a:p>
            <a:pPr algn="l">
              <a:lnSpc>
                <a:spcPts val="2641"/>
              </a:lnSpc>
            </a:pPr>
            <a:r>
              <a:rPr lang="en-US" sz="2201">
                <a:solidFill>
                  <a:srgbClr val="A7B3AD"/>
                </a:solidFill>
                <a:latin typeface="Aptos"/>
                <a:ea typeface="Aptos"/>
                <a:cs typeface="Aptos"/>
                <a:sym typeface="Aptos"/>
              </a:rPr>
              <a:t>Technologies selected for a practical end-to-end implementation</a:t>
            </a:r>
          </a:p>
        </p:txBody>
      </p:sp>
      <p:sp>
        <p:nvSpPr>
          <p:cNvPr name="TextBox 6" id="6"/>
          <p:cNvSpPr txBox="true"/>
          <p:nvPr/>
        </p:nvSpPr>
        <p:spPr>
          <a:xfrm rot="0">
            <a:off x="16632145" y="594789"/>
            <a:ext cx="572091" cy="251727"/>
          </a:xfrm>
          <a:prstGeom prst="rect">
            <a:avLst/>
          </a:prstGeom>
        </p:spPr>
        <p:txBody>
          <a:bodyPr anchor="t" rtlCol="false" tIns="0" lIns="0" bIns="0" rIns="0">
            <a:spAutoFit/>
          </a:bodyPr>
          <a:lstStyle/>
          <a:p>
            <a:pPr algn="r">
              <a:lnSpc>
                <a:spcPts val="1801"/>
              </a:lnSpc>
            </a:pPr>
            <a:r>
              <a:rPr lang="en-US" b="true" sz="1501">
                <a:solidFill>
                  <a:srgbClr val="A0C432"/>
                </a:solidFill>
                <a:latin typeface="Aptos Bold"/>
                <a:ea typeface="Aptos Bold"/>
                <a:cs typeface="Aptos Bold"/>
                <a:sym typeface="Aptos Bold"/>
              </a:rPr>
              <a:t>06</a:t>
            </a:r>
          </a:p>
        </p:txBody>
      </p:sp>
      <p:grpSp>
        <p:nvGrpSpPr>
          <p:cNvPr name="Group 7" id="7"/>
          <p:cNvGrpSpPr/>
          <p:nvPr/>
        </p:nvGrpSpPr>
        <p:grpSpPr>
          <a:xfrm rot="0">
            <a:off x="953719" y="2120494"/>
            <a:ext cx="5161817" cy="2691013"/>
            <a:chOff x="0" y="0"/>
            <a:chExt cx="6882422" cy="3588017"/>
          </a:xfrm>
        </p:grpSpPr>
        <p:sp>
          <p:nvSpPr>
            <p:cNvPr name="Freeform 8" id="8"/>
            <p:cNvSpPr/>
            <p:nvPr/>
          </p:nvSpPr>
          <p:spPr>
            <a:xfrm flipH="false" flipV="false" rot="0">
              <a:off x="0" y="0"/>
              <a:ext cx="6882511" cy="3588004"/>
            </a:xfrm>
            <a:custGeom>
              <a:avLst/>
              <a:gdLst/>
              <a:ahLst/>
              <a:cxnLst/>
              <a:rect r="r" b="b" t="t" l="l"/>
              <a:pathLst>
                <a:path h="3588004" w="6882511">
                  <a:moveTo>
                    <a:pt x="0" y="598043"/>
                  </a:moveTo>
                  <a:cubicBezTo>
                    <a:pt x="0" y="267716"/>
                    <a:pt x="267716" y="0"/>
                    <a:pt x="598043" y="0"/>
                  </a:cubicBezTo>
                  <a:lnTo>
                    <a:pt x="6284468" y="0"/>
                  </a:lnTo>
                  <a:cubicBezTo>
                    <a:pt x="6614795" y="0"/>
                    <a:pt x="6882511" y="267716"/>
                    <a:pt x="6882511" y="598043"/>
                  </a:cubicBezTo>
                  <a:lnTo>
                    <a:pt x="6882511" y="2989961"/>
                  </a:lnTo>
                  <a:cubicBezTo>
                    <a:pt x="6882511" y="3320288"/>
                    <a:pt x="6614795" y="3588004"/>
                    <a:pt x="6284468" y="3588004"/>
                  </a:cubicBezTo>
                  <a:lnTo>
                    <a:pt x="598043" y="3588004"/>
                  </a:lnTo>
                  <a:cubicBezTo>
                    <a:pt x="267716" y="3588004"/>
                    <a:pt x="0" y="3320288"/>
                    <a:pt x="0" y="2989961"/>
                  </a:cubicBezTo>
                  <a:close/>
                </a:path>
              </a:pathLst>
            </a:custGeom>
            <a:solidFill>
              <a:srgbClr val="121916"/>
            </a:solidFill>
            <a:ln w="14299" cap="sq">
              <a:solidFill>
                <a:srgbClr val="303E38"/>
              </a:solidFill>
              <a:prstDash val="solid"/>
              <a:miter/>
            </a:ln>
          </p:spPr>
        </p:sp>
      </p:grpSp>
      <p:grpSp>
        <p:nvGrpSpPr>
          <p:cNvPr name="Group 9" id="9"/>
          <p:cNvGrpSpPr/>
          <p:nvPr/>
        </p:nvGrpSpPr>
        <p:grpSpPr>
          <a:xfrm rot="0">
            <a:off x="960872" y="2127647"/>
            <a:ext cx="61770" cy="2676716"/>
            <a:chOff x="0" y="0"/>
            <a:chExt cx="82360" cy="3568954"/>
          </a:xfrm>
        </p:grpSpPr>
        <p:sp>
          <p:nvSpPr>
            <p:cNvPr name="Freeform 10" id="10"/>
            <p:cNvSpPr/>
            <p:nvPr/>
          </p:nvSpPr>
          <p:spPr>
            <a:xfrm flipH="false" flipV="false" rot="0">
              <a:off x="0" y="0"/>
              <a:ext cx="82423" cy="3568954"/>
            </a:xfrm>
            <a:custGeom>
              <a:avLst/>
              <a:gdLst/>
              <a:ahLst/>
              <a:cxnLst/>
              <a:rect r="r" b="b" t="t" l="l"/>
              <a:pathLst>
                <a:path h="3568954" w="82423">
                  <a:moveTo>
                    <a:pt x="0" y="0"/>
                  </a:moveTo>
                  <a:lnTo>
                    <a:pt x="82423" y="0"/>
                  </a:lnTo>
                  <a:lnTo>
                    <a:pt x="82423" y="3568954"/>
                  </a:lnTo>
                  <a:lnTo>
                    <a:pt x="0" y="3568954"/>
                  </a:lnTo>
                  <a:close/>
                </a:path>
              </a:pathLst>
            </a:custGeom>
            <a:solidFill>
              <a:srgbClr val="A0C432"/>
            </a:solidFill>
          </p:spPr>
        </p:sp>
      </p:grpSp>
      <p:sp>
        <p:nvSpPr>
          <p:cNvPr name="TextBox 11" id="11"/>
          <p:cNvSpPr txBox="true"/>
          <p:nvPr/>
        </p:nvSpPr>
        <p:spPr>
          <a:xfrm rot="0">
            <a:off x="1354293" y="2392994"/>
            <a:ext cx="4443022" cy="504825"/>
          </a:xfrm>
          <a:prstGeom prst="rect">
            <a:avLst/>
          </a:prstGeom>
        </p:spPr>
        <p:txBody>
          <a:bodyPr anchor="t" rtlCol="false" tIns="0" lIns="0" bIns="0" rIns="0">
            <a:spAutoFit/>
          </a:bodyPr>
          <a:lstStyle/>
          <a:p>
            <a:pPr algn="l">
              <a:lnSpc>
                <a:spcPts val="4022"/>
              </a:lnSpc>
            </a:pPr>
            <a:r>
              <a:rPr lang="en-US" sz="3351" b="true">
                <a:solidFill>
                  <a:srgbClr val="F4F7F5"/>
                </a:solidFill>
                <a:latin typeface="Aptos Bold"/>
                <a:ea typeface="Aptos Bold"/>
                <a:cs typeface="Aptos Bold"/>
                <a:sym typeface="Aptos Bold"/>
              </a:rPr>
              <a:t>React.js</a:t>
            </a:r>
          </a:p>
        </p:txBody>
      </p:sp>
      <p:sp>
        <p:nvSpPr>
          <p:cNvPr name="TextBox 12" id="12"/>
          <p:cNvSpPr txBox="true"/>
          <p:nvPr/>
        </p:nvSpPr>
        <p:spPr>
          <a:xfrm rot="0">
            <a:off x="1354293" y="3069803"/>
            <a:ext cx="4443022" cy="1457325"/>
          </a:xfrm>
          <a:prstGeom prst="rect">
            <a:avLst/>
          </a:prstGeom>
        </p:spPr>
        <p:txBody>
          <a:bodyPr anchor="t" rtlCol="false" tIns="0" lIns="0" bIns="0" rIns="0">
            <a:spAutoFit/>
          </a:bodyPr>
          <a:lstStyle/>
          <a:p>
            <a:pPr algn="l">
              <a:lnSpc>
                <a:spcPts val="2911"/>
              </a:lnSpc>
            </a:pPr>
            <a:r>
              <a:rPr lang="en-US" sz="2426">
                <a:solidFill>
                  <a:srgbClr val="A7B3AD"/>
                </a:solidFill>
                <a:latin typeface="Aptos"/>
                <a:ea typeface="Aptos"/>
                <a:cs typeface="Aptos"/>
                <a:sym typeface="Aptos"/>
              </a:rPr>
              <a:t>Frontend</a:t>
            </a:r>
          </a:p>
          <a:p>
            <a:pPr algn="l">
              <a:lnSpc>
                <a:spcPts val="2911"/>
              </a:lnSpc>
            </a:pPr>
          </a:p>
          <a:p>
            <a:pPr algn="l">
              <a:lnSpc>
                <a:spcPts val="2911"/>
              </a:lnSpc>
            </a:pPr>
            <a:r>
              <a:rPr lang="en-US" sz="2426">
                <a:solidFill>
                  <a:srgbClr val="A7B3AD"/>
                </a:solidFill>
                <a:latin typeface="Aptos"/>
                <a:ea typeface="Aptos"/>
                <a:cs typeface="Aptos"/>
                <a:sym typeface="Aptos"/>
              </a:rPr>
              <a:t>Component-based UI and interactive dashboards.</a:t>
            </a:r>
          </a:p>
        </p:txBody>
      </p:sp>
      <p:grpSp>
        <p:nvGrpSpPr>
          <p:cNvPr name="Group 13" id="13"/>
          <p:cNvGrpSpPr/>
          <p:nvPr/>
        </p:nvGrpSpPr>
        <p:grpSpPr>
          <a:xfrm rot="0">
            <a:off x="6581680" y="2120494"/>
            <a:ext cx="5161817" cy="2691013"/>
            <a:chOff x="0" y="0"/>
            <a:chExt cx="6882422" cy="3588017"/>
          </a:xfrm>
        </p:grpSpPr>
        <p:sp>
          <p:nvSpPr>
            <p:cNvPr name="Freeform 14" id="14"/>
            <p:cNvSpPr/>
            <p:nvPr/>
          </p:nvSpPr>
          <p:spPr>
            <a:xfrm flipH="false" flipV="false" rot="0">
              <a:off x="0" y="0"/>
              <a:ext cx="6882511" cy="3588004"/>
            </a:xfrm>
            <a:custGeom>
              <a:avLst/>
              <a:gdLst/>
              <a:ahLst/>
              <a:cxnLst/>
              <a:rect r="r" b="b" t="t" l="l"/>
              <a:pathLst>
                <a:path h="3588004" w="6882511">
                  <a:moveTo>
                    <a:pt x="0" y="598043"/>
                  </a:moveTo>
                  <a:cubicBezTo>
                    <a:pt x="0" y="267716"/>
                    <a:pt x="267716" y="0"/>
                    <a:pt x="598043" y="0"/>
                  </a:cubicBezTo>
                  <a:lnTo>
                    <a:pt x="6284468" y="0"/>
                  </a:lnTo>
                  <a:cubicBezTo>
                    <a:pt x="6614795" y="0"/>
                    <a:pt x="6882511" y="267716"/>
                    <a:pt x="6882511" y="598043"/>
                  </a:cubicBezTo>
                  <a:lnTo>
                    <a:pt x="6882511" y="2989961"/>
                  </a:lnTo>
                  <a:cubicBezTo>
                    <a:pt x="6882511" y="3320288"/>
                    <a:pt x="6614795" y="3588004"/>
                    <a:pt x="6284468" y="3588004"/>
                  </a:cubicBezTo>
                  <a:lnTo>
                    <a:pt x="598043" y="3588004"/>
                  </a:lnTo>
                  <a:cubicBezTo>
                    <a:pt x="267716" y="3588004"/>
                    <a:pt x="0" y="3320288"/>
                    <a:pt x="0" y="2989961"/>
                  </a:cubicBezTo>
                  <a:close/>
                </a:path>
              </a:pathLst>
            </a:custGeom>
            <a:solidFill>
              <a:srgbClr val="121916"/>
            </a:solidFill>
            <a:ln w="14299" cap="sq">
              <a:solidFill>
                <a:srgbClr val="303E38"/>
              </a:solidFill>
              <a:prstDash val="solid"/>
              <a:miter/>
            </a:ln>
          </p:spPr>
        </p:sp>
      </p:grpSp>
      <p:grpSp>
        <p:nvGrpSpPr>
          <p:cNvPr name="Group 15" id="15"/>
          <p:cNvGrpSpPr/>
          <p:nvPr/>
        </p:nvGrpSpPr>
        <p:grpSpPr>
          <a:xfrm rot="0">
            <a:off x="6588824" y="2127647"/>
            <a:ext cx="61770" cy="2676716"/>
            <a:chOff x="0" y="0"/>
            <a:chExt cx="82360" cy="3568954"/>
          </a:xfrm>
        </p:grpSpPr>
        <p:sp>
          <p:nvSpPr>
            <p:cNvPr name="Freeform 16" id="16"/>
            <p:cNvSpPr/>
            <p:nvPr/>
          </p:nvSpPr>
          <p:spPr>
            <a:xfrm flipH="false" flipV="false" rot="0">
              <a:off x="0" y="0"/>
              <a:ext cx="82423" cy="3568954"/>
            </a:xfrm>
            <a:custGeom>
              <a:avLst/>
              <a:gdLst/>
              <a:ahLst/>
              <a:cxnLst/>
              <a:rect r="r" b="b" t="t" l="l"/>
              <a:pathLst>
                <a:path h="3568954" w="82423">
                  <a:moveTo>
                    <a:pt x="0" y="0"/>
                  </a:moveTo>
                  <a:lnTo>
                    <a:pt x="82423" y="0"/>
                  </a:lnTo>
                  <a:lnTo>
                    <a:pt x="82423" y="3568954"/>
                  </a:lnTo>
                  <a:lnTo>
                    <a:pt x="0" y="3568954"/>
                  </a:lnTo>
                  <a:close/>
                </a:path>
              </a:pathLst>
            </a:custGeom>
            <a:solidFill>
              <a:srgbClr val="A0C432"/>
            </a:solidFill>
          </p:spPr>
        </p:sp>
      </p:grpSp>
      <p:sp>
        <p:nvSpPr>
          <p:cNvPr name="TextBox 17" id="17"/>
          <p:cNvSpPr txBox="true"/>
          <p:nvPr/>
        </p:nvSpPr>
        <p:spPr>
          <a:xfrm rot="0">
            <a:off x="6982254" y="2392994"/>
            <a:ext cx="4443022" cy="495300"/>
          </a:xfrm>
          <a:prstGeom prst="rect">
            <a:avLst/>
          </a:prstGeom>
        </p:spPr>
        <p:txBody>
          <a:bodyPr anchor="t" rtlCol="false" tIns="0" lIns="0" bIns="0" rIns="0">
            <a:spAutoFit/>
          </a:bodyPr>
          <a:lstStyle/>
          <a:p>
            <a:pPr algn="l">
              <a:lnSpc>
                <a:spcPts val="3902"/>
              </a:lnSpc>
            </a:pPr>
            <a:r>
              <a:rPr lang="en-US" sz="3251" b="true">
                <a:solidFill>
                  <a:srgbClr val="F4F7F5"/>
                </a:solidFill>
                <a:latin typeface="Aptos Bold"/>
                <a:ea typeface="Aptos Bold"/>
                <a:cs typeface="Aptos Bold"/>
                <a:sym typeface="Aptos Bold"/>
              </a:rPr>
              <a:t>FastAPI</a:t>
            </a:r>
          </a:p>
        </p:txBody>
      </p:sp>
      <p:sp>
        <p:nvSpPr>
          <p:cNvPr name="TextBox 18" id="18"/>
          <p:cNvSpPr txBox="true"/>
          <p:nvPr/>
        </p:nvSpPr>
        <p:spPr>
          <a:xfrm rot="0">
            <a:off x="6982254" y="3069803"/>
            <a:ext cx="4443022" cy="1457325"/>
          </a:xfrm>
          <a:prstGeom prst="rect">
            <a:avLst/>
          </a:prstGeom>
        </p:spPr>
        <p:txBody>
          <a:bodyPr anchor="t" rtlCol="false" tIns="0" lIns="0" bIns="0" rIns="0">
            <a:spAutoFit/>
          </a:bodyPr>
          <a:lstStyle/>
          <a:p>
            <a:pPr algn="l">
              <a:lnSpc>
                <a:spcPts val="2911"/>
              </a:lnSpc>
            </a:pPr>
            <a:r>
              <a:rPr lang="en-US" sz="2426">
                <a:solidFill>
                  <a:srgbClr val="A7B3AD"/>
                </a:solidFill>
                <a:latin typeface="Aptos"/>
                <a:ea typeface="Aptos"/>
                <a:cs typeface="Aptos"/>
                <a:sym typeface="Aptos"/>
              </a:rPr>
              <a:t>Backend</a:t>
            </a:r>
          </a:p>
          <a:p>
            <a:pPr algn="l">
              <a:lnSpc>
                <a:spcPts val="2911"/>
              </a:lnSpc>
            </a:pPr>
          </a:p>
          <a:p>
            <a:pPr algn="l">
              <a:lnSpc>
                <a:spcPts val="2911"/>
              </a:lnSpc>
            </a:pPr>
            <a:r>
              <a:rPr lang="en-US" sz="2426">
                <a:solidFill>
                  <a:srgbClr val="A7B3AD"/>
                </a:solidFill>
                <a:latin typeface="Aptos"/>
                <a:ea typeface="Aptos"/>
                <a:cs typeface="Aptos"/>
                <a:sym typeface="Aptos"/>
              </a:rPr>
              <a:t>Python API framework for application endpoints.</a:t>
            </a:r>
          </a:p>
        </p:txBody>
      </p:sp>
      <p:grpSp>
        <p:nvGrpSpPr>
          <p:cNvPr name="Group 19" id="19"/>
          <p:cNvGrpSpPr/>
          <p:nvPr/>
        </p:nvGrpSpPr>
        <p:grpSpPr>
          <a:xfrm rot="0">
            <a:off x="12209631" y="2120494"/>
            <a:ext cx="5161817" cy="2691013"/>
            <a:chOff x="0" y="0"/>
            <a:chExt cx="6882422" cy="3588017"/>
          </a:xfrm>
        </p:grpSpPr>
        <p:sp>
          <p:nvSpPr>
            <p:cNvPr name="Freeform 20" id="20"/>
            <p:cNvSpPr/>
            <p:nvPr/>
          </p:nvSpPr>
          <p:spPr>
            <a:xfrm flipH="false" flipV="false" rot="0">
              <a:off x="0" y="0"/>
              <a:ext cx="6882511" cy="3588004"/>
            </a:xfrm>
            <a:custGeom>
              <a:avLst/>
              <a:gdLst/>
              <a:ahLst/>
              <a:cxnLst/>
              <a:rect r="r" b="b" t="t" l="l"/>
              <a:pathLst>
                <a:path h="3588004" w="6882511">
                  <a:moveTo>
                    <a:pt x="0" y="598043"/>
                  </a:moveTo>
                  <a:cubicBezTo>
                    <a:pt x="0" y="267716"/>
                    <a:pt x="267716" y="0"/>
                    <a:pt x="598043" y="0"/>
                  </a:cubicBezTo>
                  <a:lnTo>
                    <a:pt x="6284468" y="0"/>
                  </a:lnTo>
                  <a:cubicBezTo>
                    <a:pt x="6614795" y="0"/>
                    <a:pt x="6882511" y="267716"/>
                    <a:pt x="6882511" y="598043"/>
                  </a:cubicBezTo>
                  <a:lnTo>
                    <a:pt x="6882511" y="2989961"/>
                  </a:lnTo>
                  <a:cubicBezTo>
                    <a:pt x="6882511" y="3320288"/>
                    <a:pt x="6614795" y="3588004"/>
                    <a:pt x="6284468" y="3588004"/>
                  </a:cubicBezTo>
                  <a:lnTo>
                    <a:pt x="598043" y="3588004"/>
                  </a:lnTo>
                  <a:cubicBezTo>
                    <a:pt x="267716" y="3588004"/>
                    <a:pt x="0" y="3320288"/>
                    <a:pt x="0" y="2989961"/>
                  </a:cubicBezTo>
                  <a:close/>
                </a:path>
              </a:pathLst>
            </a:custGeom>
            <a:solidFill>
              <a:srgbClr val="121916"/>
            </a:solidFill>
            <a:ln w="14299" cap="sq">
              <a:solidFill>
                <a:srgbClr val="303E38"/>
              </a:solidFill>
              <a:prstDash val="solid"/>
              <a:miter/>
            </a:ln>
          </p:spPr>
        </p:sp>
      </p:grpSp>
      <p:grpSp>
        <p:nvGrpSpPr>
          <p:cNvPr name="Group 21" id="21"/>
          <p:cNvGrpSpPr/>
          <p:nvPr/>
        </p:nvGrpSpPr>
        <p:grpSpPr>
          <a:xfrm rot="0">
            <a:off x="12216784" y="2127647"/>
            <a:ext cx="61770" cy="2676716"/>
            <a:chOff x="0" y="0"/>
            <a:chExt cx="82360" cy="3568954"/>
          </a:xfrm>
        </p:grpSpPr>
        <p:sp>
          <p:nvSpPr>
            <p:cNvPr name="Freeform 22" id="22"/>
            <p:cNvSpPr/>
            <p:nvPr/>
          </p:nvSpPr>
          <p:spPr>
            <a:xfrm flipH="false" flipV="false" rot="0">
              <a:off x="0" y="0"/>
              <a:ext cx="82423" cy="3568954"/>
            </a:xfrm>
            <a:custGeom>
              <a:avLst/>
              <a:gdLst/>
              <a:ahLst/>
              <a:cxnLst/>
              <a:rect r="r" b="b" t="t" l="l"/>
              <a:pathLst>
                <a:path h="3568954" w="82423">
                  <a:moveTo>
                    <a:pt x="0" y="0"/>
                  </a:moveTo>
                  <a:lnTo>
                    <a:pt x="82423" y="0"/>
                  </a:lnTo>
                  <a:lnTo>
                    <a:pt x="82423" y="3568954"/>
                  </a:lnTo>
                  <a:lnTo>
                    <a:pt x="0" y="3568954"/>
                  </a:lnTo>
                  <a:close/>
                </a:path>
              </a:pathLst>
            </a:custGeom>
            <a:solidFill>
              <a:srgbClr val="A0C432"/>
            </a:solidFill>
          </p:spPr>
        </p:sp>
      </p:grpSp>
      <p:sp>
        <p:nvSpPr>
          <p:cNvPr name="TextBox 23" id="23"/>
          <p:cNvSpPr txBox="true"/>
          <p:nvPr/>
        </p:nvSpPr>
        <p:spPr>
          <a:xfrm rot="0">
            <a:off x="12610214" y="2392994"/>
            <a:ext cx="4443022" cy="504825"/>
          </a:xfrm>
          <a:prstGeom prst="rect">
            <a:avLst/>
          </a:prstGeom>
        </p:spPr>
        <p:txBody>
          <a:bodyPr anchor="t" rtlCol="false" tIns="0" lIns="0" bIns="0" rIns="0">
            <a:spAutoFit/>
          </a:bodyPr>
          <a:lstStyle/>
          <a:p>
            <a:pPr algn="l">
              <a:lnSpc>
                <a:spcPts val="4022"/>
              </a:lnSpc>
            </a:pPr>
            <a:r>
              <a:rPr lang="en-US" sz="3351" b="true">
                <a:solidFill>
                  <a:srgbClr val="F4F7F5"/>
                </a:solidFill>
                <a:latin typeface="Aptos Bold"/>
                <a:ea typeface="Aptos Bold"/>
                <a:cs typeface="Aptos Bold"/>
                <a:sym typeface="Aptos Bold"/>
              </a:rPr>
              <a:t>Python</a:t>
            </a:r>
          </a:p>
        </p:txBody>
      </p:sp>
      <p:sp>
        <p:nvSpPr>
          <p:cNvPr name="TextBox 24" id="24"/>
          <p:cNvSpPr txBox="true"/>
          <p:nvPr/>
        </p:nvSpPr>
        <p:spPr>
          <a:xfrm rot="0">
            <a:off x="12610214" y="3069803"/>
            <a:ext cx="4443022" cy="1457325"/>
          </a:xfrm>
          <a:prstGeom prst="rect">
            <a:avLst/>
          </a:prstGeom>
        </p:spPr>
        <p:txBody>
          <a:bodyPr anchor="t" rtlCol="false" tIns="0" lIns="0" bIns="0" rIns="0">
            <a:spAutoFit/>
          </a:bodyPr>
          <a:lstStyle/>
          <a:p>
            <a:pPr algn="l">
              <a:lnSpc>
                <a:spcPts val="2911"/>
              </a:lnSpc>
            </a:pPr>
            <a:r>
              <a:rPr lang="en-US" sz="2426">
                <a:solidFill>
                  <a:srgbClr val="A7B3AD"/>
                </a:solidFill>
                <a:latin typeface="Aptos"/>
                <a:ea typeface="Aptos"/>
                <a:cs typeface="Aptos"/>
                <a:sym typeface="Aptos"/>
              </a:rPr>
              <a:t>Analysis</a:t>
            </a:r>
          </a:p>
          <a:p>
            <a:pPr algn="l">
              <a:lnSpc>
                <a:spcPts val="2911"/>
              </a:lnSpc>
            </a:pPr>
          </a:p>
          <a:p>
            <a:pPr algn="l">
              <a:lnSpc>
                <a:spcPts val="2911"/>
              </a:lnSpc>
            </a:pPr>
            <a:r>
              <a:rPr lang="en-US" sz="2426">
                <a:solidFill>
                  <a:srgbClr val="A7B3AD"/>
                </a:solidFill>
                <a:latin typeface="Aptos"/>
                <a:ea typeface="Aptos"/>
                <a:cs typeface="Aptos"/>
                <a:sym typeface="Aptos"/>
              </a:rPr>
              <a:t>Core language for processing and AI services.</a:t>
            </a:r>
          </a:p>
        </p:txBody>
      </p:sp>
      <p:grpSp>
        <p:nvGrpSpPr>
          <p:cNvPr name="Group 25" id="25"/>
          <p:cNvGrpSpPr/>
          <p:nvPr/>
        </p:nvGrpSpPr>
        <p:grpSpPr>
          <a:xfrm rot="0">
            <a:off x="953719" y="5346278"/>
            <a:ext cx="5161817" cy="2691013"/>
            <a:chOff x="0" y="0"/>
            <a:chExt cx="6882422" cy="3588017"/>
          </a:xfrm>
        </p:grpSpPr>
        <p:sp>
          <p:nvSpPr>
            <p:cNvPr name="Freeform 26" id="26"/>
            <p:cNvSpPr/>
            <p:nvPr/>
          </p:nvSpPr>
          <p:spPr>
            <a:xfrm flipH="false" flipV="false" rot="0">
              <a:off x="0" y="0"/>
              <a:ext cx="6882511" cy="3588004"/>
            </a:xfrm>
            <a:custGeom>
              <a:avLst/>
              <a:gdLst/>
              <a:ahLst/>
              <a:cxnLst/>
              <a:rect r="r" b="b" t="t" l="l"/>
              <a:pathLst>
                <a:path h="3588004" w="6882511">
                  <a:moveTo>
                    <a:pt x="0" y="598043"/>
                  </a:moveTo>
                  <a:cubicBezTo>
                    <a:pt x="0" y="267716"/>
                    <a:pt x="267716" y="0"/>
                    <a:pt x="598043" y="0"/>
                  </a:cubicBezTo>
                  <a:lnTo>
                    <a:pt x="6284468" y="0"/>
                  </a:lnTo>
                  <a:cubicBezTo>
                    <a:pt x="6614795" y="0"/>
                    <a:pt x="6882511" y="267716"/>
                    <a:pt x="6882511" y="598043"/>
                  </a:cubicBezTo>
                  <a:lnTo>
                    <a:pt x="6882511" y="2989961"/>
                  </a:lnTo>
                  <a:cubicBezTo>
                    <a:pt x="6882511" y="3320288"/>
                    <a:pt x="6614795" y="3588004"/>
                    <a:pt x="6284468" y="3588004"/>
                  </a:cubicBezTo>
                  <a:lnTo>
                    <a:pt x="598043" y="3588004"/>
                  </a:lnTo>
                  <a:cubicBezTo>
                    <a:pt x="267716" y="3588004"/>
                    <a:pt x="0" y="3320288"/>
                    <a:pt x="0" y="2989961"/>
                  </a:cubicBezTo>
                  <a:close/>
                </a:path>
              </a:pathLst>
            </a:custGeom>
            <a:solidFill>
              <a:srgbClr val="121916"/>
            </a:solidFill>
            <a:ln w="14299" cap="sq">
              <a:solidFill>
                <a:srgbClr val="303E38"/>
              </a:solidFill>
              <a:prstDash val="solid"/>
              <a:miter/>
            </a:ln>
          </p:spPr>
        </p:sp>
      </p:grpSp>
      <p:grpSp>
        <p:nvGrpSpPr>
          <p:cNvPr name="Group 27" id="27"/>
          <p:cNvGrpSpPr/>
          <p:nvPr/>
        </p:nvGrpSpPr>
        <p:grpSpPr>
          <a:xfrm rot="0">
            <a:off x="960872" y="5353421"/>
            <a:ext cx="61770" cy="2676716"/>
            <a:chOff x="0" y="0"/>
            <a:chExt cx="82360" cy="3568954"/>
          </a:xfrm>
        </p:grpSpPr>
        <p:sp>
          <p:nvSpPr>
            <p:cNvPr name="Freeform 28" id="28"/>
            <p:cNvSpPr/>
            <p:nvPr/>
          </p:nvSpPr>
          <p:spPr>
            <a:xfrm flipH="false" flipV="false" rot="0">
              <a:off x="0" y="0"/>
              <a:ext cx="82423" cy="3568954"/>
            </a:xfrm>
            <a:custGeom>
              <a:avLst/>
              <a:gdLst/>
              <a:ahLst/>
              <a:cxnLst/>
              <a:rect r="r" b="b" t="t" l="l"/>
              <a:pathLst>
                <a:path h="3568954" w="82423">
                  <a:moveTo>
                    <a:pt x="0" y="0"/>
                  </a:moveTo>
                  <a:lnTo>
                    <a:pt x="82423" y="0"/>
                  </a:lnTo>
                  <a:lnTo>
                    <a:pt x="82423" y="3568954"/>
                  </a:lnTo>
                  <a:lnTo>
                    <a:pt x="0" y="3568954"/>
                  </a:lnTo>
                  <a:close/>
                </a:path>
              </a:pathLst>
            </a:custGeom>
            <a:solidFill>
              <a:srgbClr val="A0C432"/>
            </a:solidFill>
          </p:spPr>
        </p:sp>
      </p:grpSp>
      <p:sp>
        <p:nvSpPr>
          <p:cNvPr name="TextBox 29" id="29"/>
          <p:cNvSpPr txBox="true"/>
          <p:nvPr/>
        </p:nvSpPr>
        <p:spPr>
          <a:xfrm rot="0">
            <a:off x="1354293" y="5618769"/>
            <a:ext cx="4443022" cy="495300"/>
          </a:xfrm>
          <a:prstGeom prst="rect">
            <a:avLst/>
          </a:prstGeom>
        </p:spPr>
        <p:txBody>
          <a:bodyPr anchor="t" rtlCol="false" tIns="0" lIns="0" bIns="0" rIns="0">
            <a:spAutoFit/>
          </a:bodyPr>
          <a:lstStyle/>
          <a:p>
            <a:pPr algn="l">
              <a:lnSpc>
                <a:spcPts val="3902"/>
              </a:lnSpc>
            </a:pPr>
            <a:r>
              <a:rPr lang="en-US" sz="3251" b="true">
                <a:solidFill>
                  <a:srgbClr val="F4F7F5"/>
                </a:solidFill>
                <a:latin typeface="Aptos Bold"/>
                <a:ea typeface="Aptos Bold"/>
                <a:cs typeface="Aptos Bold"/>
                <a:sym typeface="Aptos Bold"/>
              </a:rPr>
              <a:t>OpenCV</a:t>
            </a:r>
          </a:p>
        </p:txBody>
      </p:sp>
      <p:sp>
        <p:nvSpPr>
          <p:cNvPr name="TextBox 30" id="30"/>
          <p:cNvSpPr txBox="true"/>
          <p:nvPr/>
        </p:nvSpPr>
        <p:spPr>
          <a:xfrm rot="0">
            <a:off x="1354293" y="6295577"/>
            <a:ext cx="4443022" cy="1457325"/>
          </a:xfrm>
          <a:prstGeom prst="rect">
            <a:avLst/>
          </a:prstGeom>
        </p:spPr>
        <p:txBody>
          <a:bodyPr anchor="t" rtlCol="false" tIns="0" lIns="0" bIns="0" rIns="0">
            <a:spAutoFit/>
          </a:bodyPr>
          <a:lstStyle/>
          <a:p>
            <a:pPr algn="l">
              <a:lnSpc>
                <a:spcPts val="2911"/>
              </a:lnSpc>
            </a:pPr>
            <a:r>
              <a:rPr lang="en-US" sz="2426">
                <a:solidFill>
                  <a:srgbClr val="A7B3AD"/>
                </a:solidFill>
                <a:latin typeface="Aptos"/>
                <a:ea typeface="Aptos"/>
                <a:cs typeface="Aptos"/>
                <a:sym typeface="Aptos"/>
              </a:rPr>
              <a:t>Computer Vision</a:t>
            </a:r>
          </a:p>
          <a:p>
            <a:pPr algn="l">
              <a:lnSpc>
                <a:spcPts val="2911"/>
              </a:lnSpc>
            </a:pPr>
          </a:p>
          <a:p>
            <a:pPr algn="l">
              <a:lnSpc>
                <a:spcPts val="2911"/>
              </a:lnSpc>
            </a:pPr>
            <a:r>
              <a:rPr lang="en-US" sz="2426">
                <a:solidFill>
                  <a:srgbClr val="A7B3AD"/>
                </a:solidFill>
                <a:latin typeface="Aptos"/>
                <a:ea typeface="Aptos"/>
                <a:cs typeface="Aptos"/>
                <a:sym typeface="Aptos"/>
              </a:rPr>
              <a:t>Video capture, frame processing and thumbnails.</a:t>
            </a:r>
          </a:p>
        </p:txBody>
      </p:sp>
      <p:grpSp>
        <p:nvGrpSpPr>
          <p:cNvPr name="Group 31" id="31"/>
          <p:cNvGrpSpPr/>
          <p:nvPr/>
        </p:nvGrpSpPr>
        <p:grpSpPr>
          <a:xfrm rot="0">
            <a:off x="6581680" y="5346278"/>
            <a:ext cx="5161817" cy="2691013"/>
            <a:chOff x="0" y="0"/>
            <a:chExt cx="6882422" cy="3588017"/>
          </a:xfrm>
        </p:grpSpPr>
        <p:sp>
          <p:nvSpPr>
            <p:cNvPr name="Freeform 32" id="32"/>
            <p:cNvSpPr/>
            <p:nvPr/>
          </p:nvSpPr>
          <p:spPr>
            <a:xfrm flipH="false" flipV="false" rot="0">
              <a:off x="0" y="0"/>
              <a:ext cx="6882511" cy="3588004"/>
            </a:xfrm>
            <a:custGeom>
              <a:avLst/>
              <a:gdLst/>
              <a:ahLst/>
              <a:cxnLst/>
              <a:rect r="r" b="b" t="t" l="l"/>
              <a:pathLst>
                <a:path h="3588004" w="6882511">
                  <a:moveTo>
                    <a:pt x="0" y="598043"/>
                  </a:moveTo>
                  <a:cubicBezTo>
                    <a:pt x="0" y="267716"/>
                    <a:pt x="267716" y="0"/>
                    <a:pt x="598043" y="0"/>
                  </a:cubicBezTo>
                  <a:lnTo>
                    <a:pt x="6284468" y="0"/>
                  </a:lnTo>
                  <a:cubicBezTo>
                    <a:pt x="6614795" y="0"/>
                    <a:pt x="6882511" y="267716"/>
                    <a:pt x="6882511" y="598043"/>
                  </a:cubicBezTo>
                  <a:lnTo>
                    <a:pt x="6882511" y="2989961"/>
                  </a:lnTo>
                  <a:cubicBezTo>
                    <a:pt x="6882511" y="3320288"/>
                    <a:pt x="6614795" y="3588004"/>
                    <a:pt x="6284468" y="3588004"/>
                  </a:cubicBezTo>
                  <a:lnTo>
                    <a:pt x="598043" y="3588004"/>
                  </a:lnTo>
                  <a:cubicBezTo>
                    <a:pt x="267716" y="3588004"/>
                    <a:pt x="0" y="3320288"/>
                    <a:pt x="0" y="2989961"/>
                  </a:cubicBezTo>
                  <a:close/>
                </a:path>
              </a:pathLst>
            </a:custGeom>
            <a:solidFill>
              <a:srgbClr val="121916"/>
            </a:solidFill>
            <a:ln w="14299" cap="sq">
              <a:solidFill>
                <a:srgbClr val="303E38"/>
              </a:solidFill>
              <a:prstDash val="solid"/>
              <a:miter/>
            </a:ln>
          </p:spPr>
        </p:sp>
      </p:grpSp>
      <p:grpSp>
        <p:nvGrpSpPr>
          <p:cNvPr name="Group 33" id="33"/>
          <p:cNvGrpSpPr/>
          <p:nvPr/>
        </p:nvGrpSpPr>
        <p:grpSpPr>
          <a:xfrm rot="0">
            <a:off x="6588824" y="5353421"/>
            <a:ext cx="61770" cy="2676716"/>
            <a:chOff x="0" y="0"/>
            <a:chExt cx="82360" cy="3568954"/>
          </a:xfrm>
        </p:grpSpPr>
        <p:sp>
          <p:nvSpPr>
            <p:cNvPr name="Freeform 34" id="34"/>
            <p:cNvSpPr/>
            <p:nvPr/>
          </p:nvSpPr>
          <p:spPr>
            <a:xfrm flipH="false" flipV="false" rot="0">
              <a:off x="0" y="0"/>
              <a:ext cx="82423" cy="3568954"/>
            </a:xfrm>
            <a:custGeom>
              <a:avLst/>
              <a:gdLst/>
              <a:ahLst/>
              <a:cxnLst/>
              <a:rect r="r" b="b" t="t" l="l"/>
              <a:pathLst>
                <a:path h="3568954" w="82423">
                  <a:moveTo>
                    <a:pt x="0" y="0"/>
                  </a:moveTo>
                  <a:lnTo>
                    <a:pt x="82423" y="0"/>
                  </a:lnTo>
                  <a:lnTo>
                    <a:pt x="82423" y="3568954"/>
                  </a:lnTo>
                  <a:lnTo>
                    <a:pt x="0" y="3568954"/>
                  </a:lnTo>
                  <a:close/>
                </a:path>
              </a:pathLst>
            </a:custGeom>
            <a:solidFill>
              <a:srgbClr val="A0C432"/>
            </a:solidFill>
          </p:spPr>
        </p:sp>
      </p:grpSp>
      <p:sp>
        <p:nvSpPr>
          <p:cNvPr name="TextBox 35" id="35"/>
          <p:cNvSpPr txBox="true"/>
          <p:nvPr/>
        </p:nvSpPr>
        <p:spPr>
          <a:xfrm rot="0">
            <a:off x="6982254" y="5618769"/>
            <a:ext cx="4443022" cy="495300"/>
          </a:xfrm>
          <a:prstGeom prst="rect">
            <a:avLst/>
          </a:prstGeom>
        </p:spPr>
        <p:txBody>
          <a:bodyPr anchor="t" rtlCol="false" tIns="0" lIns="0" bIns="0" rIns="0">
            <a:spAutoFit/>
          </a:bodyPr>
          <a:lstStyle/>
          <a:p>
            <a:pPr algn="l">
              <a:lnSpc>
                <a:spcPts val="3902"/>
              </a:lnSpc>
            </a:pPr>
            <a:r>
              <a:rPr lang="en-US" sz="3251" b="true">
                <a:solidFill>
                  <a:srgbClr val="F4F7F5"/>
                </a:solidFill>
                <a:latin typeface="Aptos Bold"/>
                <a:ea typeface="Aptos Bold"/>
                <a:cs typeface="Aptos Bold"/>
                <a:sym typeface="Aptos Bold"/>
              </a:rPr>
              <a:t>MediaPipe</a:t>
            </a:r>
          </a:p>
        </p:txBody>
      </p:sp>
      <p:sp>
        <p:nvSpPr>
          <p:cNvPr name="TextBox 36" id="36"/>
          <p:cNvSpPr txBox="true"/>
          <p:nvPr/>
        </p:nvSpPr>
        <p:spPr>
          <a:xfrm rot="0">
            <a:off x="6982254" y="6295577"/>
            <a:ext cx="4443022" cy="1457325"/>
          </a:xfrm>
          <a:prstGeom prst="rect">
            <a:avLst/>
          </a:prstGeom>
        </p:spPr>
        <p:txBody>
          <a:bodyPr anchor="t" rtlCol="false" tIns="0" lIns="0" bIns="0" rIns="0">
            <a:spAutoFit/>
          </a:bodyPr>
          <a:lstStyle/>
          <a:p>
            <a:pPr algn="l">
              <a:lnSpc>
                <a:spcPts val="2911"/>
              </a:lnSpc>
            </a:pPr>
            <a:r>
              <a:rPr lang="en-US" sz="2426">
                <a:solidFill>
                  <a:srgbClr val="A7B3AD"/>
                </a:solidFill>
                <a:latin typeface="Aptos"/>
                <a:ea typeface="Aptos"/>
                <a:cs typeface="Aptos"/>
                <a:sym typeface="Aptos"/>
              </a:rPr>
              <a:t>Pose Estimation</a:t>
            </a:r>
          </a:p>
          <a:p>
            <a:pPr algn="l">
              <a:lnSpc>
                <a:spcPts val="2911"/>
              </a:lnSpc>
            </a:pPr>
          </a:p>
          <a:p>
            <a:pPr algn="l">
              <a:lnSpc>
                <a:spcPts val="2911"/>
              </a:lnSpc>
            </a:pPr>
            <a:r>
              <a:rPr lang="en-US" sz="2426">
                <a:solidFill>
                  <a:srgbClr val="A7B3AD"/>
                </a:solidFill>
                <a:latin typeface="Aptos"/>
                <a:ea typeface="Aptos"/>
                <a:cs typeface="Aptos"/>
                <a:sym typeface="Aptos"/>
              </a:rPr>
              <a:t>Human pose landmarks for movement analysis.</a:t>
            </a:r>
          </a:p>
        </p:txBody>
      </p:sp>
      <p:grpSp>
        <p:nvGrpSpPr>
          <p:cNvPr name="Group 37" id="37"/>
          <p:cNvGrpSpPr/>
          <p:nvPr/>
        </p:nvGrpSpPr>
        <p:grpSpPr>
          <a:xfrm rot="0">
            <a:off x="12209631" y="5346278"/>
            <a:ext cx="5161817" cy="2691013"/>
            <a:chOff x="0" y="0"/>
            <a:chExt cx="6882422" cy="3588017"/>
          </a:xfrm>
        </p:grpSpPr>
        <p:sp>
          <p:nvSpPr>
            <p:cNvPr name="Freeform 38" id="38"/>
            <p:cNvSpPr/>
            <p:nvPr/>
          </p:nvSpPr>
          <p:spPr>
            <a:xfrm flipH="false" flipV="false" rot="0">
              <a:off x="0" y="0"/>
              <a:ext cx="6882511" cy="3588004"/>
            </a:xfrm>
            <a:custGeom>
              <a:avLst/>
              <a:gdLst/>
              <a:ahLst/>
              <a:cxnLst/>
              <a:rect r="r" b="b" t="t" l="l"/>
              <a:pathLst>
                <a:path h="3588004" w="6882511">
                  <a:moveTo>
                    <a:pt x="0" y="598043"/>
                  </a:moveTo>
                  <a:cubicBezTo>
                    <a:pt x="0" y="267716"/>
                    <a:pt x="267716" y="0"/>
                    <a:pt x="598043" y="0"/>
                  </a:cubicBezTo>
                  <a:lnTo>
                    <a:pt x="6284468" y="0"/>
                  </a:lnTo>
                  <a:cubicBezTo>
                    <a:pt x="6614795" y="0"/>
                    <a:pt x="6882511" y="267716"/>
                    <a:pt x="6882511" y="598043"/>
                  </a:cubicBezTo>
                  <a:lnTo>
                    <a:pt x="6882511" y="2989961"/>
                  </a:lnTo>
                  <a:cubicBezTo>
                    <a:pt x="6882511" y="3320288"/>
                    <a:pt x="6614795" y="3588004"/>
                    <a:pt x="6284468" y="3588004"/>
                  </a:cubicBezTo>
                  <a:lnTo>
                    <a:pt x="598043" y="3588004"/>
                  </a:lnTo>
                  <a:cubicBezTo>
                    <a:pt x="267716" y="3588004"/>
                    <a:pt x="0" y="3320288"/>
                    <a:pt x="0" y="2989961"/>
                  </a:cubicBezTo>
                  <a:close/>
                </a:path>
              </a:pathLst>
            </a:custGeom>
            <a:solidFill>
              <a:srgbClr val="121916"/>
            </a:solidFill>
            <a:ln w="14299" cap="sq">
              <a:solidFill>
                <a:srgbClr val="303E38"/>
              </a:solidFill>
              <a:prstDash val="solid"/>
              <a:miter/>
            </a:ln>
          </p:spPr>
        </p:sp>
      </p:grpSp>
      <p:grpSp>
        <p:nvGrpSpPr>
          <p:cNvPr name="Group 39" id="39"/>
          <p:cNvGrpSpPr/>
          <p:nvPr/>
        </p:nvGrpSpPr>
        <p:grpSpPr>
          <a:xfrm rot="0">
            <a:off x="12216784" y="5353421"/>
            <a:ext cx="61770" cy="2676716"/>
            <a:chOff x="0" y="0"/>
            <a:chExt cx="82360" cy="3568954"/>
          </a:xfrm>
        </p:grpSpPr>
        <p:sp>
          <p:nvSpPr>
            <p:cNvPr name="Freeform 40" id="40"/>
            <p:cNvSpPr/>
            <p:nvPr/>
          </p:nvSpPr>
          <p:spPr>
            <a:xfrm flipH="false" flipV="false" rot="0">
              <a:off x="0" y="0"/>
              <a:ext cx="82423" cy="3568954"/>
            </a:xfrm>
            <a:custGeom>
              <a:avLst/>
              <a:gdLst/>
              <a:ahLst/>
              <a:cxnLst/>
              <a:rect r="r" b="b" t="t" l="l"/>
              <a:pathLst>
                <a:path h="3568954" w="82423">
                  <a:moveTo>
                    <a:pt x="0" y="0"/>
                  </a:moveTo>
                  <a:lnTo>
                    <a:pt x="82423" y="0"/>
                  </a:lnTo>
                  <a:lnTo>
                    <a:pt x="82423" y="3568954"/>
                  </a:lnTo>
                  <a:lnTo>
                    <a:pt x="0" y="3568954"/>
                  </a:lnTo>
                  <a:close/>
                </a:path>
              </a:pathLst>
            </a:custGeom>
            <a:solidFill>
              <a:srgbClr val="A0C432"/>
            </a:solidFill>
          </p:spPr>
        </p:sp>
      </p:grpSp>
      <p:sp>
        <p:nvSpPr>
          <p:cNvPr name="TextBox 41" id="41"/>
          <p:cNvSpPr txBox="true"/>
          <p:nvPr/>
        </p:nvSpPr>
        <p:spPr>
          <a:xfrm rot="0">
            <a:off x="12610214" y="5618769"/>
            <a:ext cx="4443022" cy="495300"/>
          </a:xfrm>
          <a:prstGeom prst="rect">
            <a:avLst/>
          </a:prstGeom>
        </p:spPr>
        <p:txBody>
          <a:bodyPr anchor="t" rtlCol="false" tIns="0" lIns="0" bIns="0" rIns="0">
            <a:spAutoFit/>
          </a:bodyPr>
          <a:lstStyle/>
          <a:p>
            <a:pPr algn="l">
              <a:lnSpc>
                <a:spcPts val="3902"/>
              </a:lnSpc>
            </a:pPr>
            <a:r>
              <a:rPr lang="en-US" sz="3251" b="true">
                <a:solidFill>
                  <a:srgbClr val="F4F7F5"/>
                </a:solidFill>
                <a:latin typeface="Aptos Bold"/>
                <a:ea typeface="Aptos Bold"/>
                <a:cs typeface="Aptos Bold"/>
                <a:sym typeface="Aptos Bold"/>
              </a:rPr>
              <a:t>Git / GitHub</a:t>
            </a:r>
          </a:p>
        </p:txBody>
      </p:sp>
      <p:sp>
        <p:nvSpPr>
          <p:cNvPr name="TextBox 42" id="42"/>
          <p:cNvSpPr txBox="true"/>
          <p:nvPr/>
        </p:nvSpPr>
        <p:spPr>
          <a:xfrm rot="0">
            <a:off x="12610214" y="6295577"/>
            <a:ext cx="4443022" cy="1457325"/>
          </a:xfrm>
          <a:prstGeom prst="rect">
            <a:avLst/>
          </a:prstGeom>
        </p:spPr>
        <p:txBody>
          <a:bodyPr anchor="t" rtlCol="false" tIns="0" lIns="0" bIns="0" rIns="0">
            <a:spAutoFit/>
          </a:bodyPr>
          <a:lstStyle/>
          <a:p>
            <a:pPr algn="l">
              <a:lnSpc>
                <a:spcPts val="2911"/>
              </a:lnSpc>
            </a:pPr>
            <a:r>
              <a:rPr lang="en-US" sz="2426">
                <a:solidFill>
                  <a:srgbClr val="A7B3AD"/>
                </a:solidFill>
                <a:latin typeface="Aptos"/>
                <a:ea typeface="Aptos"/>
                <a:cs typeface="Aptos"/>
                <a:sym typeface="Aptos"/>
              </a:rPr>
              <a:t>Development</a:t>
            </a:r>
          </a:p>
          <a:p>
            <a:pPr algn="l">
              <a:lnSpc>
                <a:spcPts val="2911"/>
              </a:lnSpc>
            </a:pPr>
          </a:p>
          <a:p>
            <a:pPr algn="l">
              <a:lnSpc>
                <a:spcPts val="2911"/>
              </a:lnSpc>
            </a:pPr>
            <a:r>
              <a:rPr lang="en-US" sz="2426">
                <a:solidFill>
                  <a:srgbClr val="A7B3AD"/>
                </a:solidFill>
                <a:latin typeface="Aptos"/>
                <a:ea typeface="Aptos"/>
                <a:cs typeface="Aptos"/>
                <a:sym typeface="Aptos"/>
              </a:rPr>
              <a:t>Version control and collaborative workflow.</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080C0B"/>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96088"/>
            <a:chOff x="0" y="0"/>
            <a:chExt cx="24402453" cy="128118"/>
          </a:xfrm>
        </p:grpSpPr>
        <p:sp>
          <p:nvSpPr>
            <p:cNvPr name="Freeform 3" id="3"/>
            <p:cNvSpPr/>
            <p:nvPr/>
          </p:nvSpPr>
          <p:spPr>
            <a:xfrm flipH="false" flipV="false" rot="0">
              <a:off x="0" y="0"/>
              <a:ext cx="24402414" cy="128143"/>
            </a:xfrm>
            <a:custGeom>
              <a:avLst/>
              <a:gdLst/>
              <a:ahLst/>
              <a:cxnLst/>
              <a:rect r="r" b="b" t="t" l="l"/>
              <a:pathLst>
                <a:path h="128143" w="24402414">
                  <a:moveTo>
                    <a:pt x="0" y="0"/>
                  </a:moveTo>
                  <a:lnTo>
                    <a:pt x="24402414" y="0"/>
                  </a:lnTo>
                  <a:lnTo>
                    <a:pt x="24402414" y="128143"/>
                  </a:lnTo>
                  <a:lnTo>
                    <a:pt x="0" y="128143"/>
                  </a:lnTo>
                  <a:close/>
                </a:path>
              </a:pathLst>
            </a:custGeom>
            <a:solidFill>
              <a:srgbClr val="A0C432"/>
            </a:solidFill>
          </p:spPr>
        </p:sp>
      </p:grpSp>
      <p:sp>
        <p:nvSpPr>
          <p:cNvPr name="TextBox 4" id="4"/>
          <p:cNvSpPr txBox="true"/>
          <p:nvPr/>
        </p:nvSpPr>
        <p:spPr>
          <a:xfrm rot="0">
            <a:off x="983675" y="539887"/>
            <a:ext cx="3759398" cy="695325"/>
          </a:xfrm>
          <a:prstGeom prst="rect">
            <a:avLst/>
          </a:prstGeom>
        </p:spPr>
        <p:txBody>
          <a:bodyPr anchor="t" rtlCol="false" tIns="0" lIns="0" bIns="0" rIns="0">
            <a:spAutoFit/>
          </a:bodyPr>
          <a:lstStyle/>
          <a:p>
            <a:pPr algn="l">
              <a:lnSpc>
                <a:spcPts val="5523"/>
              </a:lnSpc>
            </a:pPr>
            <a:r>
              <a:rPr lang="en-US" sz="4603" b="true">
                <a:solidFill>
                  <a:srgbClr val="F4F7F5"/>
                </a:solidFill>
                <a:latin typeface="Aptos Bold"/>
                <a:ea typeface="Aptos Bold"/>
                <a:cs typeface="Aptos Bold"/>
                <a:sym typeface="Aptos Bold"/>
              </a:rPr>
              <a:t>Core Features</a:t>
            </a:r>
          </a:p>
        </p:txBody>
      </p:sp>
      <p:sp>
        <p:nvSpPr>
          <p:cNvPr name="TextBox 5" id="5"/>
          <p:cNvSpPr txBox="true"/>
          <p:nvPr/>
        </p:nvSpPr>
        <p:spPr>
          <a:xfrm rot="0">
            <a:off x="1011126" y="1294848"/>
            <a:ext cx="14916512" cy="333375"/>
          </a:xfrm>
          <a:prstGeom prst="rect">
            <a:avLst/>
          </a:prstGeom>
        </p:spPr>
        <p:txBody>
          <a:bodyPr anchor="t" rtlCol="false" tIns="0" lIns="0" bIns="0" rIns="0">
            <a:spAutoFit/>
          </a:bodyPr>
          <a:lstStyle/>
          <a:p>
            <a:pPr algn="l">
              <a:lnSpc>
                <a:spcPts val="2641"/>
              </a:lnSpc>
            </a:pPr>
            <a:r>
              <a:rPr lang="en-US" sz="2201">
                <a:solidFill>
                  <a:srgbClr val="A7B3AD"/>
                </a:solidFill>
                <a:latin typeface="Aptos"/>
                <a:ea typeface="Aptos"/>
                <a:cs typeface="Aptos"/>
                <a:sym typeface="Aptos"/>
              </a:rPr>
              <a:t>Key modules implemented in the application</a:t>
            </a:r>
          </a:p>
        </p:txBody>
      </p:sp>
      <p:sp>
        <p:nvSpPr>
          <p:cNvPr name="TextBox 6" id="6"/>
          <p:cNvSpPr txBox="true"/>
          <p:nvPr/>
        </p:nvSpPr>
        <p:spPr>
          <a:xfrm rot="0">
            <a:off x="16632145" y="594789"/>
            <a:ext cx="572091" cy="251727"/>
          </a:xfrm>
          <a:prstGeom prst="rect">
            <a:avLst/>
          </a:prstGeom>
        </p:spPr>
        <p:txBody>
          <a:bodyPr anchor="t" rtlCol="false" tIns="0" lIns="0" bIns="0" rIns="0">
            <a:spAutoFit/>
          </a:bodyPr>
          <a:lstStyle/>
          <a:p>
            <a:pPr algn="r">
              <a:lnSpc>
                <a:spcPts val="1801"/>
              </a:lnSpc>
            </a:pPr>
            <a:r>
              <a:rPr lang="en-US" b="true" sz="1501">
                <a:solidFill>
                  <a:srgbClr val="A0C432"/>
                </a:solidFill>
                <a:latin typeface="Aptos Bold"/>
                <a:ea typeface="Aptos Bold"/>
                <a:cs typeface="Aptos Bold"/>
                <a:sym typeface="Aptos Bold"/>
              </a:rPr>
              <a:t>07</a:t>
            </a:r>
          </a:p>
        </p:txBody>
      </p:sp>
      <p:grpSp>
        <p:nvGrpSpPr>
          <p:cNvPr name="Group 7" id="7"/>
          <p:cNvGrpSpPr/>
          <p:nvPr/>
        </p:nvGrpSpPr>
        <p:grpSpPr>
          <a:xfrm rot="0">
            <a:off x="953719" y="2120494"/>
            <a:ext cx="7838532" cy="1771317"/>
            <a:chOff x="0" y="0"/>
            <a:chExt cx="10451376" cy="2361756"/>
          </a:xfrm>
        </p:grpSpPr>
        <p:sp>
          <p:nvSpPr>
            <p:cNvPr name="Freeform 8" id="8"/>
            <p:cNvSpPr/>
            <p:nvPr/>
          </p:nvSpPr>
          <p:spPr>
            <a:xfrm flipH="false" flipV="false" rot="0">
              <a:off x="0" y="0"/>
              <a:ext cx="10451338" cy="2361692"/>
            </a:xfrm>
            <a:custGeom>
              <a:avLst/>
              <a:gdLst/>
              <a:ahLst/>
              <a:cxnLst/>
              <a:rect r="r" b="b" t="t" l="l"/>
              <a:pathLst>
                <a:path h="2361692" w="10451338">
                  <a:moveTo>
                    <a:pt x="0" y="393573"/>
                  </a:moveTo>
                  <a:cubicBezTo>
                    <a:pt x="0" y="176276"/>
                    <a:pt x="176276" y="0"/>
                    <a:pt x="393573" y="0"/>
                  </a:cubicBezTo>
                  <a:lnTo>
                    <a:pt x="10057765" y="0"/>
                  </a:lnTo>
                  <a:cubicBezTo>
                    <a:pt x="10275189" y="0"/>
                    <a:pt x="10451338" y="176276"/>
                    <a:pt x="10451338" y="393573"/>
                  </a:cubicBezTo>
                  <a:lnTo>
                    <a:pt x="10451338" y="1968119"/>
                  </a:lnTo>
                  <a:cubicBezTo>
                    <a:pt x="10451338" y="2185543"/>
                    <a:pt x="10275062" y="2361692"/>
                    <a:pt x="10057765" y="2361692"/>
                  </a:cubicBezTo>
                  <a:lnTo>
                    <a:pt x="393573" y="2361692"/>
                  </a:lnTo>
                  <a:cubicBezTo>
                    <a:pt x="176276" y="2361819"/>
                    <a:pt x="0" y="2185543"/>
                    <a:pt x="0" y="1968119"/>
                  </a:cubicBezTo>
                  <a:close/>
                </a:path>
              </a:pathLst>
            </a:custGeom>
            <a:solidFill>
              <a:srgbClr val="121916"/>
            </a:solidFill>
            <a:ln w="14299" cap="sq">
              <a:solidFill>
                <a:srgbClr val="303E38"/>
              </a:solidFill>
              <a:prstDash val="solid"/>
              <a:miter/>
            </a:ln>
          </p:spPr>
        </p:sp>
      </p:grpSp>
      <p:grpSp>
        <p:nvGrpSpPr>
          <p:cNvPr name="Group 9" id="9"/>
          <p:cNvGrpSpPr/>
          <p:nvPr/>
        </p:nvGrpSpPr>
        <p:grpSpPr>
          <a:xfrm rot="0">
            <a:off x="960872" y="2127647"/>
            <a:ext cx="61770" cy="1757020"/>
            <a:chOff x="0" y="0"/>
            <a:chExt cx="82360" cy="2342693"/>
          </a:xfrm>
        </p:grpSpPr>
        <p:sp>
          <p:nvSpPr>
            <p:cNvPr name="Freeform 10" id="10"/>
            <p:cNvSpPr/>
            <p:nvPr/>
          </p:nvSpPr>
          <p:spPr>
            <a:xfrm flipH="false" flipV="false" rot="0">
              <a:off x="0" y="0"/>
              <a:ext cx="82423" cy="2342642"/>
            </a:xfrm>
            <a:custGeom>
              <a:avLst/>
              <a:gdLst/>
              <a:ahLst/>
              <a:cxnLst/>
              <a:rect r="r" b="b" t="t" l="l"/>
              <a:pathLst>
                <a:path h="2342642" w="82423">
                  <a:moveTo>
                    <a:pt x="0" y="0"/>
                  </a:moveTo>
                  <a:lnTo>
                    <a:pt x="82423" y="0"/>
                  </a:lnTo>
                  <a:lnTo>
                    <a:pt x="82423" y="2342642"/>
                  </a:lnTo>
                  <a:lnTo>
                    <a:pt x="0" y="2342642"/>
                  </a:lnTo>
                  <a:close/>
                </a:path>
              </a:pathLst>
            </a:custGeom>
            <a:solidFill>
              <a:srgbClr val="A0C432"/>
            </a:solidFill>
          </p:spPr>
        </p:sp>
      </p:grpSp>
      <p:sp>
        <p:nvSpPr>
          <p:cNvPr name="TextBox 11" id="11"/>
          <p:cNvSpPr txBox="true"/>
          <p:nvPr/>
        </p:nvSpPr>
        <p:spPr>
          <a:xfrm rot="0">
            <a:off x="1354293" y="2392994"/>
            <a:ext cx="7119737" cy="495300"/>
          </a:xfrm>
          <a:prstGeom prst="rect">
            <a:avLst/>
          </a:prstGeom>
        </p:spPr>
        <p:txBody>
          <a:bodyPr anchor="t" rtlCol="false" tIns="0" lIns="0" bIns="0" rIns="0">
            <a:spAutoFit/>
          </a:bodyPr>
          <a:lstStyle/>
          <a:p>
            <a:pPr algn="l">
              <a:lnSpc>
                <a:spcPts val="3902"/>
              </a:lnSpc>
            </a:pPr>
            <a:r>
              <a:rPr lang="en-US" sz="3251" b="true">
                <a:solidFill>
                  <a:srgbClr val="F4F7F5"/>
                </a:solidFill>
                <a:latin typeface="Aptos Bold"/>
                <a:ea typeface="Aptos Bold"/>
                <a:cs typeface="Aptos Bold"/>
                <a:sym typeface="Aptos Bold"/>
              </a:rPr>
              <a:t>Athlete Management</a:t>
            </a:r>
          </a:p>
        </p:txBody>
      </p:sp>
      <p:sp>
        <p:nvSpPr>
          <p:cNvPr name="TextBox 12" id="12"/>
          <p:cNvSpPr txBox="true"/>
          <p:nvPr/>
        </p:nvSpPr>
        <p:spPr>
          <a:xfrm rot="0">
            <a:off x="1354293" y="3069803"/>
            <a:ext cx="7119737" cy="371475"/>
          </a:xfrm>
          <a:prstGeom prst="rect">
            <a:avLst/>
          </a:prstGeom>
        </p:spPr>
        <p:txBody>
          <a:bodyPr anchor="t" rtlCol="false" tIns="0" lIns="0" bIns="0" rIns="0">
            <a:spAutoFit/>
          </a:bodyPr>
          <a:lstStyle/>
          <a:p>
            <a:pPr algn="l">
              <a:lnSpc>
                <a:spcPts val="2911"/>
              </a:lnSpc>
            </a:pPr>
            <a:r>
              <a:rPr lang="en-US" sz="2426">
                <a:solidFill>
                  <a:srgbClr val="A7B3AD"/>
                </a:solidFill>
                <a:latin typeface="Aptos"/>
                <a:ea typeface="Aptos"/>
                <a:cs typeface="Aptos"/>
                <a:sym typeface="Aptos"/>
              </a:rPr>
              <a:t>Register and maintain athlete information.</a:t>
            </a:r>
          </a:p>
        </p:txBody>
      </p:sp>
      <p:grpSp>
        <p:nvGrpSpPr>
          <p:cNvPr name="Group 13" id="13"/>
          <p:cNvGrpSpPr/>
          <p:nvPr/>
        </p:nvGrpSpPr>
        <p:grpSpPr>
          <a:xfrm rot="0">
            <a:off x="9258386" y="2120494"/>
            <a:ext cx="7838532" cy="1771317"/>
            <a:chOff x="0" y="0"/>
            <a:chExt cx="10451376" cy="2361756"/>
          </a:xfrm>
        </p:grpSpPr>
        <p:sp>
          <p:nvSpPr>
            <p:cNvPr name="Freeform 14" id="14"/>
            <p:cNvSpPr/>
            <p:nvPr/>
          </p:nvSpPr>
          <p:spPr>
            <a:xfrm flipH="false" flipV="false" rot="0">
              <a:off x="0" y="0"/>
              <a:ext cx="10451338" cy="2361692"/>
            </a:xfrm>
            <a:custGeom>
              <a:avLst/>
              <a:gdLst/>
              <a:ahLst/>
              <a:cxnLst/>
              <a:rect r="r" b="b" t="t" l="l"/>
              <a:pathLst>
                <a:path h="2361692" w="10451338">
                  <a:moveTo>
                    <a:pt x="0" y="393573"/>
                  </a:moveTo>
                  <a:cubicBezTo>
                    <a:pt x="0" y="176276"/>
                    <a:pt x="176276" y="0"/>
                    <a:pt x="393573" y="0"/>
                  </a:cubicBezTo>
                  <a:lnTo>
                    <a:pt x="10057765" y="0"/>
                  </a:lnTo>
                  <a:cubicBezTo>
                    <a:pt x="10275189" y="0"/>
                    <a:pt x="10451338" y="176276"/>
                    <a:pt x="10451338" y="393573"/>
                  </a:cubicBezTo>
                  <a:lnTo>
                    <a:pt x="10451338" y="1968119"/>
                  </a:lnTo>
                  <a:cubicBezTo>
                    <a:pt x="10451338" y="2185543"/>
                    <a:pt x="10275062" y="2361692"/>
                    <a:pt x="10057765" y="2361692"/>
                  </a:cubicBezTo>
                  <a:lnTo>
                    <a:pt x="393573" y="2361692"/>
                  </a:lnTo>
                  <a:cubicBezTo>
                    <a:pt x="176276" y="2361819"/>
                    <a:pt x="0" y="2185543"/>
                    <a:pt x="0" y="1968119"/>
                  </a:cubicBezTo>
                  <a:close/>
                </a:path>
              </a:pathLst>
            </a:custGeom>
            <a:solidFill>
              <a:srgbClr val="121916"/>
            </a:solidFill>
            <a:ln w="14299" cap="sq">
              <a:solidFill>
                <a:srgbClr val="303E38"/>
              </a:solidFill>
              <a:prstDash val="solid"/>
              <a:miter/>
            </a:ln>
          </p:spPr>
        </p:sp>
      </p:grpSp>
      <p:grpSp>
        <p:nvGrpSpPr>
          <p:cNvPr name="Group 15" id="15"/>
          <p:cNvGrpSpPr/>
          <p:nvPr/>
        </p:nvGrpSpPr>
        <p:grpSpPr>
          <a:xfrm rot="0">
            <a:off x="9265539" y="2127647"/>
            <a:ext cx="61770" cy="1757020"/>
            <a:chOff x="0" y="0"/>
            <a:chExt cx="82360" cy="2342693"/>
          </a:xfrm>
        </p:grpSpPr>
        <p:sp>
          <p:nvSpPr>
            <p:cNvPr name="Freeform 16" id="16"/>
            <p:cNvSpPr/>
            <p:nvPr/>
          </p:nvSpPr>
          <p:spPr>
            <a:xfrm flipH="false" flipV="false" rot="0">
              <a:off x="0" y="0"/>
              <a:ext cx="82423" cy="2342642"/>
            </a:xfrm>
            <a:custGeom>
              <a:avLst/>
              <a:gdLst/>
              <a:ahLst/>
              <a:cxnLst/>
              <a:rect r="r" b="b" t="t" l="l"/>
              <a:pathLst>
                <a:path h="2342642" w="82423">
                  <a:moveTo>
                    <a:pt x="0" y="0"/>
                  </a:moveTo>
                  <a:lnTo>
                    <a:pt x="82423" y="0"/>
                  </a:lnTo>
                  <a:lnTo>
                    <a:pt x="82423" y="2342642"/>
                  </a:lnTo>
                  <a:lnTo>
                    <a:pt x="0" y="2342642"/>
                  </a:lnTo>
                  <a:close/>
                </a:path>
              </a:pathLst>
            </a:custGeom>
            <a:solidFill>
              <a:srgbClr val="A0C432"/>
            </a:solidFill>
          </p:spPr>
        </p:sp>
      </p:grpSp>
      <p:sp>
        <p:nvSpPr>
          <p:cNvPr name="TextBox 17" id="17"/>
          <p:cNvSpPr txBox="true"/>
          <p:nvPr/>
        </p:nvSpPr>
        <p:spPr>
          <a:xfrm rot="0">
            <a:off x="9658969" y="2402519"/>
            <a:ext cx="7119737" cy="476250"/>
          </a:xfrm>
          <a:prstGeom prst="rect">
            <a:avLst/>
          </a:prstGeom>
        </p:spPr>
        <p:txBody>
          <a:bodyPr anchor="t" rtlCol="false" tIns="0" lIns="0" bIns="0" rIns="0">
            <a:spAutoFit/>
          </a:bodyPr>
          <a:lstStyle/>
          <a:p>
            <a:pPr algn="l">
              <a:lnSpc>
                <a:spcPts val="3899"/>
              </a:lnSpc>
            </a:pPr>
            <a:r>
              <a:rPr lang="en-US" sz="3249" b="true">
                <a:solidFill>
                  <a:srgbClr val="F4F7F5"/>
                </a:solidFill>
                <a:latin typeface="Aptos Bold"/>
                <a:ea typeface="Aptos Bold"/>
                <a:cs typeface="Aptos Bold"/>
                <a:sym typeface="Aptos Bold"/>
              </a:rPr>
              <a:t>Coach Dashboard</a:t>
            </a:r>
          </a:p>
        </p:txBody>
      </p:sp>
      <p:sp>
        <p:nvSpPr>
          <p:cNvPr name="TextBox 18" id="18"/>
          <p:cNvSpPr txBox="true"/>
          <p:nvPr/>
        </p:nvSpPr>
        <p:spPr>
          <a:xfrm rot="0">
            <a:off x="9658969" y="3069803"/>
            <a:ext cx="7119737" cy="371475"/>
          </a:xfrm>
          <a:prstGeom prst="rect">
            <a:avLst/>
          </a:prstGeom>
        </p:spPr>
        <p:txBody>
          <a:bodyPr anchor="t" rtlCol="false" tIns="0" lIns="0" bIns="0" rIns="0">
            <a:spAutoFit/>
          </a:bodyPr>
          <a:lstStyle/>
          <a:p>
            <a:pPr algn="l">
              <a:lnSpc>
                <a:spcPts val="2911"/>
              </a:lnSpc>
            </a:pPr>
            <a:r>
              <a:rPr lang="en-US" sz="2426">
                <a:solidFill>
                  <a:srgbClr val="A7B3AD"/>
                </a:solidFill>
                <a:latin typeface="Aptos"/>
                <a:ea typeface="Aptos"/>
                <a:cs typeface="Aptos"/>
                <a:sym typeface="Aptos"/>
              </a:rPr>
              <a:t>View athlete and analysis-level information.</a:t>
            </a:r>
          </a:p>
        </p:txBody>
      </p:sp>
      <p:grpSp>
        <p:nvGrpSpPr>
          <p:cNvPr name="Group 19" id="19"/>
          <p:cNvGrpSpPr/>
          <p:nvPr/>
        </p:nvGrpSpPr>
        <p:grpSpPr>
          <a:xfrm rot="0">
            <a:off x="953719" y="4248131"/>
            <a:ext cx="7838532" cy="1771317"/>
            <a:chOff x="0" y="0"/>
            <a:chExt cx="10451376" cy="2361756"/>
          </a:xfrm>
        </p:grpSpPr>
        <p:sp>
          <p:nvSpPr>
            <p:cNvPr name="Freeform 20" id="20"/>
            <p:cNvSpPr/>
            <p:nvPr/>
          </p:nvSpPr>
          <p:spPr>
            <a:xfrm flipH="false" flipV="false" rot="0">
              <a:off x="0" y="0"/>
              <a:ext cx="10451338" cy="2361692"/>
            </a:xfrm>
            <a:custGeom>
              <a:avLst/>
              <a:gdLst/>
              <a:ahLst/>
              <a:cxnLst/>
              <a:rect r="r" b="b" t="t" l="l"/>
              <a:pathLst>
                <a:path h="2361692" w="10451338">
                  <a:moveTo>
                    <a:pt x="0" y="393573"/>
                  </a:moveTo>
                  <a:cubicBezTo>
                    <a:pt x="0" y="176276"/>
                    <a:pt x="176276" y="0"/>
                    <a:pt x="393573" y="0"/>
                  </a:cubicBezTo>
                  <a:lnTo>
                    <a:pt x="10057765" y="0"/>
                  </a:lnTo>
                  <a:cubicBezTo>
                    <a:pt x="10275189" y="0"/>
                    <a:pt x="10451338" y="176276"/>
                    <a:pt x="10451338" y="393573"/>
                  </a:cubicBezTo>
                  <a:lnTo>
                    <a:pt x="10451338" y="1968119"/>
                  </a:lnTo>
                  <a:cubicBezTo>
                    <a:pt x="10451338" y="2185543"/>
                    <a:pt x="10275062" y="2361692"/>
                    <a:pt x="10057765" y="2361692"/>
                  </a:cubicBezTo>
                  <a:lnTo>
                    <a:pt x="393573" y="2361692"/>
                  </a:lnTo>
                  <a:cubicBezTo>
                    <a:pt x="176276" y="2361819"/>
                    <a:pt x="0" y="2185543"/>
                    <a:pt x="0" y="1968119"/>
                  </a:cubicBezTo>
                  <a:close/>
                </a:path>
              </a:pathLst>
            </a:custGeom>
            <a:solidFill>
              <a:srgbClr val="121916"/>
            </a:solidFill>
            <a:ln w="14299" cap="sq">
              <a:solidFill>
                <a:srgbClr val="303E38"/>
              </a:solidFill>
              <a:prstDash val="solid"/>
              <a:miter/>
            </a:ln>
          </p:spPr>
        </p:sp>
      </p:grpSp>
      <p:grpSp>
        <p:nvGrpSpPr>
          <p:cNvPr name="Group 21" id="21"/>
          <p:cNvGrpSpPr/>
          <p:nvPr/>
        </p:nvGrpSpPr>
        <p:grpSpPr>
          <a:xfrm rot="0">
            <a:off x="960872" y="4255284"/>
            <a:ext cx="61770" cy="1757020"/>
            <a:chOff x="0" y="0"/>
            <a:chExt cx="82360" cy="2342693"/>
          </a:xfrm>
        </p:grpSpPr>
        <p:sp>
          <p:nvSpPr>
            <p:cNvPr name="Freeform 22" id="22"/>
            <p:cNvSpPr/>
            <p:nvPr/>
          </p:nvSpPr>
          <p:spPr>
            <a:xfrm flipH="false" flipV="false" rot="0">
              <a:off x="0" y="0"/>
              <a:ext cx="82423" cy="2342642"/>
            </a:xfrm>
            <a:custGeom>
              <a:avLst/>
              <a:gdLst/>
              <a:ahLst/>
              <a:cxnLst/>
              <a:rect r="r" b="b" t="t" l="l"/>
              <a:pathLst>
                <a:path h="2342642" w="82423">
                  <a:moveTo>
                    <a:pt x="0" y="0"/>
                  </a:moveTo>
                  <a:lnTo>
                    <a:pt x="82423" y="0"/>
                  </a:lnTo>
                  <a:lnTo>
                    <a:pt x="82423" y="2342642"/>
                  </a:lnTo>
                  <a:lnTo>
                    <a:pt x="0" y="2342642"/>
                  </a:lnTo>
                  <a:close/>
                </a:path>
              </a:pathLst>
            </a:custGeom>
            <a:solidFill>
              <a:srgbClr val="A0C432"/>
            </a:solidFill>
          </p:spPr>
        </p:sp>
      </p:grpSp>
      <p:sp>
        <p:nvSpPr>
          <p:cNvPr name="TextBox 23" id="23"/>
          <p:cNvSpPr txBox="true"/>
          <p:nvPr/>
        </p:nvSpPr>
        <p:spPr>
          <a:xfrm rot="0">
            <a:off x="1354293" y="4530157"/>
            <a:ext cx="7119737" cy="476250"/>
          </a:xfrm>
          <a:prstGeom prst="rect">
            <a:avLst/>
          </a:prstGeom>
        </p:spPr>
        <p:txBody>
          <a:bodyPr anchor="t" rtlCol="false" tIns="0" lIns="0" bIns="0" rIns="0">
            <a:spAutoFit/>
          </a:bodyPr>
          <a:lstStyle/>
          <a:p>
            <a:pPr algn="l">
              <a:lnSpc>
                <a:spcPts val="3899"/>
              </a:lnSpc>
            </a:pPr>
            <a:r>
              <a:rPr lang="en-US" sz="3249" b="true">
                <a:solidFill>
                  <a:srgbClr val="F4F7F5"/>
                </a:solidFill>
                <a:latin typeface="Aptos Bold"/>
                <a:ea typeface="Aptos Bold"/>
                <a:cs typeface="Aptos Bold"/>
                <a:sym typeface="Aptos Bold"/>
              </a:rPr>
              <a:t>Video Upload</a:t>
            </a:r>
          </a:p>
        </p:txBody>
      </p:sp>
      <p:sp>
        <p:nvSpPr>
          <p:cNvPr name="TextBox 24" id="24"/>
          <p:cNvSpPr txBox="true"/>
          <p:nvPr/>
        </p:nvSpPr>
        <p:spPr>
          <a:xfrm rot="0">
            <a:off x="1354293" y="5197440"/>
            <a:ext cx="7119737" cy="371475"/>
          </a:xfrm>
          <a:prstGeom prst="rect">
            <a:avLst/>
          </a:prstGeom>
        </p:spPr>
        <p:txBody>
          <a:bodyPr anchor="t" rtlCol="false" tIns="0" lIns="0" bIns="0" rIns="0">
            <a:spAutoFit/>
          </a:bodyPr>
          <a:lstStyle/>
          <a:p>
            <a:pPr algn="l">
              <a:lnSpc>
                <a:spcPts val="2911"/>
              </a:lnSpc>
            </a:pPr>
            <a:r>
              <a:rPr lang="en-US" sz="2426">
                <a:solidFill>
                  <a:srgbClr val="A7B3AD"/>
                </a:solidFill>
                <a:latin typeface="Aptos"/>
                <a:ea typeface="Aptos"/>
                <a:cs typeface="Aptos"/>
                <a:sym typeface="Aptos"/>
              </a:rPr>
              <a:t>Select an athlete and submit a performance video.</a:t>
            </a:r>
          </a:p>
        </p:txBody>
      </p:sp>
      <p:grpSp>
        <p:nvGrpSpPr>
          <p:cNvPr name="Group 25" id="25"/>
          <p:cNvGrpSpPr/>
          <p:nvPr/>
        </p:nvGrpSpPr>
        <p:grpSpPr>
          <a:xfrm rot="0">
            <a:off x="9258386" y="4248131"/>
            <a:ext cx="7838532" cy="1771317"/>
            <a:chOff x="0" y="0"/>
            <a:chExt cx="10451376" cy="2361756"/>
          </a:xfrm>
        </p:grpSpPr>
        <p:sp>
          <p:nvSpPr>
            <p:cNvPr name="Freeform 26" id="26"/>
            <p:cNvSpPr/>
            <p:nvPr/>
          </p:nvSpPr>
          <p:spPr>
            <a:xfrm flipH="false" flipV="false" rot="0">
              <a:off x="0" y="0"/>
              <a:ext cx="10451338" cy="2361692"/>
            </a:xfrm>
            <a:custGeom>
              <a:avLst/>
              <a:gdLst/>
              <a:ahLst/>
              <a:cxnLst/>
              <a:rect r="r" b="b" t="t" l="l"/>
              <a:pathLst>
                <a:path h="2361692" w="10451338">
                  <a:moveTo>
                    <a:pt x="0" y="393573"/>
                  </a:moveTo>
                  <a:cubicBezTo>
                    <a:pt x="0" y="176276"/>
                    <a:pt x="176276" y="0"/>
                    <a:pt x="393573" y="0"/>
                  </a:cubicBezTo>
                  <a:lnTo>
                    <a:pt x="10057765" y="0"/>
                  </a:lnTo>
                  <a:cubicBezTo>
                    <a:pt x="10275189" y="0"/>
                    <a:pt x="10451338" y="176276"/>
                    <a:pt x="10451338" y="393573"/>
                  </a:cubicBezTo>
                  <a:lnTo>
                    <a:pt x="10451338" y="1968119"/>
                  </a:lnTo>
                  <a:cubicBezTo>
                    <a:pt x="10451338" y="2185543"/>
                    <a:pt x="10275062" y="2361692"/>
                    <a:pt x="10057765" y="2361692"/>
                  </a:cubicBezTo>
                  <a:lnTo>
                    <a:pt x="393573" y="2361692"/>
                  </a:lnTo>
                  <a:cubicBezTo>
                    <a:pt x="176276" y="2361819"/>
                    <a:pt x="0" y="2185543"/>
                    <a:pt x="0" y="1968119"/>
                  </a:cubicBezTo>
                  <a:close/>
                </a:path>
              </a:pathLst>
            </a:custGeom>
            <a:solidFill>
              <a:srgbClr val="121916"/>
            </a:solidFill>
            <a:ln w="14299" cap="sq">
              <a:solidFill>
                <a:srgbClr val="303E38"/>
              </a:solidFill>
              <a:prstDash val="solid"/>
              <a:miter/>
            </a:ln>
          </p:spPr>
        </p:sp>
      </p:grpSp>
      <p:grpSp>
        <p:nvGrpSpPr>
          <p:cNvPr name="Group 27" id="27"/>
          <p:cNvGrpSpPr/>
          <p:nvPr/>
        </p:nvGrpSpPr>
        <p:grpSpPr>
          <a:xfrm rot="0">
            <a:off x="9265539" y="4255284"/>
            <a:ext cx="61770" cy="1757020"/>
            <a:chOff x="0" y="0"/>
            <a:chExt cx="82360" cy="2342693"/>
          </a:xfrm>
        </p:grpSpPr>
        <p:sp>
          <p:nvSpPr>
            <p:cNvPr name="Freeform 28" id="28"/>
            <p:cNvSpPr/>
            <p:nvPr/>
          </p:nvSpPr>
          <p:spPr>
            <a:xfrm flipH="false" flipV="false" rot="0">
              <a:off x="0" y="0"/>
              <a:ext cx="82423" cy="2342642"/>
            </a:xfrm>
            <a:custGeom>
              <a:avLst/>
              <a:gdLst/>
              <a:ahLst/>
              <a:cxnLst/>
              <a:rect r="r" b="b" t="t" l="l"/>
              <a:pathLst>
                <a:path h="2342642" w="82423">
                  <a:moveTo>
                    <a:pt x="0" y="0"/>
                  </a:moveTo>
                  <a:lnTo>
                    <a:pt x="82423" y="0"/>
                  </a:lnTo>
                  <a:lnTo>
                    <a:pt x="82423" y="2342642"/>
                  </a:lnTo>
                  <a:lnTo>
                    <a:pt x="0" y="2342642"/>
                  </a:lnTo>
                  <a:close/>
                </a:path>
              </a:pathLst>
            </a:custGeom>
            <a:solidFill>
              <a:srgbClr val="A0C432"/>
            </a:solidFill>
          </p:spPr>
        </p:sp>
      </p:grpSp>
      <p:sp>
        <p:nvSpPr>
          <p:cNvPr name="TextBox 29" id="29"/>
          <p:cNvSpPr txBox="true"/>
          <p:nvPr/>
        </p:nvSpPr>
        <p:spPr>
          <a:xfrm rot="0">
            <a:off x="9658969" y="4530157"/>
            <a:ext cx="7119737" cy="476250"/>
          </a:xfrm>
          <a:prstGeom prst="rect">
            <a:avLst/>
          </a:prstGeom>
        </p:spPr>
        <p:txBody>
          <a:bodyPr anchor="t" rtlCol="false" tIns="0" lIns="0" bIns="0" rIns="0">
            <a:spAutoFit/>
          </a:bodyPr>
          <a:lstStyle/>
          <a:p>
            <a:pPr algn="l">
              <a:lnSpc>
                <a:spcPts val="3899"/>
              </a:lnSpc>
            </a:pPr>
            <a:r>
              <a:rPr lang="en-US" sz="3249" b="true">
                <a:solidFill>
                  <a:srgbClr val="F4F7F5"/>
                </a:solidFill>
                <a:latin typeface="Aptos Bold"/>
                <a:ea typeface="Aptos Bold"/>
                <a:cs typeface="Aptos Bold"/>
                <a:sym typeface="Aptos Bold"/>
              </a:rPr>
              <a:t>Pose Processing</a:t>
            </a:r>
          </a:p>
        </p:txBody>
      </p:sp>
      <p:sp>
        <p:nvSpPr>
          <p:cNvPr name="TextBox 30" id="30"/>
          <p:cNvSpPr txBox="true"/>
          <p:nvPr/>
        </p:nvSpPr>
        <p:spPr>
          <a:xfrm rot="0">
            <a:off x="9658969" y="5197440"/>
            <a:ext cx="7119737" cy="371475"/>
          </a:xfrm>
          <a:prstGeom prst="rect">
            <a:avLst/>
          </a:prstGeom>
        </p:spPr>
        <p:txBody>
          <a:bodyPr anchor="t" rtlCol="false" tIns="0" lIns="0" bIns="0" rIns="0">
            <a:spAutoFit/>
          </a:bodyPr>
          <a:lstStyle/>
          <a:p>
            <a:pPr algn="l">
              <a:lnSpc>
                <a:spcPts val="2911"/>
              </a:lnSpc>
            </a:pPr>
            <a:r>
              <a:rPr lang="en-US" sz="2426">
                <a:solidFill>
                  <a:srgbClr val="A7B3AD"/>
                </a:solidFill>
                <a:latin typeface="Aptos"/>
                <a:ea typeface="Aptos"/>
                <a:cs typeface="Aptos"/>
                <a:sym typeface="Aptos"/>
              </a:rPr>
              <a:t>Process video and extract movement information.</a:t>
            </a:r>
          </a:p>
        </p:txBody>
      </p:sp>
      <p:grpSp>
        <p:nvGrpSpPr>
          <p:cNvPr name="Group 31" id="31"/>
          <p:cNvGrpSpPr/>
          <p:nvPr/>
        </p:nvGrpSpPr>
        <p:grpSpPr>
          <a:xfrm rot="0">
            <a:off x="953719" y="6390923"/>
            <a:ext cx="7838532" cy="1771317"/>
            <a:chOff x="0" y="0"/>
            <a:chExt cx="10451376" cy="2361756"/>
          </a:xfrm>
        </p:grpSpPr>
        <p:sp>
          <p:nvSpPr>
            <p:cNvPr name="Freeform 32" id="32"/>
            <p:cNvSpPr/>
            <p:nvPr/>
          </p:nvSpPr>
          <p:spPr>
            <a:xfrm flipH="false" flipV="false" rot="0">
              <a:off x="0" y="0"/>
              <a:ext cx="10451338" cy="2361692"/>
            </a:xfrm>
            <a:custGeom>
              <a:avLst/>
              <a:gdLst/>
              <a:ahLst/>
              <a:cxnLst/>
              <a:rect r="r" b="b" t="t" l="l"/>
              <a:pathLst>
                <a:path h="2361692" w="10451338">
                  <a:moveTo>
                    <a:pt x="0" y="393573"/>
                  </a:moveTo>
                  <a:cubicBezTo>
                    <a:pt x="0" y="176276"/>
                    <a:pt x="176276" y="0"/>
                    <a:pt x="393573" y="0"/>
                  </a:cubicBezTo>
                  <a:lnTo>
                    <a:pt x="10057765" y="0"/>
                  </a:lnTo>
                  <a:cubicBezTo>
                    <a:pt x="10275189" y="0"/>
                    <a:pt x="10451338" y="176276"/>
                    <a:pt x="10451338" y="393573"/>
                  </a:cubicBezTo>
                  <a:lnTo>
                    <a:pt x="10451338" y="1968119"/>
                  </a:lnTo>
                  <a:cubicBezTo>
                    <a:pt x="10451338" y="2185543"/>
                    <a:pt x="10275062" y="2361692"/>
                    <a:pt x="10057765" y="2361692"/>
                  </a:cubicBezTo>
                  <a:lnTo>
                    <a:pt x="393573" y="2361692"/>
                  </a:lnTo>
                  <a:cubicBezTo>
                    <a:pt x="176276" y="2361819"/>
                    <a:pt x="0" y="2185543"/>
                    <a:pt x="0" y="1968119"/>
                  </a:cubicBezTo>
                  <a:close/>
                </a:path>
              </a:pathLst>
            </a:custGeom>
            <a:solidFill>
              <a:srgbClr val="121916"/>
            </a:solidFill>
            <a:ln w="14299" cap="sq">
              <a:solidFill>
                <a:srgbClr val="303E38"/>
              </a:solidFill>
              <a:prstDash val="solid"/>
              <a:miter/>
            </a:ln>
          </p:spPr>
        </p:sp>
      </p:grpSp>
      <p:grpSp>
        <p:nvGrpSpPr>
          <p:cNvPr name="Group 33" id="33"/>
          <p:cNvGrpSpPr/>
          <p:nvPr/>
        </p:nvGrpSpPr>
        <p:grpSpPr>
          <a:xfrm rot="0">
            <a:off x="960872" y="6382931"/>
            <a:ext cx="61770" cy="1757020"/>
            <a:chOff x="0" y="0"/>
            <a:chExt cx="82360" cy="2342693"/>
          </a:xfrm>
        </p:grpSpPr>
        <p:sp>
          <p:nvSpPr>
            <p:cNvPr name="Freeform 34" id="34"/>
            <p:cNvSpPr/>
            <p:nvPr/>
          </p:nvSpPr>
          <p:spPr>
            <a:xfrm flipH="false" flipV="false" rot="0">
              <a:off x="0" y="0"/>
              <a:ext cx="82423" cy="2342642"/>
            </a:xfrm>
            <a:custGeom>
              <a:avLst/>
              <a:gdLst/>
              <a:ahLst/>
              <a:cxnLst/>
              <a:rect r="r" b="b" t="t" l="l"/>
              <a:pathLst>
                <a:path h="2342642" w="82423">
                  <a:moveTo>
                    <a:pt x="0" y="0"/>
                  </a:moveTo>
                  <a:lnTo>
                    <a:pt x="82423" y="0"/>
                  </a:lnTo>
                  <a:lnTo>
                    <a:pt x="82423" y="2342642"/>
                  </a:lnTo>
                  <a:lnTo>
                    <a:pt x="0" y="2342642"/>
                  </a:lnTo>
                  <a:close/>
                </a:path>
              </a:pathLst>
            </a:custGeom>
            <a:solidFill>
              <a:srgbClr val="A0C432"/>
            </a:solidFill>
          </p:spPr>
        </p:sp>
      </p:grpSp>
      <p:sp>
        <p:nvSpPr>
          <p:cNvPr name="TextBox 35" id="35"/>
          <p:cNvSpPr txBox="true"/>
          <p:nvPr/>
        </p:nvSpPr>
        <p:spPr>
          <a:xfrm rot="0">
            <a:off x="1354293" y="6657804"/>
            <a:ext cx="7119737" cy="476250"/>
          </a:xfrm>
          <a:prstGeom prst="rect">
            <a:avLst/>
          </a:prstGeom>
        </p:spPr>
        <p:txBody>
          <a:bodyPr anchor="t" rtlCol="false" tIns="0" lIns="0" bIns="0" rIns="0">
            <a:spAutoFit/>
          </a:bodyPr>
          <a:lstStyle/>
          <a:p>
            <a:pPr algn="l">
              <a:lnSpc>
                <a:spcPts val="3899"/>
              </a:lnSpc>
            </a:pPr>
            <a:r>
              <a:rPr lang="en-US" sz="3249" b="true">
                <a:solidFill>
                  <a:srgbClr val="F4F7F5"/>
                </a:solidFill>
                <a:latin typeface="Aptos Bold"/>
                <a:ea typeface="Aptos Bold"/>
                <a:cs typeface="Aptos Bold"/>
                <a:sym typeface="Aptos Bold"/>
              </a:rPr>
              <a:t>Risk Analysis</a:t>
            </a:r>
          </a:p>
        </p:txBody>
      </p:sp>
      <p:sp>
        <p:nvSpPr>
          <p:cNvPr name="TextBox 36" id="36"/>
          <p:cNvSpPr txBox="true"/>
          <p:nvPr/>
        </p:nvSpPr>
        <p:spPr>
          <a:xfrm rot="0">
            <a:off x="1354293" y="7325087"/>
            <a:ext cx="7119737" cy="371475"/>
          </a:xfrm>
          <a:prstGeom prst="rect">
            <a:avLst/>
          </a:prstGeom>
        </p:spPr>
        <p:txBody>
          <a:bodyPr anchor="t" rtlCol="false" tIns="0" lIns="0" bIns="0" rIns="0">
            <a:spAutoFit/>
          </a:bodyPr>
          <a:lstStyle/>
          <a:p>
            <a:pPr algn="l">
              <a:lnSpc>
                <a:spcPts val="2911"/>
              </a:lnSpc>
            </a:pPr>
            <a:r>
              <a:rPr lang="en-US" sz="2426">
                <a:solidFill>
                  <a:srgbClr val="A7B3AD"/>
                </a:solidFill>
                <a:latin typeface="Aptos"/>
                <a:ea typeface="Aptos"/>
                <a:cs typeface="Aptos"/>
                <a:sym typeface="Aptos"/>
              </a:rPr>
              <a:t>Prediction, anomalies and risk scoring.</a:t>
            </a:r>
          </a:p>
        </p:txBody>
      </p:sp>
      <p:grpSp>
        <p:nvGrpSpPr>
          <p:cNvPr name="Group 37" id="37"/>
          <p:cNvGrpSpPr/>
          <p:nvPr/>
        </p:nvGrpSpPr>
        <p:grpSpPr>
          <a:xfrm rot="0">
            <a:off x="9258386" y="6375778"/>
            <a:ext cx="7838532" cy="1771317"/>
            <a:chOff x="0" y="0"/>
            <a:chExt cx="10451376" cy="2361756"/>
          </a:xfrm>
        </p:grpSpPr>
        <p:sp>
          <p:nvSpPr>
            <p:cNvPr name="Freeform 38" id="38"/>
            <p:cNvSpPr/>
            <p:nvPr/>
          </p:nvSpPr>
          <p:spPr>
            <a:xfrm flipH="false" flipV="false" rot="0">
              <a:off x="0" y="0"/>
              <a:ext cx="10451338" cy="2361692"/>
            </a:xfrm>
            <a:custGeom>
              <a:avLst/>
              <a:gdLst/>
              <a:ahLst/>
              <a:cxnLst/>
              <a:rect r="r" b="b" t="t" l="l"/>
              <a:pathLst>
                <a:path h="2361692" w="10451338">
                  <a:moveTo>
                    <a:pt x="0" y="393573"/>
                  </a:moveTo>
                  <a:cubicBezTo>
                    <a:pt x="0" y="176276"/>
                    <a:pt x="176276" y="0"/>
                    <a:pt x="393573" y="0"/>
                  </a:cubicBezTo>
                  <a:lnTo>
                    <a:pt x="10057765" y="0"/>
                  </a:lnTo>
                  <a:cubicBezTo>
                    <a:pt x="10275189" y="0"/>
                    <a:pt x="10451338" y="176276"/>
                    <a:pt x="10451338" y="393573"/>
                  </a:cubicBezTo>
                  <a:lnTo>
                    <a:pt x="10451338" y="1968119"/>
                  </a:lnTo>
                  <a:cubicBezTo>
                    <a:pt x="10451338" y="2185543"/>
                    <a:pt x="10275062" y="2361692"/>
                    <a:pt x="10057765" y="2361692"/>
                  </a:cubicBezTo>
                  <a:lnTo>
                    <a:pt x="393573" y="2361692"/>
                  </a:lnTo>
                  <a:cubicBezTo>
                    <a:pt x="176276" y="2361819"/>
                    <a:pt x="0" y="2185543"/>
                    <a:pt x="0" y="1968119"/>
                  </a:cubicBezTo>
                  <a:close/>
                </a:path>
              </a:pathLst>
            </a:custGeom>
            <a:solidFill>
              <a:srgbClr val="121916"/>
            </a:solidFill>
            <a:ln w="14299" cap="sq">
              <a:solidFill>
                <a:srgbClr val="303E38"/>
              </a:solidFill>
              <a:prstDash val="solid"/>
              <a:miter/>
            </a:ln>
          </p:spPr>
        </p:sp>
      </p:grpSp>
      <p:grpSp>
        <p:nvGrpSpPr>
          <p:cNvPr name="Group 39" id="39"/>
          <p:cNvGrpSpPr/>
          <p:nvPr/>
        </p:nvGrpSpPr>
        <p:grpSpPr>
          <a:xfrm rot="0">
            <a:off x="9265539" y="6382931"/>
            <a:ext cx="61770" cy="1757020"/>
            <a:chOff x="0" y="0"/>
            <a:chExt cx="82360" cy="2342693"/>
          </a:xfrm>
        </p:grpSpPr>
        <p:sp>
          <p:nvSpPr>
            <p:cNvPr name="Freeform 40" id="40"/>
            <p:cNvSpPr/>
            <p:nvPr/>
          </p:nvSpPr>
          <p:spPr>
            <a:xfrm flipH="false" flipV="false" rot="0">
              <a:off x="0" y="0"/>
              <a:ext cx="82423" cy="2342642"/>
            </a:xfrm>
            <a:custGeom>
              <a:avLst/>
              <a:gdLst/>
              <a:ahLst/>
              <a:cxnLst/>
              <a:rect r="r" b="b" t="t" l="l"/>
              <a:pathLst>
                <a:path h="2342642" w="82423">
                  <a:moveTo>
                    <a:pt x="0" y="0"/>
                  </a:moveTo>
                  <a:lnTo>
                    <a:pt x="82423" y="0"/>
                  </a:lnTo>
                  <a:lnTo>
                    <a:pt x="82423" y="2342642"/>
                  </a:lnTo>
                  <a:lnTo>
                    <a:pt x="0" y="2342642"/>
                  </a:lnTo>
                  <a:close/>
                </a:path>
              </a:pathLst>
            </a:custGeom>
            <a:solidFill>
              <a:srgbClr val="A0C432"/>
            </a:solidFill>
          </p:spPr>
        </p:sp>
      </p:grpSp>
      <p:sp>
        <p:nvSpPr>
          <p:cNvPr name="TextBox 41" id="41"/>
          <p:cNvSpPr txBox="true"/>
          <p:nvPr/>
        </p:nvSpPr>
        <p:spPr>
          <a:xfrm rot="0">
            <a:off x="9658969" y="6657804"/>
            <a:ext cx="7119737" cy="476250"/>
          </a:xfrm>
          <a:prstGeom prst="rect">
            <a:avLst/>
          </a:prstGeom>
        </p:spPr>
        <p:txBody>
          <a:bodyPr anchor="t" rtlCol="false" tIns="0" lIns="0" bIns="0" rIns="0">
            <a:spAutoFit/>
          </a:bodyPr>
          <a:lstStyle/>
          <a:p>
            <a:pPr algn="l">
              <a:lnSpc>
                <a:spcPts val="3899"/>
              </a:lnSpc>
            </a:pPr>
            <a:r>
              <a:rPr lang="en-US" sz="3249" b="true">
                <a:solidFill>
                  <a:srgbClr val="F4F7F5"/>
                </a:solidFill>
                <a:latin typeface="Aptos Bold"/>
                <a:ea typeface="Aptos Bold"/>
                <a:cs typeface="Aptos Bold"/>
                <a:sym typeface="Aptos Bold"/>
              </a:rPr>
              <a:t>Reports &amp; History</a:t>
            </a:r>
          </a:p>
        </p:txBody>
      </p:sp>
      <p:sp>
        <p:nvSpPr>
          <p:cNvPr name="TextBox 42" id="42"/>
          <p:cNvSpPr txBox="true"/>
          <p:nvPr/>
        </p:nvSpPr>
        <p:spPr>
          <a:xfrm rot="0">
            <a:off x="9658969" y="7325087"/>
            <a:ext cx="7119737" cy="371475"/>
          </a:xfrm>
          <a:prstGeom prst="rect">
            <a:avLst/>
          </a:prstGeom>
        </p:spPr>
        <p:txBody>
          <a:bodyPr anchor="t" rtlCol="false" tIns="0" lIns="0" bIns="0" rIns="0">
            <a:spAutoFit/>
          </a:bodyPr>
          <a:lstStyle/>
          <a:p>
            <a:pPr algn="l">
              <a:lnSpc>
                <a:spcPts val="2911"/>
              </a:lnSpc>
            </a:pPr>
            <a:r>
              <a:rPr lang="en-US" sz="2426">
                <a:solidFill>
                  <a:srgbClr val="A7B3AD"/>
                </a:solidFill>
                <a:latin typeface="Aptos"/>
                <a:ea typeface="Aptos"/>
                <a:cs typeface="Aptos"/>
                <a:sym typeface="Aptos"/>
              </a:rPr>
              <a:t>Persist analysis records and generate reports.</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080C0B"/>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96088"/>
            <a:chOff x="0" y="0"/>
            <a:chExt cx="24402453" cy="128118"/>
          </a:xfrm>
        </p:grpSpPr>
        <p:sp>
          <p:nvSpPr>
            <p:cNvPr name="Freeform 3" id="3"/>
            <p:cNvSpPr/>
            <p:nvPr/>
          </p:nvSpPr>
          <p:spPr>
            <a:xfrm flipH="false" flipV="false" rot="0">
              <a:off x="0" y="0"/>
              <a:ext cx="24402414" cy="128143"/>
            </a:xfrm>
            <a:custGeom>
              <a:avLst/>
              <a:gdLst/>
              <a:ahLst/>
              <a:cxnLst/>
              <a:rect r="r" b="b" t="t" l="l"/>
              <a:pathLst>
                <a:path h="128143" w="24402414">
                  <a:moveTo>
                    <a:pt x="0" y="0"/>
                  </a:moveTo>
                  <a:lnTo>
                    <a:pt x="24402414" y="0"/>
                  </a:lnTo>
                  <a:lnTo>
                    <a:pt x="24402414" y="128143"/>
                  </a:lnTo>
                  <a:lnTo>
                    <a:pt x="0" y="128143"/>
                  </a:lnTo>
                  <a:close/>
                </a:path>
              </a:pathLst>
            </a:custGeom>
            <a:solidFill>
              <a:srgbClr val="A0C432"/>
            </a:solidFill>
          </p:spPr>
        </p:sp>
      </p:grpSp>
      <p:sp>
        <p:nvSpPr>
          <p:cNvPr name="TextBox 4" id="4"/>
          <p:cNvSpPr txBox="true"/>
          <p:nvPr/>
        </p:nvSpPr>
        <p:spPr>
          <a:xfrm rot="0">
            <a:off x="983675" y="549412"/>
            <a:ext cx="4098578" cy="657225"/>
          </a:xfrm>
          <a:prstGeom prst="rect">
            <a:avLst/>
          </a:prstGeom>
        </p:spPr>
        <p:txBody>
          <a:bodyPr anchor="t" rtlCol="false" tIns="0" lIns="0" bIns="0" rIns="0">
            <a:spAutoFit/>
          </a:bodyPr>
          <a:lstStyle/>
          <a:p>
            <a:pPr algn="l">
              <a:lnSpc>
                <a:spcPts val="5283"/>
              </a:lnSpc>
            </a:pPr>
            <a:r>
              <a:rPr lang="en-US" sz="4403" b="true">
                <a:solidFill>
                  <a:srgbClr val="F4F7F5"/>
                </a:solidFill>
                <a:latin typeface="Aptos Bold"/>
                <a:ea typeface="Aptos Bold"/>
                <a:cs typeface="Aptos Bold"/>
                <a:sym typeface="Aptos Bold"/>
              </a:rPr>
              <a:t>Implementation</a:t>
            </a:r>
          </a:p>
        </p:txBody>
      </p:sp>
      <p:sp>
        <p:nvSpPr>
          <p:cNvPr name="TextBox 5" id="5"/>
          <p:cNvSpPr txBox="true"/>
          <p:nvPr/>
        </p:nvSpPr>
        <p:spPr>
          <a:xfrm rot="0">
            <a:off x="1011126" y="1294848"/>
            <a:ext cx="14916512" cy="333375"/>
          </a:xfrm>
          <a:prstGeom prst="rect">
            <a:avLst/>
          </a:prstGeom>
        </p:spPr>
        <p:txBody>
          <a:bodyPr anchor="t" rtlCol="false" tIns="0" lIns="0" bIns="0" rIns="0">
            <a:spAutoFit/>
          </a:bodyPr>
          <a:lstStyle/>
          <a:p>
            <a:pPr algn="l">
              <a:lnSpc>
                <a:spcPts val="2641"/>
              </a:lnSpc>
            </a:pPr>
            <a:r>
              <a:rPr lang="en-US" sz="2201">
                <a:solidFill>
                  <a:srgbClr val="A7B3AD"/>
                </a:solidFill>
                <a:latin typeface="Aptos"/>
                <a:ea typeface="Aptos"/>
                <a:cs typeface="Aptos"/>
                <a:sym typeface="Aptos"/>
              </a:rPr>
              <a:t>How the working application handles athlete and video workflows</a:t>
            </a:r>
          </a:p>
        </p:txBody>
      </p:sp>
      <p:sp>
        <p:nvSpPr>
          <p:cNvPr name="TextBox 6" id="6"/>
          <p:cNvSpPr txBox="true"/>
          <p:nvPr/>
        </p:nvSpPr>
        <p:spPr>
          <a:xfrm rot="0">
            <a:off x="16632145" y="594789"/>
            <a:ext cx="572091" cy="251727"/>
          </a:xfrm>
          <a:prstGeom prst="rect">
            <a:avLst/>
          </a:prstGeom>
        </p:spPr>
        <p:txBody>
          <a:bodyPr anchor="t" rtlCol="false" tIns="0" lIns="0" bIns="0" rIns="0">
            <a:spAutoFit/>
          </a:bodyPr>
          <a:lstStyle/>
          <a:p>
            <a:pPr algn="r">
              <a:lnSpc>
                <a:spcPts val="1801"/>
              </a:lnSpc>
            </a:pPr>
            <a:r>
              <a:rPr lang="en-US" b="true" sz="1501">
                <a:solidFill>
                  <a:srgbClr val="A0C432"/>
                </a:solidFill>
                <a:latin typeface="Aptos Bold"/>
                <a:ea typeface="Aptos Bold"/>
                <a:cs typeface="Aptos Bold"/>
                <a:sym typeface="Aptos Bold"/>
              </a:rPr>
              <a:t>08</a:t>
            </a:r>
          </a:p>
        </p:txBody>
      </p:sp>
      <p:grpSp>
        <p:nvGrpSpPr>
          <p:cNvPr name="Group 7" id="7"/>
          <p:cNvGrpSpPr/>
          <p:nvPr/>
        </p:nvGrpSpPr>
        <p:grpSpPr>
          <a:xfrm rot="0">
            <a:off x="953719" y="2120494"/>
            <a:ext cx="8044434" cy="6809022"/>
            <a:chOff x="0" y="0"/>
            <a:chExt cx="10725912" cy="9078697"/>
          </a:xfrm>
        </p:grpSpPr>
        <p:sp>
          <p:nvSpPr>
            <p:cNvPr name="Freeform 8" id="8"/>
            <p:cNvSpPr/>
            <p:nvPr/>
          </p:nvSpPr>
          <p:spPr>
            <a:xfrm flipH="false" flipV="false" rot="0">
              <a:off x="0" y="0"/>
              <a:ext cx="10725912" cy="9078723"/>
            </a:xfrm>
            <a:custGeom>
              <a:avLst/>
              <a:gdLst/>
              <a:ahLst/>
              <a:cxnLst/>
              <a:rect r="r" b="b" t="t" l="l"/>
              <a:pathLst>
                <a:path h="9078723" w="10725912">
                  <a:moveTo>
                    <a:pt x="0" y="1513205"/>
                  </a:moveTo>
                  <a:cubicBezTo>
                    <a:pt x="0" y="677418"/>
                    <a:pt x="677418" y="0"/>
                    <a:pt x="1513205" y="0"/>
                  </a:cubicBezTo>
                  <a:lnTo>
                    <a:pt x="9212707" y="0"/>
                  </a:lnTo>
                  <a:cubicBezTo>
                    <a:pt x="10048367" y="0"/>
                    <a:pt x="10725912" y="677418"/>
                    <a:pt x="10725912" y="1513205"/>
                  </a:cubicBezTo>
                  <a:lnTo>
                    <a:pt x="10725912" y="7565517"/>
                  </a:lnTo>
                  <a:cubicBezTo>
                    <a:pt x="10725912" y="8401177"/>
                    <a:pt x="10048494" y="9078723"/>
                    <a:pt x="9212707" y="9078723"/>
                  </a:cubicBezTo>
                  <a:lnTo>
                    <a:pt x="1513205" y="9078723"/>
                  </a:lnTo>
                  <a:cubicBezTo>
                    <a:pt x="677418" y="9078722"/>
                    <a:pt x="0" y="8401304"/>
                    <a:pt x="0" y="7565517"/>
                  </a:cubicBezTo>
                  <a:close/>
                </a:path>
              </a:pathLst>
            </a:custGeom>
            <a:solidFill>
              <a:srgbClr val="121916"/>
            </a:solidFill>
            <a:ln w="14299" cap="sq">
              <a:solidFill>
                <a:srgbClr val="303E38"/>
              </a:solidFill>
              <a:prstDash val="solid"/>
              <a:miter/>
            </a:ln>
          </p:spPr>
        </p:sp>
      </p:grpSp>
      <p:grpSp>
        <p:nvGrpSpPr>
          <p:cNvPr name="Group 9" id="9"/>
          <p:cNvGrpSpPr/>
          <p:nvPr/>
        </p:nvGrpSpPr>
        <p:grpSpPr>
          <a:xfrm rot="0">
            <a:off x="960872" y="2127647"/>
            <a:ext cx="61770" cy="6794725"/>
            <a:chOff x="0" y="0"/>
            <a:chExt cx="82360" cy="9059634"/>
          </a:xfrm>
        </p:grpSpPr>
        <p:sp>
          <p:nvSpPr>
            <p:cNvPr name="Freeform 10" id="10"/>
            <p:cNvSpPr/>
            <p:nvPr/>
          </p:nvSpPr>
          <p:spPr>
            <a:xfrm flipH="false" flipV="false" rot="0">
              <a:off x="0" y="0"/>
              <a:ext cx="82423" cy="9059672"/>
            </a:xfrm>
            <a:custGeom>
              <a:avLst/>
              <a:gdLst/>
              <a:ahLst/>
              <a:cxnLst/>
              <a:rect r="r" b="b" t="t" l="l"/>
              <a:pathLst>
                <a:path h="9059672" w="82423">
                  <a:moveTo>
                    <a:pt x="0" y="0"/>
                  </a:moveTo>
                  <a:lnTo>
                    <a:pt x="82423" y="0"/>
                  </a:lnTo>
                  <a:lnTo>
                    <a:pt x="82423" y="9059672"/>
                  </a:lnTo>
                  <a:lnTo>
                    <a:pt x="0" y="9059672"/>
                  </a:lnTo>
                  <a:close/>
                </a:path>
              </a:pathLst>
            </a:custGeom>
            <a:solidFill>
              <a:srgbClr val="A0C432"/>
            </a:solidFill>
          </p:spPr>
        </p:sp>
      </p:grpSp>
      <p:sp>
        <p:nvSpPr>
          <p:cNvPr name="TextBox 11" id="11"/>
          <p:cNvSpPr txBox="true"/>
          <p:nvPr/>
        </p:nvSpPr>
        <p:spPr>
          <a:xfrm rot="0">
            <a:off x="1354293" y="2640644"/>
            <a:ext cx="7325639" cy="495300"/>
          </a:xfrm>
          <a:prstGeom prst="rect">
            <a:avLst/>
          </a:prstGeom>
        </p:spPr>
        <p:txBody>
          <a:bodyPr anchor="t" rtlCol="false" tIns="0" lIns="0" bIns="0" rIns="0">
            <a:spAutoFit/>
          </a:bodyPr>
          <a:lstStyle/>
          <a:p>
            <a:pPr algn="l">
              <a:lnSpc>
                <a:spcPts val="3902"/>
              </a:lnSpc>
            </a:pPr>
            <a:r>
              <a:rPr lang="en-US" sz="3251" b="true">
                <a:solidFill>
                  <a:srgbClr val="F4F7F5"/>
                </a:solidFill>
                <a:latin typeface="Aptos Bold"/>
                <a:ea typeface="Aptos Bold"/>
                <a:cs typeface="Aptos Bold"/>
                <a:sym typeface="Aptos Bold"/>
              </a:rPr>
              <a:t>ATHLETE WORKFLOW</a:t>
            </a:r>
          </a:p>
        </p:txBody>
      </p:sp>
      <p:sp>
        <p:nvSpPr>
          <p:cNvPr name="TextBox 12" id="12"/>
          <p:cNvSpPr txBox="true"/>
          <p:nvPr/>
        </p:nvSpPr>
        <p:spPr>
          <a:xfrm rot="0">
            <a:off x="1354293" y="3302263"/>
            <a:ext cx="7325639" cy="4000500"/>
          </a:xfrm>
          <a:prstGeom prst="rect">
            <a:avLst/>
          </a:prstGeom>
        </p:spPr>
        <p:txBody>
          <a:bodyPr anchor="t" rtlCol="false" tIns="0" lIns="0" bIns="0" rIns="0">
            <a:spAutoFit/>
          </a:bodyPr>
          <a:lstStyle/>
          <a:p>
            <a:pPr algn="l">
              <a:lnSpc>
                <a:spcPts val="3151"/>
              </a:lnSpc>
            </a:pPr>
            <a:r>
              <a:rPr lang="en-US" sz="2626">
                <a:solidFill>
                  <a:srgbClr val="A7B3AD"/>
                </a:solidFill>
                <a:latin typeface="Aptos"/>
                <a:ea typeface="Aptos"/>
                <a:cs typeface="Aptos"/>
                <a:sym typeface="Aptos"/>
              </a:rPr>
              <a:t>1. User opens Athlete Management</a:t>
            </a:r>
          </a:p>
          <a:p>
            <a:pPr algn="l">
              <a:lnSpc>
                <a:spcPts val="3151"/>
              </a:lnSpc>
            </a:pPr>
          </a:p>
          <a:p>
            <a:pPr algn="l">
              <a:lnSpc>
                <a:spcPts val="3151"/>
              </a:lnSpc>
            </a:pPr>
            <a:r>
              <a:rPr lang="en-US" sz="2626">
                <a:solidFill>
                  <a:srgbClr val="A7B3AD"/>
                </a:solidFill>
                <a:latin typeface="Aptos"/>
                <a:ea typeface="Aptos"/>
                <a:cs typeface="Aptos"/>
                <a:sym typeface="Aptos"/>
              </a:rPr>
              <a:t>2. Athlete profile is created with relevant details</a:t>
            </a:r>
          </a:p>
          <a:p>
            <a:pPr algn="l">
              <a:lnSpc>
                <a:spcPts val="3151"/>
              </a:lnSpc>
            </a:pPr>
          </a:p>
          <a:p>
            <a:pPr algn="l">
              <a:lnSpc>
                <a:spcPts val="3151"/>
              </a:lnSpc>
            </a:pPr>
            <a:r>
              <a:rPr lang="en-US" sz="2626">
                <a:solidFill>
                  <a:srgbClr val="A7B3AD"/>
                </a:solidFill>
                <a:latin typeface="Aptos"/>
                <a:ea typeface="Aptos"/>
                <a:cs typeface="Aptos"/>
                <a:sym typeface="Aptos"/>
              </a:rPr>
              <a:t>3. Athlete records are displayed for monitoring</a:t>
            </a:r>
          </a:p>
          <a:p>
            <a:pPr algn="l">
              <a:lnSpc>
                <a:spcPts val="3151"/>
              </a:lnSpc>
            </a:pPr>
          </a:p>
          <a:p>
            <a:pPr algn="l">
              <a:lnSpc>
                <a:spcPts val="3151"/>
              </a:lnSpc>
            </a:pPr>
            <a:r>
              <a:rPr lang="en-US" sz="2626">
                <a:solidFill>
                  <a:srgbClr val="A7B3AD"/>
                </a:solidFill>
                <a:latin typeface="Aptos"/>
                <a:ea typeface="Aptos"/>
                <a:cs typeface="Aptos"/>
                <a:sym typeface="Aptos"/>
              </a:rPr>
              <a:t>4. Coach can select an athlete during video upload</a:t>
            </a:r>
          </a:p>
          <a:p>
            <a:pPr algn="l">
              <a:lnSpc>
                <a:spcPts val="3151"/>
              </a:lnSpc>
            </a:pPr>
          </a:p>
          <a:p>
            <a:pPr algn="l">
              <a:lnSpc>
                <a:spcPts val="3151"/>
              </a:lnSpc>
            </a:pPr>
            <a:r>
              <a:rPr lang="en-US" sz="2626">
                <a:solidFill>
                  <a:srgbClr val="A7B3AD"/>
                </a:solidFill>
                <a:latin typeface="Aptos"/>
                <a:ea typeface="Aptos"/>
                <a:cs typeface="Aptos"/>
                <a:sym typeface="Aptos"/>
              </a:rPr>
              <a:t>5. Analysis history can be associated with the selected athlete.</a:t>
            </a:r>
          </a:p>
        </p:txBody>
      </p:sp>
      <p:grpSp>
        <p:nvGrpSpPr>
          <p:cNvPr name="Group 13" id="13"/>
          <p:cNvGrpSpPr/>
          <p:nvPr/>
        </p:nvGrpSpPr>
        <p:grpSpPr>
          <a:xfrm rot="0">
            <a:off x="9258386" y="2120494"/>
            <a:ext cx="8044434" cy="6809022"/>
            <a:chOff x="0" y="0"/>
            <a:chExt cx="10725912" cy="9078697"/>
          </a:xfrm>
        </p:grpSpPr>
        <p:sp>
          <p:nvSpPr>
            <p:cNvPr name="Freeform 14" id="14"/>
            <p:cNvSpPr/>
            <p:nvPr/>
          </p:nvSpPr>
          <p:spPr>
            <a:xfrm flipH="false" flipV="false" rot="0">
              <a:off x="0" y="0"/>
              <a:ext cx="10725912" cy="9078723"/>
            </a:xfrm>
            <a:custGeom>
              <a:avLst/>
              <a:gdLst/>
              <a:ahLst/>
              <a:cxnLst/>
              <a:rect r="r" b="b" t="t" l="l"/>
              <a:pathLst>
                <a:path h="9078723" w="10725912">
                  <a:moveTo>
                    <a:pt x="0" y="1513205"/>
                  </a:moveTo>
                  <a:cubicBezTo>
                    <a:pt x="0" y="677418"/>
                    <a:pt x="677418" y="0"/>
                    <a:pt x="1513205" y="0"/>
                  </a:cubicBezTo>
                  <a:lnTo>
                    <a:pt x="9212707" y="0"/>
                  </a:lnTo>
                  <a:cubicBezTo>
                    <a:pt x="10048367" y="0"/>
                    <a:pt x="10725912" y="677418"/>
                    <a:pt x="10725912" y="1513205"/>
                  </a:cubicBezTo>
                  <a:lnTo>
                    <a:pt x="10725912" y="7565517"/>
                  </a:lnTo>
                  <a:cubicBezTo>
                    <a:pt x="10725912" y="8401177"/>
                    <a:pt x="10048494" y="9078723"/>
                    <a:pt x="9212707" y="9078723"/>
                  </a:cubicBezTo>
                  <a:lnTo>
                    <a:pt x="1513205" y="9078723"/>
                  </a:lnTo>
                  <a:cubicBezTo>
                    <a:pt x="677418" y="9078722"/>
                    <a:pt x="0" y="8401304"/>
                    <a:pt x="0" y="7565517"/>
                  </a:cubicBezTo>
                  <a:close/>
                </a:path>
              </a:pathLst>
            </a:custGeom>
            <a:solidFill>
              <a:srgbClr val="121916"/>
            </a:solidFill>
            <a:ln w="14299" cap="sq">
              <a:solidFill>
                <a:srgbClr val="303E38"/>
              </a:solidFill>
              <a:prstDash val="solid"/>
              <a:miter/>
            </a:ln>
          </p:spPr>
        </p:sp>
      </p:grpSp>
      <p:grpSp>
        <p:nvGrpSpPr>
          <p:cNvPr name="Group 15" id="15"/>
          <p:cNvGrpSpPr/>
          <p:nvPr/>
        </p:nvGrpSpPr>
        <p:grpSpPr>
          <a:xfrm rot="0">
            <a:off x="9265539" y="2127647"/>
            <a:ext cx="61770" cy="6794725"/>
            <a:chOff x="0" y="0"/>
            <a:chExt cx="82360" cy="9059634"/>
          </a:xfrm>
        </p:grpSpPr>
        <p:sp>
          <p:nvSpPr>
            <p:cNvPr name="Freeform 16" id="16"/>
            <p:cNvSpPr/>
            <p:nvPr/>
          </p:nvSpPr>
          <p:spPr>
            <a:xfrm flipH="false" flipV="false" rot="0">
              <a:off x="0" y="0"/>
              <a:ext cx="82423" cy="9059672"/>
            </a:xfrm>
            <a:custGeom>
              <a:avLst/>
              <a:gdLst/>
              <a:ahLst/>
              <a:cxnLst/>
              <a:rect r="r" b="b" t="t" l="l"/>
              <a:pathLst>
                <a:path h="9059672" w="82423">
                  <a:moveTo>
                    <a:pt x="0" y="0"/>
                  </a:moveTo>
                  <a:lnTo>
                    <a:pt x="82423" y="0"/>
                  </a:lnTo>
                  <a:lnTo>
                    <a:pt x="82423" y="9059672"/>
                  </a:lnTo>
                  <a:lnTo>
                    <a:pt x="0" y="9059672"/>
                  </a:lnTo>
                  <a:close/>
                </a:path>
              </a:pathLst>
            </a:custGeom>
            <a:solidFill>
              <a:srgbClr val="A0C432"/>
            </a:solidFill>
          </p:spPr>
        </p:sp>
      </p:grpSp>
      <p:sp>
        <p:nvSpPr>
          <p:cNvPr name="TextBox 17" id="17"/>
          <p:cNvSpPr txBox="true"/>
          <p:nvPr/>
        </p:nvSpPr>
        <p:spPr>
          <a:xfrm rot="0">
            <a:off x="9658969" y="2640644"/>
            <a:ext cx="7325639" cy="495300"/>
          </a:xfrm>
          <a:prstGeom prst="rect">
            <a:avLst/>
          </a:prstGeom>
        </p:spPr>
        <p:txBody>
          <a:bodyPr anchor="t" rtlCol="false" tIns="0" lIns="0" bIns="0" rIns="0">
            <a:spAutoFit/>
          </a:bodyPr>
          <a:lstStyle/>
          <a:p>
            <a:pPr algn="l">
              <a:lnSpc>
                <a:spcPts val="3902"/>
              </a:lnSpc>
            </a:pPr>
            <a:r>
              <a:rPr lang="en-US" sz="3251" b="true">
                <a:solidFill>
                  <a:srgbClr val="F4F7F5"/>
                </a:solidFill>
                <a:latin typeface="Aptos Bold"/>
                <a:ea typeface="Aptos Bold"/>
                <a:cs typeface="Aptos Bold"/>
                <a:sym typeface="Aptos Bold"/>
              </a:rPr>
              <a:t>VIDEO WORKFLOW</a:t>
            </a:r>
          </a:p>
        </p:txBody>
      </p:sp>
      <p:sp>
        <p:nvSpPr>
          <p:cNvPr name="TextBox 18" id="18"/>
          <p:cNvSpPr txBox="true"/>
          <p:nvPr/>
        </p:nvSpPr>
        <p:spPr>
          <a:xfrm rot="0">
            <a:off x="9658969" y="3302263"/>
            <a:ext cx="7325639" cy="5200650"/>
          </a:xfrm>
          <a:prstGeom prst="rect">
            <a:avLst/>
          </a:prstGeom>
        </p:spPr>
        <p:txBody>
          <a:bodyPr anchor="t" rtlCol="false" tIns="0" lIns="0" bIns="0" rIns="0">
            <a:spAutoFit/>
          </a:bodyPr>
          <a:lstStyle/>
          <a:p>
            <a:pPr algn="l">
              <a:lnSpc>
                <a:spcPts val="3151"/>
              </a:lnSpc>
            </a:pPr>
            <a:r>
              <a:rPr lang="en-US" sz="2626">
                <a:solidFill>
                  <a:srgbClr val="A7B3AD"/>
                </a:solidFill>
                <a:latin typeface="Aptos"/>
                <a:ea typeface="Aptos"/>
                <a:cs typeface="Aptos"/>
                <a:sym typeface="Aptos"/>
              </a:rPr>
              <a:t>1. Select athlete + video</a:t>
            </a:r>
          </a:p>
          <a:p>
            <a:pPr algn="l">
              <a:lnSpc>
                <a:spcPts val="3151"/>
              </a:lnSpc>
            </a:pPr>
          </a:p>
          <a:p>
            <a:pPr algn="l">
              <a:lnSpc>
                <a:spcPts val="3151"/>
              </a:lnSpc>
            </a:pPr>
            <a:r>
              <a:rPr lang="en-US" sz="2626">
                <a:solidFill>
                  <a:srgbClr val="A7B3AD"/>
                </a:solidFill>
                <a:latin typeface="Aptos"/>
                <a:ea typeface="Aptos"/>
                <a:cs typeface="Aptos"/>
                <a:sym typeface="Aptos"/>
              </a:rPr>
              <a:t>2. Backend receives multipart upload</a:t>
            </a:r>
          </a:p>
          <a:p>
            <a:pPr algn="l">
              <a:lnSpc>
                <a:spcPts val="3151"/>
              </a:lnSpc>
            </a:pPr>
          </a:p>
          <a:p>
            <a:pPr algn="l">
              <a:lnSpc>
                <a:spcPts val="3151"/>
              </a:lnSpc>
            </a:pPr>
            <a:r>
              <a:rPr lang="en-US" sz="2626">
                <a:solidFill>
                  <a:srgbClr val="A7B3AD"/>
                </a:solidFill>
                <a:latin typeface="Aptos"/>
                <a:ea typeface="Aptos"/>
                <a:cs typeface="Aptos"/>
                <a:sym typeface="Aptos"/>
              </a:rPr>
              <a:t>3. Video is processed with computer vision</a:t>
            </a:r>
          </a:p>
          <a:p>
            <a:pPr algn="l">
              <a:lnSpc>
                <a:spcPts val="3151"/>
              </a:lnSpc>
            </a:pPr>
          </a:p>
          <a:p>
            <a:pPr algn="l">
              <a:lnSpc>
                <a:spcPts val="3151"/>
              </a:lnSpc>
            </a:pPr>
            <a:r>
              <a:rPr lang="en-US" sz="2626">
                <a:solidFill>
                  <a:srgbClr val="A7B3AD"/>
                </a:solidFill>
                <a:latin typeface="Aptos"/>
                <a:ea typeface="Aptos"/>
                <a:cs typeface="Aptos"/>
                <a:sym typeface="Aptos"/>
              </a:rPr>
              <a:t>4. Joint angles and movement signals are generated</a:t>
            </a:r>
          </a:p>
          <a:p>
            <a:pPr algn="l">
              <a:lnSpc>
                <a:spcPts val="3151"/>
              </a:lnSpc>
            </a:pPr>
          </a:p>
          <a:p>
            <a:pPr algn="l">
              <a:lnSpc>
                <a:spcPts val="3151"/>
              </a:lnSpc>
            </a:pPr>
            <a:r>
              <a:rPr lang="en-US" sz="2626">
                <a:solidFill>
                  <a:srgbClr val="A7B3AD"/>
                </a:solidFill>
                <a:latin typeface="Aptos"/>
                <a:ea typeface="Aptos"/>
                <a:cs typeface="Aptos"/>
                <a:sym typeface="Aptos"/>
              </a:rPr>
              <a:t>5. Risk prediction + anomaly detection are applied</a:t>
            </a:r>
          </a:p>
          <a:p>
            <a:pPr algn="l">
              <a:lnSpc>
                <a:spcPts val="3151"/>
              </a:lnSpc>
            </a:pPr>
          </a:p>
          <a:p>
            <a:pPr algn="l">
              <a:lnSpc>
                <a:spcPts val="3151"/>
              </a:lnSpc>
            </a:pPr>
            <a:r>
              <a:rPr lang="en-US" sz="2626">
                <a:solidFill>
                  <a:srgbClr val="A7B3AD"/>
                </a:solidFill>
                <a:latin typeface="Aptos"/>
                <a:ea typeface="Aptos"/>
                <a:cs typeface="Aptos"/>
                <a:sym typeface="Aptos"/>
              </a:rPr>
              <a:t>6. Score, recommendations and report are returned</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080C0B"/>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96088"/>
            <a:chOff x="0" y="0"/>
            <a:chExt cx="24402453" cy="128118"/>
          </a:xfrm>
        </p:grpSpPr>
        <p:sp>
          <p:nvSpPr>
            <p:cNvPr name="Freeform 3" id="3"/>
            <p:cNvSpPr/>
            <p:nvPr/>
          </p:nvSpPr>
          <p:spPr>
            <a:xfrm flipH="false" flipV="false" rot="0">
              <a:off x="0" y="0"/>
              <a:ext cx="24402414" cy="128143"/>
            </a:xfrm>
            <a:custGeom>
              <a:avLst/>
              <a:gdLst/>
              <a:ahLst/>
              <a:cxnLst/>
              <a:rect r="r" b="b" t="t" l="l"/>
              <a:pathLst>
                <a:path h="128143" w="24402414">
                  <a:moveTo>
                    <a:pt x="0" y="0"/>
                  </a:moveTo>
                  <a:lnTo>
                    <a:pt x="24402414" y="0"/>
                  </a:lnTo>
                  <a:lnTo>
                    <a:pt x="24402414" y="128143"/>
                  </a:lnTo>
                  <a:lnTo>
                    <a:pt x="0" y="128143"/>
                  </a:lnTo>
                  <a:close/>
                </a:path>
              </a:pathLst>
            </a:custGeom>
            <a:solidFill>
              <a:srgbClr val="A0C432"/>
            </a:solidFill>
          </p:spPr>
        </p:sp>
      </p:grpSp>
      <p:sp>
        <p:nvSpPr>
          <p:cNvPr name="TextBox 4" id="4"/>
          <p:cNvSpPr txBox="true"/>
          <p:nvPr/>
        </p:nvSpPr>
        <p:spPr>
          <a:xfrm rot="0">
            <a:off x="983675" y="549412"/>
            <a:ext cx="6863209" cy="657225"/>
          </a:xfrm>
          <a:prstGeom prst="rect">
            <a:avLst/>
          </a:prstGeom>
        </p:spPr>
        <p:txBody>
          <a:bodyPr anchor="t" rtlCol="false" tIns="0" lIns="0" bIns="0" rIns="0">
            <a:spAutoFit/>
          </a:bodyPr>
          <a:lstStyle/>
          <a:p>
            <a:pPr algn="l">
              <a:lnSpc>
                <a:spcPts val="5283"/>
              </a:lnSpc>
            </a:pPr>
            <a:r>
              <a:rPr lang="en-US" sz="4403" b="true">
                <a:solidFill>
                  <a:srgbClr val="F4F7F5"/>
                </a:solidFill>
                <a:latin typeface="Aptos Bold"/>
                <a:ea typeface="Aptos Bold"/>
                <a:cs typeface="Aptos Bold"/>
                <a:sym typeface="Aptos Bold"/>
              </a:rPr>
              <a:t>Results &amp; Current Progress</a:t>
            </a:r>
          </a:p>
        </p:txBody>
      </p:sp>
      <p:sp>
        <p:nvSpPr>
          <p:cNvPr name="TextBox 5" id="5"/>
          <p:cNvSpPr txBox="true"/>
          <p:nvPr/>
        </p:nvSpPr>
        <p:spPr>
          <a:xfrm rot="0">
            <a:off x="1011126" y="1294848"/>
            <a:ext cx="14916512" cy="333375"/>
          </a:xfrm>
          <a:prstGeom prst="rect">
            <a:avLst/>
          </a:prstGeom>
        </p:spPr>
        <p:txBody>
          <a:bodyPr anchor="t" rtlCol="false" tIns="0" lIns="0" bIns="0" rIns="0">
            <a:spAutoFit/>
          </a:bodyPr>
          <a:lstStyle/>
          <a:p>
            <a:pPr algn="l">
              <a:lnSpc>
                <a:spcPts val="2641"/>
              </a:lnSpc>
            </a:pPr>
            <a:r>
              <a:rPr lang="en-US" sz="2201">
                <a:solidFill>
                  <a:srgbClr val="A7B3AD"/>
                </a:solidFill>
                <a:latin typeface="Aptos"/>
                <a:ea typeface="Aptos"/>
                <a:cs typeface="Aptos"/>
                <a:sym typeface="Aptos"/>
              </a:rPr>
              <a:t>Demonstrated functionality in the working prototype</a:t>
            </a:r>
          </a:p>
        </p:txBody>
      </p:sp>
      <p:sp>
        <p:nvSpPr>
          <p:cNvPr name="TextBox 6" id="6"/>
          <p:cNvSpPr txBox="true"/>
          <p:nvPr/>
        </p:nvSpPr>
        <p:spPr>
          <a:xfrm rot="0">
            <a:off x="16632145" y="594789"/>
            <a:ext cx="572091" cy="251727"/>
          </a:xfrm>
          <a:prstGeom prst="rect">
            <a:avLst/>
          </a:prstGeom>
        </p:spPr>
        <p:txBody>
          <a:bodyPr anchor="t" rtlCol="false" tIns="0" lIns="0" bIns="0" rIns="0">
            <a:spAutoFit/>
          </a:bodyPr>
          <a:lstStyle/>
          <a:p>
            <a:pPr algn="r">
              <a:lnSpc>
                <a:spcPts val="1801"/>
              </a:lnSpc>
            </a:pPr>
            <a:r>
              <a:rPr lang="en-US" b="true" sz="1501">
                <a:solidFill>
                  <a:srgbClr val="A0C432"/>
                </a:solidFill>
                <a:latin typeface="Aptos Bold"/>
                <a:ea typeface="Aptos Bold"/>
                <a:cs typeface="Aptos Bold"/>
                <a:sym typeface="Aptos Bold"/>
              </a:rPr>
              <a:t>09</a:t>
            </a:r>
          </a:p>
        </p:txBody>
      </p:sp>
      <p:grpSp>
        <p:nvGrpSpPr>
          <p:cNvPr name="Group 7" id="7"/>
          <p:cNvGrpSpPr/>
          <p:nvPr/>
        </p:nvGrpSpPr>
        <p:grpSpPr>
          <a:xfrm rot="0">
            <a:off x="953719" y="2120494"/>
            <a:ext cx="5504993" cy="6809022"/>
            <a:chOff x="0" y="0"/>
            <a:chExt cx="7339990" cy="9078697"/>
          </a:xfrm>
        </p:grpSpPr>
        <p:sp>
          <p:nvSpPr>
            <p:cNvPr name="Freeform 8" id="8"/>
            <p:cNvSpPr/>
            <p:nvPr/>
          </p:nvSpPr>
          <p:spPr>
            <a:xfrm flipH="false" flipV="false" rot="0">
              <a:off x="0" y="0"/>
              <a:ext cx="7340092" cy="9078723"/>
            </a:xfrm>
            <a:custGeom>
              <a:avLst/>
              <a:gdLst/>
              <a:ahLst/>
              <a:cxnLst/>
              <a:rect r="r" b="b" t="t" l="l"/>
              <a:pathLst>
                <a:path h="9078723" w="7340092">
                  <a:moveTo>
                    <a:pt x="0" y="1223391"/>
                  </a:moveTo>
                  <a:cubicBezTo>
                    <a:pt x="0" y="547751"/>
                    <a:pt x="547751" y="0"/>
                    <a:pt x="1223391" y="0"/>
                  </a:cubicBezTo>
                  <a:lnTo>
                    <a:pt x="6116701" y="0"/>
                  </a:lnTo>
                  <a:cubicBezTo>
                    <a:pt x="6792341" y="0"/>
                    <a:pt x="7340092" y="547751"/>
                    <a:pt x="7340092" y="1223391"/>
                  </a:cubicBezTo>
                  <a:lnTo>
                    <a:pt x="7340092" y="7855331"/>
                  </a:lnTo>
                  <a:cubicBezTo>
                    <a:pt x="7340092" y="8530972"/>
                    <a:pt x="6792341" y="9078723"/>
                    <a:pt x="6116701" y="9078723"/>
                  </a:cubicBezTo>
                  <a:lnTo>
                    <a:pt x="1223391" y="9078723"/>
                  </a:lnTo>
                  <a:cubicBezTo>
                    <a:pt x="547751" y="9078722"/>
                    <a:pt x="0" y="8530971"/>
                    <a:pt x="0" y="7855331"/>
                  </a:cubicBezTo>
                  <a:close/>
                </a:path>
              </a:pathLst>
            </a:custGeom>
            <a:solidFill>
              <a:srgbClr val="121916"/>
            </a:solidFill>
            <a:ln w="14299" cap="sq">
              <a:solidFill>
                <a:srgbClr val="303E38"/>
              </a:solidFill>
              <a:prstDash val="solid"/>
              <a:miter/>
            </a:ln>
          </p:spPr>
        </p:sp>
      </p:grpSp>
      <p:grpSp>
        <p:nvGrpSpPr>
          <p:cNvPr name="Group 9" id="9"/>
          <p:cNvGrpSpPr/>
          <p:nvPr/>
        </p:nvGrpSpPr>
        <p:grpSpPr>
          <a:xfrm rot="0">
            <a:off x="960872" y="2127647"/>
            <a:ext cx="61770" cy="6794725"/>
            <a:chOff x="0" y="0"/>
            <a:chExt cx="82360" cy="9059634"/>
          </a:xfrm>
        </p:grpSpPr>
        <p:sp>
          <p:nvSpPr>
            <p:cNvPr name="Freeform 10" id="10"/>
            <p:cNvSpPr/>
            <p:nvPr/>
          </p:nvSpPr>
          <p:spPr>
            <a:xfrm flipH="false" flipV="false" rot="0">
              <a:off x="0" y="0"/>
              <a:ext cx="82423" cy="9059672"/>
            </a:xfrm>
            <a:custGeom>
              <a:avLst/>
              <a:gdLst/>
              <a:ahLst/>
              <a:cxnLst/>
              <a:rect r="r" b="b" t="t" l="l"/>
              <a:pathLst>
                <a:path h="9059672" w="82423">
                  <a:moveTo>
                    <a:pt x="0" y="0"/>
                  </a:moveTo>
                  <a:lnTo>
                    <a:pt x="82423" y="0"/>
                  </a:lnTo>
                  <a:lnTo>
                    <a:pt x="82423" y="9059672"/>
                  </a:lnTo>
                  <a:lnTo>
                    <a:pt x="0" y="9059672"/>
                  </a:lnTo>
                  <a:close/>
                </a:path>
              </a:pathLst>
            </a:custGeom>
            <a:solidFill>
              <a:srgbClr val="F0BE41"/>
            </a:solidFill>
          </p:spPr>
        </p:sp>
      </p:grpSp>
      <p:sp>
        <p:nvSpPr>
          <p:cNvPr name="TextBox 11" id="11"/>
          <p:cNvSpPr txBox="true"/>
          <p:nvPr/>
        </p:nvSpPr>
        <p:spPr>
          <a:xfrm rot="0">
            <a:off x="1354293" y="2392994"/>
            <a:ext cx="4786198" cy="457200"/>
          </a:xfrm>
          <a:prstGeom prst="rect">
            <a:avLst/>
          </a:prstGeom>
        </p:spPr>
        <p:txBody>
          <a:bodyPr anchor="t" rtlCol="false" tIns="0" lIns="0" bIns="0" rIns="0">
            <a:spAutoFit/>
          </a:bodyPr>
          <a:lstStyle/>
          <a:p>
            <a:pPr algn="l">
              <a:lnSpc>
                <a:spcPts val="3662"/>
              </a:lnSpc>
            </a:pPr>
            <a:r>
              <a:rPr lang="en-US" sz="3051" b="true">
                <a:solidFill>
                  <a:srgbClr val="F4F7F5"/>
                </a:solidFill>
                <a:latin typeface="Aptos Bold"/>
                <a:ea typeface="Aptos Bold"/>
                <a:cs typeface="Aptos Bold"/>
                <a:sym typeface="Aptos Bold"/>
              </a:rPr>
              <a:t>WORKING COMPONENTS</a:t>
            </a:r>
          </a:p>
        </p:txBody>
      </p:sp>
      <p:sp>
        <p:nvSpPr>
          <p:cNvPr name="TextBox 12" id="12"/>
          <p:cNvSpPr txBox="true"/>
          <p:nvPr/>
        </p:nvSpPr>
        <p:spPr>
          <a:xfrm rot="0">
            <a:off x="1354293" y="3031703"/>
            <a:ext cx="4786198" cy="5334000"/>
          </a:xfrm>
          <a:prstGeom prst="rect">
            <a:avLst/>
          </a:prstGeom>
        </p:spPr>
        <p:txBody>
          <a:bodyPr anchor="t" rtlCol="false" tIns="0" lIns="0" bIns="0" rIns="0">
            <a:spAutoFit/>
          </a:bodyPr>
          <a:lstStyle/>
          <a:p>
            <a:pPr algn="l">
              <a:lnSpc>
                <a:spcPts val="2791"/>
              </a:lnSpc>
            </a:pPr>
            <a:r>
              <a:rPr lang="en-US" sz="2326">
                <a:solidFill>
                  <a:srgbClr val="A7B3AD"/>
                </a:solidFill>
                <a:latin typeface="Calibri (MS)"/>
                <a:ea typeface="Calibri (MS)"/>
                <a:cs typeface="Calibri (MS)"/>
                <a:sym typeface="Calibri (MS)"/>
              </a:rPr>
              <a:t>✓ Landing page and navigation</a:t>
            </a:r>
          </a:p>
          <a:p>
            <a:pPr algn="l">
              <a:lnSpc>
                <a:spcPts val="2791"/>
              </a:lnSpc>
            </a:pPr>
          </a:p>
          <a:p>
            <a:pPr algn="l">
              <a:lnSpc>
                <a:spcPts val="2791"/>
              </a:lnSpc>
            </a:pPr>
            <a:r>
              <a:rPr lang="en-US" sz="2326">
                <a:solidFill>
                  <a:srgbClr val="A7B3AD"/>
                </a:solidFill>
                <a:latin typeface="Calibri (MS)"/>
                <a:ea typeface="Calibri (MS)"/>
                <a:cs typeface="Calibri (MS)"/>
                <a:sym typeface="Calibri (MS)"/>
              </a:rPr>
              <a:t>✓ User / role-based flow</a:t>
            </a:r>
          </a:p>
          <a:p>
            <a:pPr algn="l">
              <a:lnSpc>
                <a:spcPts val="2791"/>
              </a:lnSpc>
            </a:pPr>
          </a:p>
          <a:p>
            <a:pPr algn="l">
              <a:lnSpc>
                <a:spcPts val="2791"/>
              </a:lnSpc>
            </a:pPr>
            <a:r>
              <a:rPr lang="en-US" sz="2326">
                <a:solidFill>
                  <a:srgbClr val="A7B3AD"/>
                </a:solidFill>
                <a:latin typeface="Calibri (MS)"/>
                <a:ea typeface="Calibri (MS)"/>
                <a:cs typeface="Calibri (MS)"/>
                <a:sym typeface="Calibri (MS)"/>
              </a:rPr>
              <a:t>✓ Athlete registration and listing</a:t>
            </a:r>
          </a:p>
          <a:p>
            <a:pPr algn="l">
              <a:lnSpc>
                <a:spcPts val="2791"/>
              </a:lnSpc>
            </a:pPr>
          </a:p>
          <a:p>
            <a:pPr algn="l">
              <a:lnSpc>
                <a:spcPts val="2791"/>
              </a:lnSpc>
            </a:pPr>
            <a:r>
              <a:rPr lang="en-US" sz="2326">
                <a:solidFill>
                  <a:srgbClr val="A7B3AD"/>
                </a:solidFill>
                <a:latin typeface="Calibri (MS)"/>
                <a:ea typeface="Calibri (MS)"/>
                <a:cs typeface="Calibri (MS)"/>
                <a:sym typeface="Calibri (MS)"/>
              </a:rPr>
              <a:t>✓ Coach dashboard with live application data</a:t>
            </a:r>
          </a:p>
          <a:p>
            <a:pPr algn="l">
              <a:lnSpc>
                <a:spcPts val="2791"/>
              </a:lnSpc>
            </a:pPr>
          </a:p>
          <a:p>
            <a:pPr algn="l">
              <a:lnSpc>
                <a:spcPts val="2791"/>
              </a:lnSpc>
            </a:pPr>
            <a:r>
              <a:rPr lang="en-US" sz="2326">
                <a:solidFill>
                  <a:srgbClr val="A7B3AD"/>
                </a:solidFill>
                <a:latin typeface="Calibri (MS)"/>
                <a:ea typeface="Calibri (MS)"/>
                <a:cs typeface="Calibri (MS)"/>
                <a:sym typeface="Calibri (MS)"/>
              </a:rPr>
              <a:t>✓ Video upload and backend integration</a:t>
            </a:r>
          </a:p>
          <a:p>
            <a:pPr algn="l">
              <a:lnSpc>
                <a:spcPts val="2791"/>
              </a:lnSpc>
            </a:pPr>
          </a:p>
          <a:p>
            <a:pPr algn="l">
              <a:lnSpc>
                <a:spcPts val="2791"/>
              </a:lnSpc>
            </a:pPr>
            <a:r>
              <a:rPr lang="en-US" sz="2326">
                <a:solidFill>
                  <a:srgbClr val="A7B3AD"/>
                </a:solidFill>
                <a:latin typeface="Calibri (MS)"/>
                <a:ea typeface="Calibri (MS)"/>
                <a:cs typeface="Calibri (MS)"/>
                <a:sym typeface="Calibri (MS)"/>
              </a:rPr>
              <a:t>✓ Analysis response and history storage</a:t>
            </a:r>
          </a:p>
          <a:p>
            <a:pPr algn="l">
              <a:lnSpc>
                <a:spcPts val="2791"/>
              </a:lnSpc>
            </a:pPr>
          </a:p>
          <a:p>
            <a:pPr algn="l">
              <a:lnSpc>
                <a:spcPts val="2791"/>
              </a:lnSpc>
            </a:pPr>
            <a:r>
              <a:rPr lang="en-US" sz="2326">
                <a:solidFill>
                  <a:srgbClr val="A7B3AD"/>
                </a:solidFill>
                <a:latin typeface="Calibri (MS)"/>
                <a:ea typeface="Calibri (MS)"/>
                <a:cs typeface="Calibri (MS)"/>
                <a:sym typeface="Calibri (MS)"/>
              </a:rPr>
              <a:t>✓ Report-generation workflow</a:t>
            </a:r>
          </a:p>
        </p:txBody>
      </p:sp>
      <p:grpSp>
        <p:nvGrpSpPr>
          <p:cNvPr name="Group 13" id="13"/>
          <p:cNvGrpSpPr/>
          <p:nvPr/>
        </p:nvGrpSpPr>
        <p:grpSpPr>
          <a:xfrm rot="0">
            <a:off x="6787582" y="2120494"/>
            <a:ext cx="4818650" cy="6809022"/>
            <a:chOff x="0" y="0"/>
            <a:chExt cx="6424866" cy="9078697"/>
          </a:xfrm>
        </p:grpSpPr>
        <p:sp>
          <p:nvSpPr>
            <p:cNvPr name="Freeform 14" id="14"/>
            <p:cNvSpPr/>
            <p:nvPr/>
          </p:nvSpPr>
          <p:spPr>
            <a:xfrm flipH="false" flipV="false" rot="0">
              <a:off x="0" y="0"/>
              <a:ext cx="6424930" cy="9078722"/>
            </a:xfrm>
            <a:custGeom>
              <a:avLst/>
              <a:gdLst/>
              <a:ahLst/>
              <a:cxnLst/>
              <a:rect r="r" b="b" t="t" l="l"/>
              <a:pathLst>
                <a:path h="9078722" w="6424930">
                  <a:moveTo>
                    <a:pt x="0" y="1070864"/>
                  </a:moveTo>
                  <a:cubicBezTo>
                    <a:pt x="0" y="479425"/>
                    <a:pt x="479425" y="0"/>
                    <a:pt x="1070864" y="0"/>
                  </a:cubicBezTo>
                  <a:lnTo>
                    <a:pt x="5354066" y="0"/>
                  </a:lnTo>
                  <a:cubicBezTo>
                    <a:pt x="5945505" y="0"/>
                    <a:pt x="6424930" y="479425"/>
                    <a:pt x="6424930" y="1070864"/>
                  </a:cubicBezTo>
                  <a:lnTo>
                    <a:pt x="6424930" y="8007858"/>
                  </a:lnTo>
                  <a:cubicBezTo>
                    <a:pt x="6424930" y="8599297"/>
                    <a:pt x="5945505" y="9078722"/>
                    <a:pt x="5354066" y="9078722"/>
                  </a:cubicBezTo>
                  <a:lnTo>
                    <a:pt x="1070864" y="9078722"/>
                  </a:lnTo>
                  <a:cubicBezTo>
                    <a:pt x="479425" y="9078722"/>
                    <a:pt x="0" y="8599297"/>
                    <a:pt x="0" y="8007858"/>
                  </a:cubicBezTo>
                  <a:close/>
                </a:path>
              </a:pathLst>
            </a:custGeom>
            <a:solidFill>
              <a:srgbClr val="121916"/>
            </a:solidFill>
            <a:ln w="14299" cap="sq">
              <a:solidFill>
                <a:srgbClr val="303E38"/>
              </a:solidFill>
              <a:prstDash val="solid"/>
              <a:miter/>
            </a:ln>
          </p:spPr>
        </p:sp>
      </p:grpSp>
      <p:grpSp>
        <p:nvGrpSpPr>
          <p:cNvPr name="Group 15" id="15"/>
          <p:cNvGrpSpPr/>
          <p:nvPr/>
        </p:nvGrpSpPr>
        <p:grpSpPr>
          <a:xfrm rot="0">
            <a:off x="6794725" y="2127647"/>
            <a:ext cx="61770" cy="6794725"/>
            <a:chOff x="0" y="0"/>
            <a:chExt cx="82360" cy="9059634"/>
          </a:xfrm>
        </p:grpSpPr>
        <p:sp>
          <p:nvSpPr>
            <p:cNvPr name="Freeform 16" id="16"/>
            <p:cNvSpPr/>
            <p:nvPr/>
          </p:nvSpPr>
          <p:spPr>
            <a:xfrm flipH="false" flipV="false" rot="0">
              <a:off x="0" y="0"/>
              <a:ext cx="82423" cy="9059672"/>
            </a:xfrm>
            <a:custGeom>
              <a:avLst/>
              <a:gdLst/>
              <a:ahLst/>
              <a:cxnLst/>
              <a:rect r="r" b="b" t="t" l="l"/>
              <a:pathLst>
                <a:path h="9059672" w="82423">
                  <a:moveTo>
                    <a:pt x="0" y="0"/>
                  </a:moveTo>
                  <a:lnTo>
                    <a:pt x="82423" y="0"/>
                  </a:lnTo>
                  <a:lnTo>
                    <a:pt x="82423" y="9059672"/>
                  </a:lnTo>
                  <a:lnTo>
                    <a:pt x="0" y="9059672"/>
                  </a:lnTo>
                  <a:close/>
                </a:path>
              </a:pathLst>
            </a:custGeom>
            <a:solidFill>
              <a:srgbClr val="F0BE41"/>
            </a:solidFill>
          </p:spPr>
        </p:sp>
      </p:grpSp>
      <p:sp>
        <p:nvSpPr>
          <p:cNvPr name="TextBox 17" id="17"/>
          <p:cNvSpPr txBox="true"/>
          <p:nvPr/>
        </p:nvSpPr>
        <p:spPr>
          <a:xfrm rot="0">
            <a:off x="7188156" y="2392994"/>
            <a:ext cx="4099855" cy="457200"/>
          </a:xfrm>
          <a:prstGeom prst="rect">
            <a:avLst/>
          </a:prstGeom>
        </p:spPr>
        <p:txBody>
          <a:bodyPr anchor="t" rtlCol="false" tIns="0" lIns="0" bIns="0" rIns="0">
            <a:spAutoFit/>
          </a:bodyPr>
          <a:lstStyle/>
          <a:p>
            <a:pPr algn="l">
              <a:lnSpc>
                <a:spcPts val="3662"/>
              </a:lnSpc>
            </a:pPr>
            <a:r>
              <a:rPr lang="en-US" sz="3051" b="true">
                <a:solidFill>
                  <a:srgbClr val="F4F7F5"/>
                </a:solidFill>
                <a:latin typeface="Aptos Bold"/>
                <a:ea typeface="Aptos Bold"/>
                <a:cs typeface="Aptos Bold"/>
                <a:sym typeface="Aptos Bold"/>
              </a:rPr>
              <a:t>OBSERVED OUTPUT</a:t>
            </a:r>
          </a:p>
        </p:txBody>
      </p:sp>
      <p:sp>
        <p:nvSpPr>
          <p:cNvPr name="TextBox 18" id="18"/>
          <p:cNvSpPr txBox="true"/>
          <p:nvPr/>
        </p:nvSpPr>
        <p:spPr>
          <a:xfrm rot="0">
            <a:off x="7188156" y="3079328"/>
            <a:ext cx="4099855" cy="3171825"/>
          </a:xfrm>
          <a:prstGeom prst="rect">
            <a:avLst/>
          </a:prstGeom>
        </p:spPr>
        <p:txBody>
          <a:bodyPr anchor="t" rtlCol="false" tIns="0" lIns="0" bIns="0" rIns="0">
            <a:spAutoFit/>
          </a:bodyPr>
          <a:lstStyle/>
          <a:p>
            <a:pPr algn="l">
              <a:lnSpc>
                <a:spcPts val="2791"/>
              </a:lnSpc>
            </a:pPr>
            <a:r>
              <a:rPr lang="en-US" sz="2326">
                <a:solidFill>
                  <a:srgbClr val="A7B3AD"/>
                </a:solidFill>
                <a:latin typeface="Aptos"/>
                <a:ea typeface="Aptos"/>
                <a:cs typeface="Aptos"/>
                <a:sym typeface="Aptos"/>
              </a:rPr>
              <a:t>The application is able to connect the user interface to the FastAPI backend, process submitted videos through the analysis pipeline, associate results with an athlete and expose the resulting information to the dashboard / analysis views.</a:t>
            </a:r>
          </a:p>
        </p:txBody>
      </p:sp>
      <p:grpSp>
        <p:nvGrpSpPr>
          <p:cNvPr name="Group 19" id="19"/>
          <p:cNvGrpSpPr/>
          <p:nvPr/>
        </p:nvGrpSpPr>
        <p:grpSpPr>
          <a:xfrm rot="0">
            <a:off x="11935101" y="2120494"/>
            <a:ext cx="5367718" cy="6809022"/>
            <a:chOff x="0" y="0"/>
            <a:chExt cx="7156958" cy="9078697"/>
          </a:xfrm>
        </p:grpSpPr>
        <p:sp>
          <p:nvSpPr>
            <p:cNvPr name="Freeform 20" id="20"/>
            <p:cNvSpPr/>
            <p:nvPr/>
          </p:nvSpPr>
          <p:spPr>
            <a:xfrm flipH="false" flipV="false" rot="0">
              <a:off x="0" y="0"/>
              <a:ext cx="7156958" cy="9078722"/>
            </a:xfrm>
            <a:custGeom>
              <a:avLst/>
              <a:gdLst/>
              <a:ahLst/>
              <a:cxnLst/>
              <a:rect r="r" b="b" t="t" l="l"/>
              <a:pathLst>
                <a:path h="9078722" w="7156958">
                  <a:moveTo>
                    <a:pt x="0" y="1192911"/>
                  </a:moveTo>
                  <a:cubicBezTo>
                    <a:pt x="0" y="534035"/>
                    <a:pt x="534035" y="0"/>
                    <a:pt x="1192911" y="0"/>
                  </a:cubicBezTo>
                  <a:lnTo>
                    <a:pt x="5964047" y="0"/>
                  </a:lnTo>
                  <a:cubicBezTo>
                    <a:pt x="6622796" y="0"/>
                    <a:pt x="7156958" y="534035"/>
                    <a:pt x="7156958" y="1192911"/>
                  </a:cubicBezTo>
                  <a:lnTo>
                    <a:pt x="7156958" y="7885811"/>
                  </a:lnTo>
                  <a:cubicBezTo>
                    <a:pt x="7156958" y="8544560"/>
                    <a:pt x="6622923" y="9078722"/>
                    <a:pt x="5964047" y="9078722"/>
                  </a:cubicBezTo>
                  <a:lnTo>
                    <a:pt x="1192911" y="9078722"/>
                  </a:lnTo>
                  <a:cubicBezTo>
                    <a:pt x="534035" y="9078722"/>
                    <a:pt x="0" y="8544687"/>
                    <a:pt x="0" y="7885811"/>
                  </a:cubicBezTo>
                  <a:close/>
                </a:path>
              </a:pathLst>
            </a:custGeom>
            <a:solidFill>
              <a:srgbClr val="121916"/>
            </a:solidFill>
            <a:ln w="14299" cap="sq">
              <a:solidFill>
                <a:srgbClr val="303E38"/>
              </a:solidFill>
              <a:prstDash val="solid"/>
              <a:miter/>
            </a:ln>
          </p:spPr>
        </p:sp>
      </p:grpSp>
      <p:grpSp>
        <p:nvGrpSpPr>
          <p:cNvPr name="Group 21" id="21"/>
          <p:cNvGrpSpPr/>
          <p:nvPr/>
        </p:nvGrpSpPr>
        <p:grpSpPr>
          <a:xfrm rot="0">
            <a:off x="11942245" y="2127647"/>
            <a:ext cx="61770" cy="6794725"/>
            <a:chOff x="0" y="0"/>
            <a:chExt cx="82360" cy="9059634"/>
          </a:xfrm>
        </p:grpSpPr>
        <p:sp>
          <p:nvSpPr>
            <p:cNvPr name="Freeform 22" id="22"/>
            <p:cNvSpPr/>
            <p:nvPr/>
          </p:nvSpPr>
          <p:spPr>
            <a:xfrm flipH="false" flipV="false" rot="0">
              <a:off x="0" y="0"/>
              <a:ext cx="82423" cy="9059672"/>
            </a:xfrm>
            <a:custGeom>
              <a:avLst/>
              <a:gdLst/>
              <a:ahLst/>
              <a:cxnLst/>
              <a:rect r="r" b="b" t="t" l="l"/>
              <a:pathLst>
                <a:path h="9059672" w="82423">
                  <a:moveTo>
                    <a:pt x="0" y="0"/>
                  </a:moveTo>
                  <a:lnTo>
                    <a:pt x="82423" y="0"/>
                  </a:lnTo>
                  <a:lnTo>
                    <a:pt x="82423" y="9059672"/>
                  </a:lnTo>
                  <a:lnTo>
                    <a:pt x="0" y="9059672"/>
                  </a:lnTo>
                  <a:close/>
                </a:path>
              </a:pathLst>
            </a:custGeom>
            <a:solidFill>
              <a:srgbClr val="EB5858"/>
            </a:solidFill>
          </p:spPr>
        </p:sp>
      </p:grpSp>
      <p:sp>
        <p:nvSpPr>
          <p:cNvPr name="TextBox 23" id="23"/>
          <p:cNvSpPr txBox="true"/>
          <p:nvPr/>
        </p:nvSpPr>
        <p:spPr>
          <a:xfrm rot="0">
            <a:off x="12335675" y="2392994"/>
            <a:ext cx="4648924" cy="457200"/>
          </a:xfrm>
          <a:prstGeom prst="rect">
            <a:avLst/>
          </a:prstGeom>
        </p:spPr>
        <p:txBody>
          <a:bodyPr anchor="t" rtlCol="false" tIns="0" lIns="0" bIns="0" rIns="0">
            <a:spAutoFit/>
          </a:bodyPr>
          <a:lstStyle/>
          <a:p>
            <a:pPr algn="l">
              <a:lnSpc>
                <a:spcPts val="3662"/>
              </a:lnSpc>
            </a:pPr>
            <a:r>
              <a:rPr lang="en-US" sz="3051" b="true">
                <a:solidFill>
                  <a:srgbClr val="F4F7F5"/>
                </a:solidFill>
                <a:latin typeface="Aptos Bold"/>
                <a:ea typeface="Aptos Bold"/>
                <a:cs typeface="Aptos Bold"/>
                <a:sym typeface="Aptos Bold"/>
              </a:rPr>
              <a:t>IMPORTANT NOTE</a:t>
            </a:r>
          </a:p>
        </p:txBody>
      </p:sp>
      <p:sp>
        <p:nvSpPr>
          <p:cNvPr name="TextBox 24" id="24"/>
          <p:cNvSpPr txBox="true"/>
          <p:nvPr/>
        </p:nvSpPr>
        <p:spPr>
          <a:xfrm rot="0">
            <a:off x="12335675" y="3079328"/>
            <a:ext cx="4648924" cy="3524250"/>
          </a:xfrm>
          <a:prstGeom prst="rect">
            <a:avLst/>
          </a:prstGeom>
        </p:spPr>
        <p:txBody>
          <a:bodyPr anchor="t" rtlCol="false" tIns="0" lIns="0" bIns="0" rIns="0">
            <a:spAutoFit/>
          </a:bodyPr>
          <a:lstStyle/>
          <a:p>
            <a:pPr algn="l">
              <a:lnSpc>
                <a:spcPts val="2791"/>
              </a:lnSpc>
            </a:pPr>
            <a:r>
              <a:rPr lang="en-US" sz="2326">
                <a:solidFill>
                  <a:srgbClr val="A7B3AD"/>
                </a:solidFill>
                <a:latin typeface="Aptos"/>
                <a:ea typeface="Aptos"/>
                <a:cs typeface="Aptos"/>
                <a:sym typeface="Aptos"/>
              </a:rPr>
              <a:t>The current project demonstrates the complete application workflow.</a:t>
            </a:r>
          </a:p>
          <a:p>
            <a:pPr algn="l">
              <a:lnSpc>
                <a:spcPts val="2791"/>
              </a:lnSpc>
            </a:pPr>
          </a:p>
          <a:p>
            <a:pPr algn="l">
              <a:lnSpc>
                <a:spcPts val="2791"/>
              </a:lnSpc>
            </a:pPr>
            <a:r>
              <a:rPr lang="en-US" sz="2326">
                <a:solidFill>
                  <a:srgbClr val="A7B3AD"/>
                </a:solidFill>
                <a:latin typeface="Aptos"/>
                <a:ea typeface="Aptos"/>
                <a:cs typeface="Aptos"/>
                <a:sym typeface="Aptos"/>
              </a:rPr>
              <a:t>Model accuracy and clinical validity should be evaluated separately using a larger, representative dataset and formal validation.</a:t>
            </a:r>
          </a:p>
          <a:p>
            <a:pPr algn="l">
              <a:lnSpc>
                <a:spcPts val="2791"/>
              </a:lnSpc>
            </a:pPr>
          </a:p>
          <a:p>
            <a:pPr algn="l">
              <a:lnSpc>
                <a:spcPts val="2791"/>
              </a:lnSpc>
            </a:pPr>
            <a:r>
              <a:rPr lang="en-US" sz="2326">
                <a:solidFill>
                  <a:srgbClr val="A7B3AD"/>
                </a:solidFill>
                <a:latin typeface="Aptos"/>
                <a:ea typeface="Aptos"/>
                <a:cs typeface="Aptos"/>
                <a:sym typeface="Aptos"/>
              </a:rPr>
              <a:t>No unsupported accuracy figure is claimed in this presentation.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80C0B"/>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96088"/>
            <a:chOff x="0" y="0"/>
            <a:chExt cx="24402453" cy="128118"/>
          </a:xfrm>
        </p:grpSpPr>
        <p:sp>
          <p:nvSpPr>
            <p:cNvPr name="Freeform 3" id="3"/>
            <p:cNvSpPr/>
            <p:nvPr/>
          </p:nvSpPr>
          <p:spPr>
            <a:xfrm flipH="false" flipV="false" rot="0">
              <a:off x="0" y="0"/>
              <a:ext cx="24402414" cy="128143"/>
            </a:xfrm>
            <a:custGeom>
              <a:avLst/>
              <a:gdLst/>
              <a:ahLst/>
              <a:cxnLst/>
              <a:rect r="r" b="b" t="t" l="l"/>
              <a:pathLst>
                <a:path h="128143" w="24402414">
                  <a:moveTo>
                    <a:pt x="0" y="0"/>
                  </a:moveTo>
                  <a:lnTo>
                    <a:pt x="24402414" y="0"/>
                  </a:lnTo>
                  <a:lnTo>
                    <a:pt x="24402414" y="128143"/>
                  </a:lnTo>
                  <a:lnTo>
                    <a:pt x="0" y="128143"/>
                  </a:lnTo>
                  <a:close/>
                </a:path>
              </a:pathLst>
            </a:custGeom>
            <a:solidFill>
              <a:srgbClr val="A0C432"/>
            </a:solidFill>
          </p:spPr>
        </p:sp>
      </p:grpSp>
      <p:grpSp>
        <p:nvGrpSpPr>
          <p:cNvPr name="Group 4" id="4"/>
          <p:cNvGrpSpPr/>
          <p:nvPr/>
        </p:nvGrpSpPr>
        <p:grpSpPr>
          <a:xfrm rot="0">
            <a:off x="981777" y="1132265"/>
            <a:ext cx="8162223" cy="4206088"/>
            <a:chOff x="0" y="0"/>
            <a:chExt cx="9603597" cy="4948845"/>
          </a:xfrm>
        </p:grpSpPr>
        <p:sp>
          <p:nvSpPr>
            <p:cNvPr name="Freeform 5" id="5"/>
            <p:cNvSpPr/>
            <p:nvPr/>
          </p:nvSpPr>
          <p:spPr>
            <a:xfrm flipH="false" flipV="false" rot="0">
              <a:off x="0" y="0"/>
              <a:ext cx="9603550" cy="4948795"/>
            </a:xfrm>
            <a:custGeom>
              <a:avLst/>
              <a:gdLst/>
              <a:ahLst/>
              <a:cxnLst/>
              <a:rect r="r" b="b" t="t" l="l"/>
              <a:pathLst>
                <a:path h="4948795" w="9603550">
                  <a:moveTo>
                    <a:pt x="0" y="824827"/>
                  </a:moveTo>
                  <a:cubicBezTo>
                    <a:pt x="0" y="369298"/>
                    <a:pt x="259414" y="0"/>
                    <a:pt x="579400" y="0"/>
                  </a:cubicBezTo>
                  <a:lnTo>
                    <a:pt x="9024151" y="0"/>
                  </a:lnTo>
                  <a:cubicBezTo>
                    <a:pt x="9344137" y="0"/>
                    <a:pt x="9603550" y="369298"/>
                    <a:pt x="9603550" y="824827"/>
                  </a:cubicBezTo>
                  <a:lnTo>
                    <a:pt x="9603550" y="4123968"/>
                  </a:lnTo>
                  <a:cubicBezTo>
                    <a:pt x="9603550" y="4579497"/>
                    <a:pt x="9344137" y="4948795"/>
                    <a:pt x="9024151" y="4948795"/>
                  </a:cubicBezTo>
                  <a:lnTo>
                    <a:pt x="579400" y="4948795"/>
                  </a:lnTo>
                  <a:cubicBezTo>
                    <a:pt x="259414" y="4948795"/>
                    <a:pt x="0" y="4579497"/>
                    <a:pt x="0" y="4123968"/>
                  </a:cubicBezTo>
                  <a:close/>
                </a:path>
              </a:pathLst>
            </a:custGeom>
            <a:blipFill>
              <a:blip r:embed="rId2"/>
              <a:stretch>
                <a:fillRect l="0" t="-7045" r="0" b="-7045"/>
              </a:stretch>
            </a:blipFill>
            <a:ln w="28597" cap="sq">
              <a:solidFill>
                <a:srgbClr val="F4F7F5"/>
              </a:solidFill>
              <a:prstDash val="solid"/>
              <a:miter/>
            </a:ln>
          </p:spPr>
        </p:sp>
      </p:grpSp>
      <p:grpSp>
        <p:nvGrpSpPr>
          <p:cNvPr name="Group 6" id="6"/>
          <p:cNvGrpSpPr/>
          <p:nvPr/>
        </p:nvGrpSpPr>
        <p:grpSpPr>
          <a:xfrm rot="0">
            <a:off x="9429750" y="1081854"/>
            <a:ext cx="7934111" cy="4306911"/>
            <a:chOff x="0" y="0"/>
            <a:chExt cx="9161632" cy="4973251"/>
          </a:xfrm>
        </p:grpSpPr>
        <p:sp>
          <p:nvSpPr>
            <p:cNvPr name="Freeform 7" id="7"/>
            <p:cNvSpPr/>
            <p:nvPr/>
          </p:nvSpPr>
          <p:spPr>
            <a:xfrm flipH="false" flipV="false" rot="0">
              <a:off x="0" y="0"/>
              <a:ext cx="9161587" cy="4973201"/>
            </a:xfrm>
            <a:custGeom>
              <a:avLst/>
              <a:gdLst/>
              <a:ahLst/>
              <a:cxnLst/>
              <a:rect r="r" b="b" t="t" l="l"/>
              <a:pathLst>
                <a:path h="4973201" w="9161587">
                  <a:moveTo>
                    <a:pt x="0" y="828895"/>
                  </a:moveTo>
                  <a:cubicBezTo>
                    <a:pt x="0" y="371119"/>
                    <a:pt x="247475" y="0"/>
                    <a:pt x="552736" y="0"/>
                  </a:cubicBezTo>
                  <a:lnTo>
                    <a:pt x="8608851" y="0"/>
                  </a:lnTo>
                  <a:cubicBezTo>
                    <a:pt x="8914112" y="0"/>
                    <a:pt x="9161587" y="371119"/>
                    <a:pt x="9161587" y="828895"/>
                  </a:cubicBezTo>
                  <a:lnTo>
                    <a:pt x="9161587" y="4144306"/>
                  </a:lnTo>
                  <a:cubicBezTo>
                    <a:pt x="9161587" y="4602081"/>
                    <a:pt x="8914112" y="4973201"/>
                    <a:pt x="8608851" y="4973201"/>
                  </a:cubicBezTo>
                  <a:lnTo>
                    <a:pt x="552736" y="4973201"/>
                  </a:lnTo>
                  <a:cubicBezTo>
                    <a:pt x="247475" y="4973201"/>
                    <a:pt x="0" y="4602081"/>
                    <a:pt x="0" y="4144306"/>
                  </a:cubicBezTo>
                  <a:close/>
                </a:path>
              </a:pathLst>
            </a:custGeom>
            <a:blipFill>
              <a:blip r:embed="rId3"/>
              <a:stretch>
                <a:fillRect l="0" t="-1581" r="0" b="-1581"/>
              </a:stretch>
            </a:blipFill>
            <a:ln w="28597" cap="sq">
              <a:solidFill>
                <a:srgbClr val="F4F7F5"/>
              </a:solidFill>
              <a:prstDash val="solid"/>
              <a:miter/>
            </a:ln>
          </p:spPr>
        </p:sp>
      </p:grpSp>
      <p:grpSp>
        <p:nvGrpSpPr>
          <p:cNvPr name="Group 8" id="8"/>
          <p:cNvGrpSpPr/>
          <p:nvPr/>
        </p:nvGrpSpPr>
        <p:grpSpPr>
          <a:xfrm rot="0">
            <a:off x="981777" y="5500278"/>
            <a:ext cx="8162223" cy="4470846"/>
            <a:chOff x="0" y="0"/>
            <a:chExt cx="9229244" cy="5055306"/>
          </a:xfrm>
        </p:grpSpPr>
        <p:sp>
          <p:nvSpPr>
            <p:cNvPr name="Freeform 9" id="9"/>
            <p:cNvSpPr/>
            <p:nvPr/>
          </p:nvSpPr>
          <p:spPr>
            <a:xfrm flipH="false" flipV="false" rot="0">
              <a:off x="0" y="0"/>
              <a:ext cx="9229199" cy="5055255"/>
            </a:xfrm>
            <a:custGeom>
              <a:avLst/>
              <a:gdLst/>
              <a:ahLst/>
              <a:cxnLst/>
              <a:rect r="r" b="b" t="t" l="l"/>
              <a:pathLst>
                <a:path h="5055255" w="9229199">
                  <a:moveTo>
                    <a:pt x="0" y="842571"/>
                  </a:moveTo>
                  <a:cubicBezTo>
                    <a:pt x="0" y="377243"/>
                    <a:pt x="249302" y="0"/>
                    <a:pt x="556815" y="0"/>
                  </a:cubicBezTo>
                  <a:lnTo>
                    <a:pt x="8672385" y="0"/>
                  </a:lnTo>
                  <a:cubicBezTo>
                    <a:pt x="8979897" y="0"/>
                    <a:pt x="9229199" y="377243"/>
                    <a:pt x="9229199" y="842571"/>
                  </a:cubicBezTo>
                  <a:lnTo>
                    <a:pt x="9229199" y="4212684"/>
                  </a:lnTo>
                  <a:cubicBezTo>
                    <a:pt x="9229199" y="4678012"/>
                    <a:pt x="8979898" y="5055255"/>
                    <a:pt x="8672385" y="5055255"/>
                  </a:cubicBezTo>
                  <a:lnTo>
                    <a:pt x="556815" y="5055255"/>
                  </a:lnTo>
                  <a:cubicBezTo>
                    <a:pt x="249302" y="5055255"/>
                    <a:pt x="0" y="4678012"/>
                    <a:pt x="0" y="4212684"/>
                  </a:cubicBezTo>
                  <a:close/>
                </a:path>
              </a:pathLst>
            </a:custGeom>
            <a:blipFill>
              <a:blip r:embed="rId4"/>
              <a:stretch>
                <a:fillRect l="0" t="-1616" r="0" b="-1616"/>
              </a:stretch>
            </a:blipFill>
            <a:ln w="28597" cap="sq">
              <a:solidFill>
                <a:srgbClr val="F4F7F5"/>
              </a:solidFill>
              <a:prstDash val="solid"/>
              <a:miter/>
            </a:ln>
          </p:spPr>
        </p:sp>
      </p:grpSp>
      <p:grpSp>
        <p:nvGrpSpPr>
          <p:cNvPr name="Group 10" id="10"/>
          <p:cNvGrpSpPr/>
          <p:nvPr/>
        </p:nvGrpSpPr>
        <p:grpSpPr>
          <a:xfrm rot="0">
            <a:off x="9429750" y="5576601"/>
            <a:ext cx="7934111" cy="4394524"/>
            <a:chOff x="0" y="0"/>
            <a:chExt cx="9497062" cy="5260206"/>
          </a:xfrm>
        </p:grpSpPr>
        <p:sp>
          <p:nvSpPr>
            <p:cNvPr name="Freeform 11" id="11"/>
            <p:cNvSpPr/>
            <p:nvPr/>
          </p:nvSpPr>
          <p:spPr>
            <a:xfrm flipH="false" flipV="false" rot="0">
              <a:off x="0" y="0"/>
              <a:ext cx="9497016" cy="5260153"/>
            </a:xfrm>
            <a:custGeom>
              <a:avLst/>
              <a:gdLst/>
              <a:ahLst/>
              <a:cxnLst/>
              <a:rect r="r" b="b" t="t" l="l"/>
              <a:pathLst>
                <a:path h="5260153" w="9497016">
                  <a:moveTo>
                    <a:pt x="0" y="876722"/>
                  </a:moveTo>
                  <a:cubicBezTo>
                    <a:pt x="0" y="392533"/>
                    <a:pt x="256536" y="0"/>
                    <a:pt x="572973" y="0"/>
                  </a:cubicBezTo>
                  <a:lnTo>
                    <a:pt x="8924044" y="0"/>
                  </a:lnTo>
                  <a:cubicBezTo>
                    <a:pt x="9240479" y="0"/>
                    <a:pt x="9497016" y="392533"/>
                    <a:pt x="9497016" y="876722"/>
                  </a:cubicBezTo>
                  <a:lnTo>
                    <a:pt x="9497016" y="4383432"/>
                  </a:lnTo>
                  <a:cubicBezTo>
                    <a:pt x="9497016" y="4867620"/>
                    <a:pt x="9240480" y="5260153"/>
                    <a:pt x="8924044" y="5260153"/>
                  </a:cubicBezTo>
                  <a:lnTo>
                    <a:pt x="572973" y="5260153"/>
                  </a:lnTo>
                  <a:cubicBezTo>
                    <a:pt x="256536" y="5260153"/>
                    <a:pt x="0" y="4867620"/>
                    <a:pt x="0" y="4383432"/>
                  </a:cubicBezTo>
                  <a:close/>
                </a:path>
              </a:pathLst>
            </a:custGeom>
            <a:blipFill>
              <a:blip r:embed="rId5"/>
              <a:stretch>
                <a:fillRect l="0" t="-224" r="0" b="-224"/>
              </a:stretch>
            </a:blipFill>
            <a:ln w="28597" cap="sq">
              <a:solidFill>
                <a:srgbClr val="F4F7F5"/>
              </a:solidFill>
              <a:prstDash val="solid"/>
              <a:miter/>
            </a:ln>
          </p:spPr>
        </p:sp>
      </p:grpSp>
      <p:sp>
        <p:nvSpPr>
          <p:cNvPr name="TextBox 12" id="12"/>
          <p:cNvSpPr txBox="true"/>
          <p:nvPr/>
        </p:nvSpPr>
        <p:spPr>
          <a:xfrm rot="0">
            <a:off x="486923" y="270939"/>
            <a:ext cx="5122218" cy="657225"/>
          </a:xfrm>
          <a:prstGeom prst="rect">
            <a:avLst/>
          </a:prstGeom>
        </p:spPr>
        <p:txBody>
          <a:bodyPr anchor="t" rtlCol="false" tIns="0" lIns="0" bIns="0" rIns="0">
            <a:spAutoFit/>
          </a:bodyPr>
          <a:lstStyle/>
          <a:p>
            <a:pPr algn="l">
              <a:lnSpc>
                <a:spcPts val="5283"/>
              </a:lnSpc>
            </a:pPr>
            <a:r>
              <a:rPr lang="en-US" sz="4403" b="true">
                <a:solidFill>
                  <a:srgbClr val="F4F7F5"/>
                </a:solidFill>
                <a:latin typeface="Aptos Bold"/>
                <a:ea typeface="Aptos Bold"/>
                <a:cs typeface="Aptos Bold"/>
                <a:sym typeface="Aptos Bold"/>
              </a:rPr>
              <a:t>Application Screens</a:t>
            </a:r>
          </a:p>
        </p:txBody>
      </p:sp>
      <p:sp>
        <p:nvSpPr>
          <p:cNvPr name="TextBox 13" id="13"/>
          <p:cNvSpPr txBox="true"/>
          <p:nvPr/>
        </p:nvSpPr>
        <p:spPr>
          <a:xfrm rot="0">
            <a:off x="16632145" y="594789"/>
            <a:ext cx="572091" cy="251727"/>
          </a:xfrm>
          <a:prstGeom prst="rect">
            <a:avLst/>
          </a:prstGeom>
        </p:spPr>
        <p:txBody>
          <a:bodyPr anchor="t" rtlCol="false" tIns="0" lIns="0" bIns="0" rIns="0">
            <a:spAutoFit/>
          </a:bodyPr>
          <a:lstStyle/>
          <a:p>
            <a:pPr algn="r">
              <a:lnSpc>
                <a:spcPts val="1801"/>
              </a:lnSpc>
            </a:pPr>
            <a:r>
              <a:rPr lang="en-US" b="true" sz="1501">
                <a:solidFill>
                  <a:srgbClr val="A0C432"/>
                </a:solidFill>
                <a:latin typeface="Aptos Bold"/>
                <a:ea typeface="Aptos Bold"/>
                <a:cs typeface="Aptos Bold"/>
                <a:sym typeface="Aptos Bold"/>
              </a:rPr>
              <a:t>10</a:t>
            </a:r>
          </a:p>
        </p:txBody>
      </p:sp>
      <p:sp>
        <p:nvSpPr>
          <p:cNvPr name="TextBox 14" id="14"/>
          <p:cNvSpPr txBox="true"/>
          <p:nvPr/>
        </p:nvSpPr>
        <p:spPr>
          <a:xfrm rot="-5400000">
            <a:off x="-3137378" y="3001946"/>
            <a:ext cx="7229551" cy="466725"/>
          </a:xfrm>
          <a:prstGeom prst="rect">
            <a:avLst/>
          </a:prstGeom>
        </p:spPr>
        <p:txBody>
          <a:bodyPr anchor="t" rtlCol="false" tIns="0" lIns="0" bIns="0" rIns="0">
            <a:spAutoFit/>
          </a:bodyPr>
          <a:lstStyle/>
          <a:p>
            <a:pPr algn="ctr">
              <a:lnSpc>
                <a:spcPts val="3600"/>
              </a:lnSpc>
            </a:pPr>
            <a:r>
              <a:rPr lang="en-US" b="true" sz="3000">
                <a:solidFill>
                  <a:srgbClr val="F4F7F5"/>
                </a:solidFill>
                <a:latin typeface="Cormorant Garamond Bold"/>
                <a:ea typeface="Cormorant Garamond Bold"/>
                <a:cs typeface="Cormorant Garamond Bold"/>
                <a:sym typeface="Cormorant Garamond Bold"/>
              </a:rPr>
              <a:t>LANDING PAGE</a:t>
            </a:r>
          </a:p>
        </p:txBody>
      </p:sp>
      <p:sp>
        <p:nvSpPr>
          <p:cNvPr name="TextBox 15" id="15"/>
          <p:cNvSpPr txBox="true"/>
          <p:nvPr/>
        </p:nvSpPr>
        <p:spPr>
          <a:xfrm rot="-5400000">
            <a:off x="14134848" y="2880099"/>
            <a:ext cx="7229551" cy="428625"/>
          </a:xfrm>
          <a:prstGeom prst="rect">
            <a:avLst/>
          </a:prstGeom>
        </p:spPr>
        <p:txBody>
          <a:bodyPr anchor="t" rtlCol="false" tIns="0" lIns="0" bIns="0" rIns="0">
            <a:spAutoFit/>
          </a:bodyPr>
          <a:lstStyle/>
          <a:p>
            <a:pPr algn="ctr">
              <a:lnSpc>
                <a:spcPts val="3420"/>
              </a:lnSpc>
            </a:pPr>
            <a:r>
              <a:rPr lang="en-US" b="true" sz="2850">
                <a:solidFill>
                  <a:srgbClr val="F4F7F5"/>
                </a:solidFill>
                <a:latin typeface="Cormorant Garamond Bold"/>
                <a:ea typeface="Cormorant Garamond Bold"/>
                <a:cs typeface="Cormorant Garamond Bold"/>
                <a:sym typeface="Cormorant Garamond Bold"/>
              </a:rPr>
              <a:t>COACH DASHBOARD</a:t>
            </a:r>
          </a:p>
        </p:txBody>
      </p:sp>
      <p:sp>
        <p:nvSpPr>
          <p:cNvPr name="TextBox 16" id="16"/>
          <p:cNvSpPr txBox="true"/>
          <p:nvPr/>
        </p:nvSpPr>
        <p:spPr>
          <a:xfrm rot="-5400000">
            <a:off x="-3127852" y="7526151"/>
            <a:ext cx="7229551" cy="419100"/>
          </a:xfrm>
          <a:prstGeom prst="rect">
            <a:avLst/>
          </a:prstGeom>
        </p:spPr>
        <p:txBody>
          <a:bodyPr anchor="t" rtlCol="false" tIns="0" lIns="0" bIns="0" rIns="0">
            <a:spAutoFit/>
          </a:bodyPr>
          <a:lstStyle/>
          <a:p>
            <a:pPr algn="ctr">
              <a:lnSpc>
                <a:spcPts val="3360"/>
              </a:lnSpc>
            </a:pPr>
            <a:r>
              <a:rPr lang="en-US" b="true" sz="2800">
                <a:solidFill>
                  <a:srgbClr val="F4F7F5"/>
                </a:solidFill>
                <a:latin typeface="Cormorant Garamond Bold"/>
                <a:ea typeface="Cormorant Garamond Bold"/>
                <a:cs typeface="Cormorant Garamond Bold"/>
                <a:sym typeface="Cormorant Garamond Bold"/>
              </a:rPr>
              <a:t>ATHLETE MANAGEMENT</a:t>
            </a:r>
          </a:p>
        </p:txBody>
      </p:sp>
      <p:sp>
        <p:nvSpPr>
          <p:cNvPr name="TextBox 17" id="17"/>
          <p:cNvSpPr txBox="true"/>
          <p:nvPr/>
        </p:nvSpPr>
        <p:spPr>
          <a:xfrm rot="-5400000">
            <a:off x="14268450" y="7645526"/>
            <a:ext cx="7067124" cy="419100"/>
          </a:xfrm>
          <a:prstGeom prst="rect">
            <a:avLst/>
          </a:prstGeom>
        </p:spPr>
        <p:txBody>
          <a:bodyPr anchor="t" rtlCol="false" tIns="0" lIns="0" bIns="0" rIns="0">
            <a:spAutoFit/>
          </a:bodyPr>
          <a:lstStyle/>
          <a:p>
            <a:pPr algn="ctr">
              <a:lnSpc>
                <a:spcPts val="3240"/>
              </a:lnSpc>
            </a:pPr>
            <a:r>
              <a:rPr lang="en-US" b="true" sz="2700">
                <a:solidFill>
                  <a:srgbClr val="F4F7F5"/>
                </a:solidFill>
                <a:latin typeface="Cormorant Garamond Bold"/>
                <a:ea typeface="Cormorant Garamond Bold"/>
                <a:cs typeface="Cormorant Garamond Bold"/>
                <a:sym typeface="Cormorant Garamond Bold"/>
              </a:rPr>
              <a:t>VIDEO UPLOAD / ANALYSIS</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080C0B"/>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96088"/>
            <a:chOff x="0" y="0"/>
            <a:chExt cx="24402453" cy="128118"/>
          </a:xfrm>
        </p:grpSpPr>
        <p:sp>
          <p:nvSpPr>
            <p:cNvPr name="Freeform 3" id="3"/>
            <p:cNvSpPr/>
            <p:nvPr/>
          </p:nvSpPr>
          <p:spPr>
            <a:xfrm flipH="false" flipV="false" rot="0">
              <a:off x="0" y="0"/>
              <a:ext cx="24402414" cy="128143"/>
            </a:xfrm>
            <a:custGeom>
              <a:avLst/>
              <a:gdLst/>
              <a:ahLst/>
              <a:cxnLst/>
              <a:rect r="r" b="b" t="t" l="l"/>
              <a:pathLst>
                <a:path h="128143" w="24402414">
                  <a:moveTo>
                    <a:pt x="0" y="0"/>
                  </a:moveTo>
                  <a:lnTo>
                    <a:pt x="24402414" y="0"/>
                  </a:lnTo>
                  <a:lnTo>
                    <a:pt x="24402414" y="128143"/>
                  </a:lnTo>
                  <a:lnTo>
                    <a:pt x="0" y="128143"/>
                  </a:lnTo>
                  <a:close/>
                </a:path>
              </a:pathLst>
            </a:custGeom>
            <a:solidFill>
              <a:srgbClr val="A0C432"/>
            </a:solidFill>
          </p:spPr>
        </p:sp>
      </p:grpSp>
      <p:sp>
        <p:nvSpPr>
          <p:cNvPr name="TextBox 4" id="4"/>
          <p:cNvSpPr txBox="true"/>
          <p:nvPr/>
        </p:nvSpPr>
        <p:spPr>
          <a:xfrm rot="0">
            <a:off x="983675" y="549412"/>
            <a:ext cx="10066437" cy="657225"/>
          </a:xfrm>
          <a:prstGeom prst="rect">
            <a:avLst/>
          </a:prstGeom>
        </p:spPr>
        <p:txBody>
          <a:bodyPr anchor="t" rtlCol="false" tIns="0" lIns="0" bIns="0" rIns="0">
            <a:spAutoFit/>
          </a:bodyPr>
          <a:lstStyle/>
          <a:p>
            <a:pPr algn="l">
              <a:lnSpc>
                <a:spcPts val="5283"/>
              </a:lnSpc>
            </a:pPr>
            <a:r>
              <a:rPr lang="en-US" sz="4403" b="true">
                <a:solidFill>
                  <a:srgbClr val="F4F7F5"/>
                </a:solidFill>
                <a:latin typeface="Aptos Bold"/>
                <a:ea typeface="Aptos Bold"/>
                <a:cs typeface="Aptos Bold"/>
                <a:sym typeface="Aptos Bold"/>
              </a:rPr>
              <a:t>Challenges, Future Scope &amp; Conclusion</a:t>
            </a:r>
          </a:p>
        </p:txBody>
      </p:sp>
      <p:sp>
        <p:nvSpPr>
          <p:cNvPr name="TextBox 5" id="5"/>
          <p:cNvSpPr txBox="true"/>
          <p:nvPr/>
        </p:nvSpPr>
        <p:spPr>
          <a:xfrm rot="0">
            <a:off x="1022642" y="1206637"/>
            <a:ext cx="14916512" cy="333375"/>
          </a:xfrm>
          <a:prstGeom prst="rect">
            <a:avLst/>
          </a:prstGeom>
        </p:spPr>
        <p:txBody>
          <a:bodyPr anchor="t" rtlCol="false" tIns="0" lIns="0" bIns="0" rIns="0">
            <a:spAutoFit/>
          </a:bodyPr>
          <a:lstStyle/>
          <a:p>
            <a:pPr algn="l">
              <a:lnSpc>
                <a:spcPts val="2641"/>
              </a:lnSpc>
            </a:pPr>
            <a:r>
              <a:rPr lang="en-US" sz="2201">
                <a:solidFill>
                  <a:srgbClr val="A7B3AD"/>
                </a:solidFill>
                <a:latin typeface="Aptos"/>
                <a:ea typeface="Aptos"/>
                <a:cs typeface="Aptos"/>
                <a:sym typeface="Aptos"/>
              </a:rPr>
              <a:t>Development lessons and the next stage of the project</a:t>
            </a:r>
          </a:p>
        </p:txBody>
      </p:sp>
      <p:sp>
        <p:nvSpPr>
          <p:cNvPr name="TextBox 6" id="6"/>
          <p:cNvSpPr txBox="true"/>
          <p:nvPr/>
        </p:nvSpPr>
        <p:spPr>
          <a:xfrm rot="0">
            <a:off x="16632145" y="594789"/>
            <a:ext cx="572091" cy="251727"/>
          </a:xfrm>
          <a:prstGeom prst="rect">
            <a:avLst/>
          </a:prstGeom>
        </p:spPr>
        <p:txBody>
          <a:bodyPr anchor="t" rtlCol="false" tIns="0" lIns="0" bIns="0" rIns="0">
            <a:spAutoFit/>
          </a:bodyPr>
          <a:lstStyle/>
          <a:p>
            <a:pPr algn="r">
              <a:lnSpc>
                <a:spcPts val="1801"/>
              </a:lnSpc>
            </a:pPr>
            <a:r>
              <a:rPr lang="en-US" b="true" sz="1501">
                <a:solidFill>
                  <a:srgbClr val="A0C432"/>
                </a:solidFill>
                <a:latin typeface="Aptos Bold"/>
                <a:ea typeface="Aptos Bold"/>
                <a:cs typeface="Aptos Bold"/>
                <a:sym typeface="Aptos Bold"/>
              </a:rPr>
              <a:t>11</a:t>
            </a:r>
          </a:p>
        </p:txBody>
      </p:sp>
      <p:grpSp>
        <p:nvGrpSpPr>
          <p:cNvPr name="Group 7" id="7"/>
          <p:cNvGrpSpPr/>
          <p:nvPr/>
        </p:nvGrpSpPr>
        <p:grpSpPr>
          <a:xfrm rot="0">
            <a:off x="953719" y="1983229"/>
            <a:ext cx="5299091" cy="6809022"/>
            <a:chOff x="0" y="0"/>
            <a:chExt cx="7065454" cy="9078697"/>
          </a:xfrm>
        </p:grpSpPr>
        <p:sp>
          <p:nvSpPr>
            <p:cNvPr name="Freeform 8" id="8"/>
            <p:cNvSpPr/>
            <p:nvPr/>
          </p:nvSpPr>
          <p:spPr>
            <a:xfrm flipH="false" flipV="false" rot="0">
              <a:off x="0" y="0"/>
              <a:ext cx="7065391" cy="9078595"/>
            </a:xfrm>
            <a:custGeom>
              <a:avLst/>
              <a:gdLst/>
              <a:ahLst/>
              <a:cxnLst/>
              <a:rect r="r" b="b" t="t" l="l"/>
              <a:pathLst>
                <a:path h="9078595" w="7065391">
                  <a:moveTo>
                    <a:pt x="0" y="1177544"/>
                  </a:moveTo>
                  <a:cubicBezTo>
                    <a:pt x="0" y="527177"/>
                    <a:pt x="527177" y="0"/>
                    <a:pt x="1177544" y="0"/>
                  </a:cubicBezTo>
                  <a:lnTo>
                    <a:pt x="5887847" y="0"/>
                  </a:lnTo>
                  <a:cubicBezTo>
                    <a:pt x="6538214" y="0"/>
                    <a:pt x="7065391" y="527177"/>
                    <a:pt x="7065391" y="1177544"/>
                  </a:cubicBezTo>
                  <a:lnTo>
                    <a:pt x="7065391" y="7901051"/>
                  </a:lnTo>
                  <a:cubicBezTo>
                    <a:pt x="7065391" y="8551418"/>
                    <a:pt x="6538214" y="9078595"/>
                    <a:pt x="5887847" y="9078595"/>
                  </a:cubicBezTo>
                  <a:lnTo>
                    <a:pt x="1177544" y="9078595"/>
                  </a:lnTo>
                  <a:cubicBezTo>
                    <a:pt x="527177" y="9078722"/>
                    <a:pt x="0" y="8551418"/>
                    <a:pt x="0" y="7901051"/>
                  </a:cubicBezTo>
                  <a:close/>
                </a:path>
              </a:pathLst>
            </a:custGeom>
            <a:solidFill>
              <a:srgbClr val="121916"/>
            </a:solidFill>
            <a:ln w="14299" cap="sq">
              <a:solidFill>
                <a:srgbClr val="303E38"/>
              </a:solidFill>
              <a:prstDash val="solid"/>
              <a:miter/>
            </a:ln>
          </p:spPr>
        </p:sp>
      </p:grpSp>
      <p:grpSp>
        <p:nvGrpSpPr>
          <p:cNvPr name="Group 9" id="9"/>
          <p:cNvGrpSpPr/>
          <p:nvPr/>
        </p:nvGrpSpPr>
        <p:grpSpPr>
          <a:xfrm rot="0">
            <a:off x="960872" y="1990373"/>
            <a:ext cx="61770" cy="6794725"/>
            <a:chOff x="0" y="0"/>
            <a:chExt cx="82360" cy="9059634"/>
          </a:xfrm>
        </p:grpSpPr>
        <p:sp>
          <p:nvSpPr>
            <p:cNvPr name="Freeform 10" id="10"/>
            <p:cNvSpPr/>
            <p:nvPr/>
          </p:nvSpPr>
          <p:spPr>
            <a:xfrm flipH="false" flipV="false" rot="0">
              <a:off x="0" y="0"/>
              <a:ext cx="82423" cy="9059672"/>
            </a:xfrm>
            <a:custGeom>
              <a:avLst/>
              <a:gdLst/>
              <a:ahLst/>
              <a:cxnLst/>
              <a:rect r="r" b="b" t="t" l="l"/>
              <a:pathLst>
                <a:path h="9059672" w="82423">
                  <a:moveTo>
                    <a:pt x="0" y="0"/>
                  </a:moveTo>
                  <a:lnTo>
                    <a:pt x="82423" y="0"/>
                  </a:lnTo>
                  <a:lnTo>
                    <a:pt x="82423" y="9059672"/>
                  </a:lnTo>
                  <a:lnTo>
                    <a:pt x="0" y="9059672"/>
                  </a:lnTo>
                  <a:close/>
                </a:path>
              </a:pathLst>
            </a:custGeom>
            <a:solidFill>
              <a:srgbClr val="EB5858"/>
            </a:solidFill>
          </p:spPr>
        </p:sp>
      </p:grpSp>
      <p:sp>
        <p:nvSpPr>
          <p:cNvPr name="TextBox 11" id="11"/>
          <p:cNvSpPr txBox="true"/>
          <p:nvPr/>
        </p:nvSpPr>
        <p:spPr>
          <a:xfrm rot="0">
            <a:off x="1354293" y="2255720"/>
            <a:ext cx="4580296" cy="504825"/>
          </a:xfrm>
          <a:prstGeom prst="rect">
            <a:avLst/>
          </a:prstGeom>
        </p:spPr>
        <p:txBody>
          <a:bodyPr anchor="t" rtlCol="false" tIns="0" lIns="0" bIns="0" rIns="0">
            <a:spAutoFit/>
          </a:bodyPr>
          <a:lstStyle/>
          <a:p>
            <a:pPr algn="l">
              <a:lnSpc>
                <a:spcPts val="4022"/>
              </a:lnSpc>
            </a:pPr>
            <a:r>
              <a:rPr lang="en-US" sz="3351" b="true">
                <a:solidFill>
                  <a:srgbClr val="F4F7F5"/>
                </a:solidFill>
                <a:latin typeface="Aptos Bold"/>
                <a:ea typeface="Aptos Bold"/>
                <a:cs typeface="Aptos Bold"/>
                <a:sym typeface="Aptos Bold"/>
              </a:rPr>
              <a:t>CHALLENGES</a:t>
            </a:r>
          </a:p>
        </p:txBody>
      </p:sp>
      <p:sp>
        <p:nvSpPr>
          <p:cNvPr name="TextBox 12" id="12"/>
          <p:cNvSpPr txBox="true"/>
          <p:nvPr/>
        </p:nvSpPr>
        <p:spPr>
          <a:xfrm rot="0">
            <a:off x="1354293" y="2932538"/>
            <a:ext cx="4580296" cy="5076825"/>
          </a:xfrm>
          <a:prstGeom prst="rect">
            <a:avLst/>
          </a:prstGeom>
        </p:spPr>
        <p:txBody>
          <a:bodyPr anchor="t" rtlCol="false" tIns="0" lIns="0" bIns="0" rIns="0">
            <a:spAutoFit/>
          </a:bodyPr>
          <a:lstStyle/>
          <a:p>
            <a:pPr algn="l">
              <a:lnSpc>
                <a:spcPts val="2911"/>
              </a:lnSpc>
            </a:pPr>
            <a:r>
              <a:rPr lang="en-US" sz="2426">
                <a:solidFill>
                  <a:srgbClr val="A7B3AD"/>
                </a:solidFill>
                <a:latin typeface="Aptos"/>
                <a:ea typeface="Aptos"/>
                <a:cs typeface="Aptos"/>
                <a:sym typeface="Aptos"/>
              </a:rPr>
              <a:t>• Integrating frontend and backend</a:t>
            </a:r>
          </a:p>
          <a:p>
            <a:pPr algn="l">
              <a:lnSpc>
                <a:spcPts val="2911"/>
              </a:lnSpc>
            </a:pPr>
          </a:p>
          <a:p>
            <a:pPr algn="l">
              <a:lnSpc>
                <a:spcPts val="2911"/>
              </a:lnSpc>
            </a:pPr>
            <a:r>
              <a:rPr lang="en-US" sz="2426">
                <a:solidFill>
                  <a:srgbClr val="A7B3AD"/>
                </a:solidFill>
                <a:latin typeface="Aptos"/>
                <a:ea typeface="Aptos"/>
                <a:cs typeface="Aptos"/>
                <a:sym typeface="Aptos"/>
              </a:rPr>
              <a:t>• Maintaining athlete data across views</a:t>
            </a:r>
          </a:p>
          <a:p>
            <a:pPr algn="l">
              <a:lnSpc>
                <a:spcPts val="2911"/>
              </a:lnSpc>
            </a:pPr>
          </a:p>
          <a:p>
            <a:pPr algn="l">
              <a:lnSpc>
                <a:spcPts val="2911"/>
              </a:lnSpc>
            </a:pPr>
            <a:r>
              <a:rPr lang="en-US" sz="2426">
                <a:solidFill>
                  <a:srgbClr val="A7B3AD"/>
                </a:solidFill>
                <a:latin typeface="Aptos"/>
                <a:ea typeface="Aptos"/>
                <a:cs typeface="Aptos"/>
                <a:sym typeface="Aptos"/>
              </a:rPr>
              <a:t>• Organizing video-processing services</a:t>
            </a:r>
          </a:p>
          <a:p>
            <a:pPr algn="l">
              <a:lnSpc>
                <a:spcPts val="2911"/>
              </a:lnSpc>
            </a:pPr>
          </a:p>
          <a:p>
            <a:pPr algn="l">
              <a:lnSpc>
                <a:spcPts val="2911"/>
              </a:lnSpc>
            </a:pPr>
            <a:r>
              <a:rPr lang="en-US" sz="2426">
                <a:solidFill>
                  <a:srgbClr val="A7B3AD"/>
                </a:solidFill>
                <a:latin typeface="Aptos"/>
                <a:ea typeface="Aptos"/>
                <a:cs typeface="Aptos"/>
                <a:sym typeface="Aptos"/>
              </a:rPr>
              <a:t>• Connecting analysis outputs to UI</a:t>
            </a:r>
          </a:p>
          <a:p>
            <a:pPr algn="l">
              <a:lnSpc>
                <a:spcPts val="2911"/>
              </a:lnSpc>
            </a:pPr>
          </a:p>
          <a:p>
            <a:pPr algn="l">
              <a:lnSpc>
                <a:spcPts val="2911"/>
              </a:lnSpc>
            </a:pPr>
            <a:r>
              <a:rPr lang="en-US" sz="2426">
                <a:solidFill>
                  <a:srgbClr val="A7B3AD"/>
                </a:solidFill>
                <a:latin typeface="Aptos"/>
                <a:ea typeface="Aptos"/>
                <a:cs typeface="Aptos"/>
                <a:sym typeface="Aptos"/>
              </a:rPr>
              <a:t>• Keeping the workflow simple for coaches</a:t>
            </a:r>
          </a:p>
        </p:txBody>
      </p:sp>
      <p:grpSp>
        <p:nvGrpSpPr>
          <p:cNvPr name="Group 13" id="13"/>
          <p:cNvGrpSpPr/>
          <p:nvPr/>
        </p:nvGrpSpPr>
        <p:grpSpPr>
          <a:xfrm rot="0">
            <a:off x="6513043" y="1983229"/>
            <a:ext cx="5299091" cy="6809022"/>
            <a:chOff x="0" y="0"/>
            <a:chExt cx="7065454" cy="9078697"/>
          </a:xfrm>
        </p:grpSpPr>
        <p:sp>
          <p:nvSpPr>
            <p:cNvPr name="Freeform 14" id="14"/>
            <p:cNvSpPr/>
            <p:nvPr/>
          </p:nvSpPr>
          <p:spPr>
            <a:xfrm flipH="false" flipV="false" rot="0">
              <a:off x="0" y="0"/>
              <a:ext cx="7065391" cy="9078595"/>
            </a:xfrm>
            <a:custGeom>
              <a:avLst/>
              <a:gdLst/>
              <a:ahLst/>
              <a:cxnLst/>
              <a:rect r="r" b="b" t="t" l="l"/>
              <a:pathLst>
                <a:path h="9078595" w="7065391">
                  <a:moveTo>
                    <a:pt x="0" y="1177544"/>
                  </a:moveTo>
                  <a:cubicBezTo>
                    <a:pt x="0" y="527177"/>
                    <a:pt x="527177" y="0"/>
                    <a:pt x="1177544" y="0"/>
                  </a:cubicBezTo>
                  <a:lnTo>
                    <a:pt x="5887847" y="0"/>
                  </a:lnTo>
                  <a:cubicBezTo>
                    <a:pt x="6538214" y="0"/>
                    <a:pt x="7065391" y="527177"/>
                    <a:pt x="7065391" y="1177544"/>
                  </a:cubicBezTo>
                  <a:lnTo>
                    <a:pt x="7065391" y="7901051"/>
                  </a:lnTo>
                  <a:cubicBezTo>
                    <a:pt x="7065391" y="8551418"/>
                    <a:pt x="6538214" y="9078595"/>
                    <a:pt x="5887847" y="9078595"/>
                  </a:cubicBezTo>
                  <a:lnTo>
                    <a:pt x="1177544" y="9078595"/>
                  </a:lnTo>
                  <a:cubicBezTo>
                    <a:pt x="527177" y="9078722"/>
                    <a:pt x="0" y="8551418"/>
                    <a:pt x="0" y="7901051"/>
                  </a:cubicBezTo>
                  <a:close/>
                </a:path>
              </a:pathLst>
            </a:custGeom>
            <a:solidFill>
              <a:srgbClr val="121916"/>
            </a:solidFill>
            <a:ln w="14299" cap="sq">
              <a:solidFill>
                <a:srgbClr val="303E38"/>
              </a:solidFill>
              <a:prstDash val="solid"/>
              <a:miter/>
            </a:ln>
          </p:spPr>
        </p:sp>
      </p:grpSp>
      <p:grpSp>
        <p:nvGrpSpPr>
          <p:cNvPr name="Group 15" id="15"/>
          <p:cNvGrpSpPr/>
          <p:nvPr/>
        </p:nvGrpSpPr>
        <p:grpSpPr>
          <a:xfrm rot="0">
            <a:off x="6520196" y="1990373"/>
            <a:ext cx="61770" cy="6794725"/>
            <a:chOff x="0" y="0"/>
            <a:chExt cx="82360" cy="9059634"/>
          </a:xfrm>
        </p:grpSpPr>
        <p:sp>
          <p:nvSpPr>
            <p:cNvPr name="Freeform 16" id="16"/>
            <p:cNvSpPr/>
            <p:nvPr/>
          </p:nvSpPr>
          <p:spPr>
            <a:xfrm flipH="false" flipV="false" rot="0">
              <a:off x="0" y="0"/>
              <a:ext cx="82423" cy="9059672"/>
            </a:xfrm>
            <a:custGeom>
              <a:avLst/>
              <a:gdLst/>
              <a:ahLst/>
              <a:cxnLst/>
              <a:rect r="r" b="b" t="t" l="l"/>
              <a:pathLst>
                <a:path h="9059672" w="82423">
                  <a:moveTo>
                    <a:pt x="0" y="0"/>
                  </a:moveTo>
                  <a:lnTo>
                    <a:pt x="82423" y="0"/>
                  </a:lnTo>
                  <a:lnTo>
                    <a:pt x="82423" y="9059672"/>
                  </a:lnTo>
                  <a:lnTo>
                    <a:pt x="0" y="9059672"/>
                  </a:lnTo>
                  <a:close/>
                </a:path>
              </a:pathLst>
            </a:custGeom>
            <a:solidFill>
              <a:srgbClr val="F0BE41"/>
            </a:solidFill>
          </p:spPr>
        </p:sp>
      </p:grpSp>
      <p:sp>
        <p:nvSpPr>
          <p:cNvPr name="TextBox 17" id="17"/>
          <p:cNvSpPr txBox="true"/>
          <p:nvPr/>
        </p:nvSpPr>
        <p:spPr>
          <a:xfrm rot="0">
            <a:off x="6913626" y="2255720"/>
            <a:ext cx="4580296" cy="504825"/>
          </a:xfrm>
          <a:prstGeom prst="rect">
            <a:avLst/>
          </a:prstGeom>
        </p:spPr>
        <p:txBody>
          <a:bodyPr anchor="t" rtlCol="false" tIns="0" lIns="0" bIns="0" rIns="0">
            <a:spAutoFit/>
          </a:bodyPr>
          <a:lstStyle/>
          <a:p>
            <a:pPr algn="l">
              <a:lnSpc>
                <a:spcPts val="4022"/>
              </a:lnSpc>
            </a:pPr>
            <a:r>
              <a:rPr lang="en-US" sz="3351" b="true">
                <a:solidFill>
                  <a:srgbClr val="F4F7F5"/>
                </a:solidFill>
                <a:latin typeface="Aptos Bold"/>
                <a:ea typeface="Aptos Bold"/>
                <a:cs typeface="Aptos Bold"/>
                <a:sym typeface="Aptos Bold"/>
              </a:rPr>
              <a:t>FUTURE SCOPE</a:t>
            </a:r>
          </a:p>
        </p:txBody>
      </p:sp>
      <p:sp>
        <p:nvSpPr>
          <p:cNvPr name="TextBox 18" id="18"/>
          <p:cNvSpPr txBox="true"/>
          <p:nvPr/>
        </p:nvSpPr>
        <p:spPr>
          <a:xfrm rot="0">
            <a:off x="6913626" y="2932538"/>
            <a:ext cx="4580296" cy="4714875"/>
          </a:xfrm>
          <a:prstGeom prst="rect">
            <a:avLst/>
          </a:prstGeom>
        </p:spPr>
        <p:txBody>
          <a:bodyPr anchor="t" rtlCol="false" tIns="0" lIns="0" bIns="0" rIns="0">
            <a:spAutoFit/>
          </a:bodyPr>
          <a:lstStyle/>
          <a:p>
            <a:pPr algn="l">
              <a:lnSpc>
                <a:spcPts val="2911"/>
              </a:lnSpc>
            </a:pPr>
            <a:r>
              <a:rPr lang="en-US" sz="2426">
                <a:solidFill>
                  <a:srgbClr val="A7B3AD"/>
                </a:solidFill>
                <a:latin typeface="Aptos"/>
                <a:ea typeface="Aptos"/>
                <a:cs typeface="Aptos"/>
                <a:sym typeface="Aptos"/>
              </a:rPr>
              <a:t>• Train / validate on larger datasets</a:t>
            </a:r>
          </a:p>
          <a:p>
            <a:pPr algn="l">
              <a:lnSpc>
                <a:spcPts val="2911"/>
              </a:lnSpc>
            </a:pPr>
          </a:p>
          <a:p>
            <a:pPr algn="l">
              <a:lnSpc>
                <a:spcPts val="2911"/>
              </a:lnSpc>
            </a:pPr>
            <a:r>
              <a:rPr lang="en-US" sz="2426">
                <a:solidFill>
                  <a:srgbClr val="A7B3AD"/>
                </a:solidFill>
                <a:latin typeface="Aptos"/>
                <a:ea typeface="Aptos"/>
                <a:cs typeface="Aptos"/>
                <a:sym typeface="Aptos"/>
              </a:rPr>
              <a:t>• Add sport-specific movement models</a:t>
            </a:r>
          </a:p>
          <a:p>
            <a:pPr algn="l">
              <a:lnSpc>
                <a:spcPts val="2911"/>
              </a:lnSpc>
            </a:pPr>
          </a:p>
          <a:p>
            <a:pPr algn="l">
              <a:lnSpc>
                <a:spcPts val="2911"/>
              </a:lnSpc>
            </a:pPr>
            <a:r>
              <a:rPr lang="en-US" sz="2426">
                <a:solidFill>
                  <a:srgbClr val="A7B3AD"/>
                </a:solidFill>
                <a:latin typeface="Aptos"/>
                <a:ea typeface="Aptos"/>
                <a:cs typeface="Aptos"/>
                <a:sym typeface="Aptos"/>
              </a:rPr>
              <a:t>• Real-time video analysis</a:t>
            </a:r>
          </a:p>
          <a:p>
            <a:pPr algn="l">
              <a:lnSpc>
                <a:spcPts val="2911"/>
              </a:lnSpc>
            </a:pPr>
          </a:p>
          <a:p>
            <a:pPr algn="l">
              <a:lnSpc>
                <a:spcPts val="2911"/>
              </a:lnSpc>
            </a:pPr>
            <a:r>
              <a:rPr lang="en-US" sz="2426">
                <a:solidFill>
                  <a:srgbClr val="A7B3AD"/>
                </a:solidFill>
                <a:latin typeface="Aptos"/>
                <a:ea typeface="Aptos"/>
                <a:cs typeface="Aptos"/>
                <a:sym typeface="Aptos"/>
              </a:rPr>
              <a:t>• Personalized athlete risk profiles</a:t>
            </a:r>
          </a:p>
          <a:p>
            <a:pPr algn="l">
              <a:lnSpc>
                <a:spcPts val="2911"/>
              </a:lnSpc>
            </a:pPr>
          </a:p>
          <a:p>
            <a:pPr algn="l">
              <a:lnSpc>
                <a:spcPts val="2911"/>
              </a:lnSpc>
            </a:pPr>
            <a:r>
              <a:rPr lang="en-US" sz="2426">
                <a:solidFill>
                  <a:srgbClr val="A7B3AD"/>
                </a:solidFill>
                <a:latin typeface="Aptos"/>
                <a:ea typeface="Aptos"/>
                <a:cs typeface="Aptos"/>
                <a:sym typeface="Aptos"/>
              </a:rPr>
              <a:t>• Richer visual analytics</a:t>
            </a:r>
          </a:p>
          <a:p>
            <a:pPr algn="l">
              <a:lnSpc>
                <a:spcPts val="2911"/>
              </a:lnSpc>
            </a:pPr>
          </a:p>
          <a:p>
            <a:pPr algn="l">
              <a:lnSpc>
                <a:spcPts val="2911"/>
              </a:lnSpc>
            </a:pPr>
            <a:r>
              <a:rPr lang="en-US" sz="2426">
                <a:solidFill>
                  <a:srgbClr val="A7B3AD"/>
                </a:solidFill>
                <a:latin typeface="Aptos"/>
                <a:ea typeface="Aptos"/>
                <a:cs typeface="Aptos"/>
                <a:sym typeface="Aptos"/>
              </a:rPr>
              <a:t>• Improved report generation</a:t>
            </a:r>
          </a:p>
        </p:txBody>
      </p:sp>
      <p:grpSp>
        <p:nvGrpSpPr>
          <p:cNvPr name="Group 19" id="19"/>
          <p:cNvGrpSpPr/>
          <p:nvPr/>
        </p:nvGrpSpPr>
        <p:grpSpPr>
          <a:xfrm rot="0">
            <a:off x="12072366" y="1983229"/>
            <a:ext cx="5230454" cy="6809022"/>
            <a:chOff x="0" y="0"/>
            <a:chExt cx="6973938" cy="9078697"/>
          </a:xfrm>
        </p:grpSpPr>
        <p:sp>
          <p:nvSpPr>
            <p:cNvPr name="Freeform 20" id="20"/>
            <p:cNvSpPr/>
            <p:nvPr/>
          </p:nvSpPr>
          <p:spPr>
            <a:xfrm flipH="false" flipV="false" rot="0">
              <a:off x="0" y="0"/>
              <a:ext cx="6973951" cy="9078723"/>
            </a:xfrm>
            <a:custGeom>
              <a:avLst/>
              <a:gdLst/>
              <a:ahLst/>
              <a:cxnLst/>
              <a:rect r="r" b="b" t="t" l="l"/>
              <a:pathLst>
                <a:path h="9078723" w="6973951">
                  <a:moveTo>
                    <a:pt x="0" y="1162304"/>
                  </a:moveTo>
                  <a:cubicBezTo>
                    <a:pt x="0" y="520446"/>
                    <a:pt x="520446" y="0"/>
                    <a:pt x="1162304" y="0"/>
                  </a:cubicBezTo>
                  <a:lnTo>
                    <a:pt x="5811647" y="0"/>
                  </a:lnTo>
                  <a:cubicBezTo>
                    <a:pt x="6453632" y="0"/>
                    <a:pt x="6973951" y="520446"/>
                    <a:pt x="6973951" y="1162304"/>
                  </a:cubicBezTo>
                  <a:lnTo>
                    <a:pt x="6973951" y="7916418"/>
                  </a:lnTo>
                  <a:cubicBezTo>
                    <a:pt x="6973951" y="8558403"/>
                    <a:pt x="6453505" y="9078723"/>
                    <a:pt x="5811647" y="9078723"/>
                  </a:cubicBezTo>
                  <a:lnTo>
                    <a:pt x="1162304" y="9078723"/>
                  </a:lnTo>
                  <a:cubicBezTo>
                    <a:pt x="520446" y="9078722"/>
                    <a:pt x="0" y="8558276"/>
                    <a:pt x="0" y="7916418"/>
                  </a:cubicBezTo>
                  <a:close/>
                </a:path>
              </a:pathLst>
            </a:custGeom>
            <a:solidFill>
              <a:srgbClr val="121916"/>
            </a:solidFill>
            <a:ln w="14299" cap="sq">
              <a:solidFill>
                <a:srgbClr val="303E38"/>
              </a:solidFill>
              <a:prstDash val="solid"/>
              <a:miter/>
            </a:ln>
          </p:spPr>
        </p:sp>
      </p:grpSp>
      <p:grpSp>
        <p:nvGrpSpPr>
          <p:cNvPr name="Group 21" id="21"/>
          <p:cNvGrpSpPr/>
          <p:nvPr/>
        </p:nvGrpSpPr>
        <p:grpSpPr>
          <a:xfrm rot="0">
            <a:off x="12079519" y="1990373"/>
            <a:ext cx="61770" cy="6794725"/>
            <a:chOff x="0" y="0"/>
            <a:chExt cx="82360" cy="9059634"/>
          </a:xfrm>
        </p:grpSpPr>
        <p:sp>
          <p:nvSpPr>
            <p:cNvPr name="Freeform 22" id="22"/>
            <p:cNvSpPr/>
            <p:nvPr/>
          </p:nvSpPr>
          <p:spPr>
            <a:xfrm flipH="false" flipV="false" rot="0">
              <a:off x="0" y="0"/>
              <a:ext cx="82423" cy="9059672"/>
            </a:xfrm>
            <a:custGeom>
              <a:avLst/>
              <a:gdLst/>
              <a:ahLst/>
              <a:cxnLst/>
              <a:rect r="r" b="b" t="t" l="l"/>
              <a:pathLst>
                <a:path h="9059672" w="82423">
                  <a:moveTo>
                    <a:pt x="0" y="0"/>
                  </a:moveTo>
                  <a:lnTo>
                    <a:pt x="82423" y="0"/>
                  </a:lnTo>
                  <a:lnTo>
                    <a:pt x="82423" y="9059672"/>
                  </a:lnTo>
                  <a:lnTo>
                    <a:pt x="0" y="9059672"/>
                  </a:lnTo>
                  <a:close/>
                </a:path>
              </a:pathLst>
            </a:custGeom>
            <a:solidFill>
              <a:srgbClr val="A0C432"/>
            </a:solidFill>
          </p:spPr>
        </p:sp>
      </p:grpSp>
      <p:sp>
        <p:nvSpPr>
          <p:cNvPr name="TextBox 23" id="23"/>
          <p:cNvSpPr txBox="true"/>
          <p:nvPr/>
        </p:nvSpPr>
        <p:spPr>
          <a:xfrm rot="0">
            <a:off x="12472949" y="2255720"/>
            <a:ext cx="4511659" cy="504825"/>
          </a:xfrm>
          <a:prstGeom prst="rect">
            <a:avLst/>
          </a:prstGeom>
        </p:spPr>
        <p:txBody>
          <a:bodyPr anchor="t" rtlCol="false" tIns="0" lIns="0" bIns="0" rIns="0">
            <a:spAutoFit/>
          </a:bodyPr>
          <a:lstStyle/>
          <a:p>
            <a:pPr algn="l">
              <a:lnSpc>
                <a:spcPts val="4022"/>
              </a:lnSpc>
            </a:pPr>
            <a:r>
              <a:rPr lang="en-US" sz="3351" b="true">
                <a:solidFill>
                  <a:srgbClr val="F4F7F5"/>
                </a:solidFill>
                <a:latin typeface="Aptos Bold"/>
                <a:ea typeface="Aptos Bold"/>
                <a:cs typeface="Aptos Bold"/>
                <a:sym typeface="Aptos Bold"/>
              </a:rPr>
              <a:t>CONCLUSION</a:t>
            </a:r>
          </a:p>
        </p:txBody>
      </p:sp>
      <p:sp>
        <p:nvSpPr>
          <p:cNvPr name="TextBox 24" id="24"/>
          <p:cNvSpPr txBox="true"/>
          <p:nvPr/>
        </p:nvSpPr>
        <p:spPr>
          <a:xfrm rot="0">
            <a:off x="12472949" y="2932538"/>
            <a:ext cx="4511659" cy="3990975"/>
          </a:xfrm>
          <a:prstGeom prst="rect">
            <a:avLst/>
          </a:prstGeom>
        </p:spPr>
        <p:txBody>
          <a:bodyPr anchor="t" rtlCol="false" tIns="0" lIns="0" bIns="0" rIns="0">
            <a:spAutoFit/>
          </a:bodyPr>
          <a:lstStyle/>
          <a:p>
            <a:pPr algn="l">
              <a:lnSpc>
                <a:spcPts val="2911"/>
              </a:lnSpc>
            </a:pPr>
            <a:r>
              <a:rPr lang="en-US" sz="2426">
                <a:solidFill>
                  <a:srgbClr val="A7B3AD"/>
                </a:solidFill>
                <a:latin typeface="Aptos"/>
                <a:ea typeface="Aptos"/>
                <a:cs typeface="Aptos"/>
                <a:sym typeface="Aptos"/>
              </a:rPr>
              <a:t>The project combines web development and computer vision to create an end-to-end sports movement analysis workflow.</a:t>
            </a:r>
          </a:p>
          <a:p>
            <a:pPr algn="l">
              <a:lnSpc>
                <a:spcPts val="2911"/>
              </a:lnSpc>
            </a:pPr>
          </a:p>
          <a:p>
            <a:pPr algn="l">
              <a:lnSpc>
                <a:spcPts val="2911"/>
              </a:lnSpc>
            </a:pPr>
            <a:r>
              <a:rPr lang="en-US" sz="2426">
                <a:solidFill>
                  <a:srgbClr val="A7B3AD"/>
                </a:solidFill>
                <a:latin typeface="Aptos"/>
                <a:ea typeface="Aptos"/>
                <a:cs typeface="Aptos"/>
                <a:sym typeface="Aptos"/>
              </a:rPr>
              <a:t>It provides a foundation for data-driven injury-risk monitoring and can be extended with stronger datasets and validated ML models.</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080C0B"/>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96088"/>
            <a:chOff x="0" y="0"/>
            <a:chExt cx="24402453" cy="128118"/>
          </a:xfrm>
        </p:grpSpPr>
        <p:sp>
          <p:nvSpPr>
            <p:cNvPr name="Freeform 3" id="3"/>
            <p:cNvSpPr/>
            <p:nvPr/>
          </p:nvSpPr>
          <p:spPr>
            <a:xfrm flipH="false" flipV="false" rot="0">
              <a:off x="0" y="0"/>
              <a:ext cx="24402414" cy="128143"/>
            </a:xfrm>
            <a:custGeom>
              <a:avLst/>
              <a:gdLst/>
              <a:ahLst/>
              <a:cxnLst/>
              <a:rect r="r" b="b" t="t" l="l"/>
              <a:pathLst>
                <a:path h="128143" w="24402414">
                  <a:moveTo>
                    <a:pt x="0" y="0"/>
                  </a:moveTo>
                  <a:lnTo>
                    <a:pt x="24402414" y="0"/>
                  </a:lnTo>
                  <a:lnTo>
                    <a:pt x="24402414" y="128143"/>
                  </a:lnTo>
                  <a:lnTo>
                    <a:pt x="0" y="128143"/>
                  </a:lnTo>
                  <a:close/>
                </a:path>
              </a:pathLst>
            </a:custGeom>
            <a:solidFill>
              <a:srgbClr val="A0C432"/>
            </a:solidFill>
          </p:spPr>
        </p:sp>
      </p:grpSp>
      <p:sp>
        <p:nvSpPr>
          <p:cNvPr name="TextBox 4" id="4"/>
          <p:cNvSpPr txBox="true"/>
          <p:nvPr/>
        </p:nvSpPr>
        <p:spPr>
          <a:xfrm rot="0">
            <a:off x="1738646" y="3271504"/>
            <a:ext cx="14779247" cy="771525"/>
          </a:xfrm>
          <a:prstGeom prst="rect">
            <a:avLst/>
          </a:prstGeom>
        </p:spPr>
        <p:txBody>
          <a:bodyPr anchor="t" rtlCol="false" tIns="0" lIns="0" bIns="0" rIns="0">
            <a:spAutoFit/>
          </a:bodyPr>
          <a:lstStyle/>
          <a:p>
            <a:pPr algn="ctr">
              <a:lnSpc>
                <a:spcPts val="6122"/>
              </a:lnSpc>
            </a:pPr>
            <a:r>
              <a:rPr lang="en-US" b="true" sz="5102">
                <a:solidFill>
                  <a:srgbClr val="A0C432"/>
                </a:solidFill>
                <a:latin typeface="Cormorant Garamond Bold"/>
                <a:ea typeface="Cormorant Garamond Bold"/>
                <a:cs typeface="Cormorant Garamond Bold"/>
                <a:sym typeface="Cormorant Garamond Bold"/>
              </a:rPr>
              <a:t>Sports Injury Risk Detection from Video</a:t>
            </a:r>
          </a:p>
        </p:txBody>
      </p:sp>
      <p:sp>
        <p:nvSpPr>
          <p:cNvPr name="TextBox 5" id="5"/>
          <p:cNvSpPr txBox="true"/>
          <p:nvPr/>
        </p:nvSpPr>
        <p:spPr>
          <a:xfrm rot="0">
            <a:off x="2192425" y="4533222"/>
            <a:ext cx="13132041" cy="800100"/>
          </a:xfrm>
          <a:prstGeom prst="rect">
            <a:avLst/>
          </a:prstGeom>
        </p:spPr>
        <p:txBody>
          <a:bodyPr anchor="t" rtlCol="false" tIns="0" lIns="0" bIns="0" rIns="0">
            <a:spAutoFit/>
          </a:bodyPr>
          <a:lstStyle/>
          <a:p>
            <a:pPr algn="ctr">
              <a:lnSpc>
                <a:spcPts val="6303"/>
              </a:lnSpc>
            </a:pPr>
            <a:r>
              <a:rPr lang="en-US" sz="5252" b="true">
                <a:solidFill>
                  <a:srgbClr val="F4F7F5"/>
                </a:solidFill>
                <a:latin typeface="Cormorant Garamond Bold"/>
                <a:ea typeface="Cormorant Garamond Bold"/>
                <a:cs typeface="Cormorant Garamond Bold"/>
                <a:sym typeface="Cormorant Garamond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DAHSiUyqdAI</dc:identifier>
  <dcterms:modified xsi:type="dcterms:W3CDTF">2011-08-01T06:04:30Z</dcterms:modified>
  <cp:revision>1</cp:revision>
  <dc:title>Sports-Injury-Risk-PPT</dc:title>
</cp:coreProperties>
</file>