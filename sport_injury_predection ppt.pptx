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ptos Bold" charset="1" panose="020B0004020202020204"/>
      <p:regular r:id="rId17"/>
    </p:embeddedFont>
    <p:embeddedFont>
      <p:font typeface="Aptos" charset="1" panose="020B0004020202020204"/>
      <p:regular r:id="rId18"/>
    </p:embeddedFont>
    <p:embeddedFont>
      <p:font typeface="Aptos Italics" charset="1" panose="020B000402020209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73617" y="-480431"/>
            <a:ext cx="7000627" cy="11255912"/>
            <a:chOff x="0" y="0"/>
            <a:chExt cx="9334170" cy="150078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34119" cy="15007844"/>
            </a:xfrm>
            <a:custGeom>
              <a:avLst/>
              <a:gdLst/>
              <a:ahLst/>
              <a:cxnLst/>
              <a:rect r="r" b="b" t="t" l="l"/>
              <a:pathLst>
                <a:path h="15007844" w="9334119">
                  <a:moveTo>
                    <a:pt x="0" y="0"/>
                  </a:moveTo>
                  <a:lnTo>
                    <a:pt x="9334119" y="0"/>
                  </a:lnTo>
                  <a:lnTo>
                    <a:pt x="9334119" y="15007844"/>
                  </a:lnTo>
                  <a:lnTo>
                    <a:pt x="0" y="15007844"/>
                  </a:lnTo>
                  <a:close/>
                </a:path>
              </a:pathLst>
            </a:custGeom>
            <a:solidFill>
              <a:srgbClr val="13192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697216" y="1619755"/>
            <a:ext cx="851059" cy="851059"/>
            <a:chOff x="0" y="0"/>
            <a:chExt cx="1134745" cy="11347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4745" cy="1134618"/>
            </a:xfrm>
            <a:custGeom>
              <a:avLst/>
              <a:gdLst/>
              <a:ahLst/>
              <a:cxnLst/>
              <a:rect r="r" b="b" t="t" l="l"/>
              <a:pathLst>
                <a:path h="1134618" w="1134745">
                  <a:moveTo>
                    <a:pt x="0" y="567309"/>
                  </a:moveTo>
                  <a:cubicBezTo>
                    <a:pt x="0" y="254000"/>
                    <a:pt x="254000" y="0"/>
                    <a:pt x="567309" y="0"/>
                  </a:cubicBezTo>
                  <a:cubicBezTo>
                    <a:pt x="880618" y="0"/>
                    <a:pt x="1134745" y="254000"/>
                    <a:pt x="1134745" y="567309"/>
                  </a:cubicBezTo>
                  <a:cubicBezTo>
                    <a:pt x="1134745" y="880618"/>
                    <a:pt x="880745" y="1134618"/>
                    <a:pt x="567436" y="1134618"/>
                  </a:cubicBezTo>
                  <a:cubicBezTo>
                    <a:pt x="254127" y="1134618"/>
                    <a:pt x="0" y="880745"/>
                    <a:pt x="0" y="567309"/>
                  </a:cubicBezTo>
                  <a:close/>
                </a:path>
              </a:pathLst>
            </a:custGeom>
            <a:solidFill>
              <a:srgbClr val="00DCF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697216" y="1647206"/>
            <a:ext cx="851059" cy="796147"/>
            <a:chOff x="0" y="0"/>
            <a:chExt cx="1134745" cy="10615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34743" cy="1061533"/>
            </a:xfrm>
            <a:custGeom>
              <a:avLst/>
              <a:gdLst/>
              <a:ahLst/>
              <a:cxnLst/>
              <a:rect r="r" b="b" t="t" l="l"/>
              <a:pathLst>
                <a:path h="1061533" w="1134743">
                  <a:moveTo>
                    <a:pt x="0" y="0"/>
                  </a:moveTo>
                  <a:lnTo>
                    <a:pt x="1134743" y="0"/>
                  </a:lnTo>
                  <a:lnTo>
                    <a:pt x="1134743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0025" t="0" r="-70025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134745" cy="1061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0A0E1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973804" y="2813980"/>
            <a:ext cx="658882" cy="658882"/>
            <a:chOff x="0" y="0"/>
            <a:chExt cx="878510" cy="8785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78459" cy="878459"/>
            </a:xfrm>
            <a:custGeom>
              <a:avLst/>
              <a:gdLst/>
              <a:ahLst/>
              <a:cxnLst/>
              <a:rect r="r" b="b" t="t" l="l"/>
              <a:pathLst>
                <a:path h="878459" w="878459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cubicBezTo>
                    <a:pt x="681863" y="0"/>
                    <a:pt x="878459" y="196723"/>
                    <a:pt x="878459" y="439293"/>
                  </a:cubicBezTo>
                  <a:cubicBezTo>
                    <a:pt x="878459" y="681863"/>
                    <a:pt x="681863" y="878459"/>
                    <a:pt x="439293" y="878459"/>
                  </a:cubicBezTo>
                  <a:cubicBezTo>
                    <a:pt x="196723" y="878459"/>
                    <a:pt x="0" y="681863"/>
                    <a:pt x="0" y="439293"/>
                  </a:cubicBezTo>
                  <a:close/>
                </a:path>
              </a:pathLst>
            </a:custGeom>
            <a:solidFill>
              <a:srgbClr val="965A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973804" y="2841431"/>
            <a:ext cx="658882" cy="603980"/>
            <a:chOff x="0" y="0"/>
            <a:chExt cx="878510" cy="8053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78510" cy="805301"/>
            </a:xfrm>
            <a:custGeom>
              <a:avLst/>
              <a:gdLst/>
              <a:ahLst/>
              <a:cxnLst/>
              <a:rect r="r" b="b" t="t" l="l"/>
              <a:pathLst>
                <a:path h="805301" w="878510">
                  <a:moveTo>
                    <a:pt x="0" y="0"/>
                  </a:moveTo>
                  <a:lnTo>
                    <a:pt x="878510" y="0"/>
                  </a:lnTo>
                  <a:lnTo>
                    <a:pt x="878510" y="805301"/>
                  </a:lnTo>
                  <a:lnTo>
                    <a:pt x="0" y="8053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7612" t="0" r="-6761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878510" cy="8053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0A0E1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264117" y="1537392"/>
            <a:ext cx="521618" cy="521618"/>
            <a:chOff x="0" y="0"/>
            <a:chExt cx="695490" cy="6954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5452" cy="695452"/>
            </a:xfrm>
            <a:custGeom>
              <a:avLst/>
              <a:gdLst/>
              <a:ahLst/>
              <a:cxnLst/>
              <a:rect r="r" b="b" t="t" l="l"/>
              <a:pathLst>
                <a:path h="695452" w="695452">
                  <a:moveTo>
                    <a:pt x="0" y="347726"/>
                  </a:moveTo>
                  <a:cubicBezTo>
                    <a:pt x="0" y="155702"/>
                    <a:pt x="155702" y="0"/>
                    <a:pt x="347726" y="0"/>
                  </a:cubicBezTo>
                  <a:cubicBezTo>
                    <a:pt x="539750" y="0"/>
                    <a:pt x="695452" y="155702"/>
                    <a:pt x="695452" y="347726"/>
                  </a:cubicBezTo>
                  <a:cubicBezTo>
                    <a:pt x="695452" y="539750"/>
                    <a:pt x="539750" y="695452"/>
                    <a:pt x="347726" y="695452"/>
                  </a:cubicBezTo>
                  <a:cubicBezTo>
                    <a:pt x="155702" y="695452"/>
                    <a:pt x="0" y="539750"/>
                    <a:pt x="0" y="347726"/>
                  </a:cubicBezTo>
                  <a:close/>
                </a:path>
              </a:pathLst>
            </a:custGeom>
            <a:solidFill>
              <a:srgbClr val="4C91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264117" y="1564843"/>
            <a:ext cx="521618" cy="466706"/>
            <a:chOff x="0" y="0"/>
            <a:chExt cx="695490" cy="6222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5487" cy="622278"/>
            </a:xfrm>
            <a:custGeom>
              <a:avLst/>
              <a:gdLst/>
              <a:ahLst/>
              <a:cxnLst/>
              <a:rect r="r" b="b" t="t" l="l"/>
              <a:pathLst>
                <a:path h="622278" w="695487">
                  <a:moveTo>
                    <a:pt x="0" y="0"/>
                  </a:moveTo>
                  <a:lnTo>
                    <a:pt x="695487" y="0"/>
                  </a:lnTo>
                  <a:lnTo>
                    <a:pt x="695487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4797" t="0" r="-64797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695490" cy="62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0A0E1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472068" y="3596402"/>
            <a:ext cx="768696" cy="768696"/>
            <a:chOff x="0" y="0"/>
            <a:chExt cx="1024928" cy="10249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4890" cy="1024890"/>
            </a:xfrm>
            <a:custGeom>
              <a:avLst/>
              <a:gdLst/>
              <a:ahLst/>
              <a:cxnLst/>
              <a:rect r="r" b="b" t="t" l="l"/>
              <a:pathLst>
                <a:path h="1024890" w="1024890">
                  <a:moveTo>
                    <a:pt x="0" y="512445"/>
                  </a:moveTo>
                  <a:cubicBezTo>
                    <a:pt x="0" y="229489"/>
                    <a:pt x="229489" y="0"/>
                    <a:pt x="512445" y="0"/>
                  </a:cubicBezTo>
                  <a:cubicBezTo>
                    <a:pt x="795401" y="0"/>
                    <a:pt x="1024890" y="229489"/>
                    <a:pt x="1024890" y="512445"/>
                  </a:cubicBezTo>
                  <a:cubicBezTo>
                    <a:pt x="1024890" y="795401"/>
                    <a:pt x="795528" y="1024890"/>
                    <a:pt x="512445" y="1024890"/>
                  </a:cubicBezTo>
                  <a:cubicBezTo>
                    <a:pt x="229362" y="1024890"/>
                    <a:pt x="0" y="795528"/>
                    <a:pt x="0" y="512445"/>
                  </a:cubicBezTo>
                  <a:close/>
                </a:path>
              </a:pathLst>
            </a:custGeom>
            <a:solidFill>
              <a:srgbClr val="26DC7D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6472068" y="3623853"/>
            <a:ext cx="768696" cy="713794"/>
            <a:chOff x="0" y="0"/>
            <a:chExt cx="1024928" cy="9517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24929" cy="951720"/>
            </a:xfrm>
            <a:custGeom>
              <a:avLst/>
              <a:gdLst/>
              <a:ahLst/>
              <a:cxnLst/>
              <a:rect r="r" b="b" t="t" l="l"/>
              <a:pathLst>
                <a:path h="951720" w="1024929">
                  <a:moveTo>
                    <a:pt x="0" y="0"/>
                  </a:moveTo>
                  <a:lnTo>
                    <a:pt x="1024929" y="0"/>
                  </a:lnTo>
                  <a:lnTo>
                    <a:pt x="1024929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9139" t="0" r="-69139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024928" cy="951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0A0E1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726725" y="5833853"/>
            <a:ext cx="686333" cy="686333"/>
            <a:chOff x="0" y="0"/>
            <a:chExt cx="915111" cy="91511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5162" cy="915162"/>
            </a:xfrm>
            <a:custGeom>
              <a:avLst/>
              <a:gdLst/>
              <a:ahLst/>
              <a:cxnLst/>
              <a:rect r="r" b="b" t="t" l="l"/>
              <a:pathLst>
                <a:path h="915162" w="915162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cubicBezTo>
                    <a:pt x="710311" y="0"/>
                    <a:pt x="915162" y="204851"/>
                    <a:pt x="915162" y="457581"/>
                  </a:cubicBezTo>
                  <a:cubicBezTo>
                    <a:pt x="915162" y="710311"/>
                    <a:pt x="710311" y="915162"/>
                    <a:pt x="457581" y="915162"/>
                  </a:cubicBezTo>
                  <a:cubicBezTo>
                    <a:pt x="204851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FFB22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726725" y="5861314"/>
            <a:ext cx="686333" cy="631431"/>
            <a:chOff x="0" y="0"/>
            <a:chExt cx="915111" cy="8419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5115" cy="841906"/>
            </a:xfrm>
            <a:custGeom>
              <a:avLst/>
              <a:gdLst/>
              <a:ahLst/>
              <a:cxnLst/>
              <a:rect r="r" b="b" t="t" l="l"/>
              <a:pathLst>
                <a:path h="841906" w="915115">
                  <a:moveTo>
                    <a:pt x="0" y="0"/>
                  </a:moveTo>
                  <a:lnTo>
                    <a:pt x="915115" y="0"/>
                  </a:lnTo>
                  <a:lnTo>
                    <a:pt x="915115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039" t="0" r="-68039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91511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0A0E1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107262" y="1436703"/>
            <a:ext cx="6515671" cy="68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sz="5704" b="true">
                <a:solidFill>
                  <a:srgbClr val="00DCF5"/>
                </a:solidFill>
                <a:latin typeface="Aptos Bold"/>
                <a:ea typeface="Aptos Bold"/>
                <a:cs typeface="Aptos Bold"/>
                <a:sym typeface="Aptos Bold"/>
              </a:rPr>
              <a:t>ATHLETE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07262" y="2205399"/>
            <a:ext cx="6515671" cy="68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sz="5704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HUB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62164" y="3409150"/>
            <a:ext cx="9261024" cy="135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2F5FA"/>
                </a:solidFill>
                <a:latin typeface="Aptos"/>
                <a:ea typeface="Aptos"/>
                <a:cs typeface="Aptos"/>
                <a:sym typeface="Aptos"/>
              </a:rPr>
              <a:t>AI-assisted athlete performance &amp;</a:t>
            </a:r>
          </a:p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2F5FA"/>
                </a:solidFill>
                <a:latin typeface="Aptos"/>
                <a:ea typeface="Aptos"/>
                <a:cs typeface="Aptos"/>
                <a:sym typeface="Aptos"/>
              </a:rPr>
              <a:t>biomechanical risk assessment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89625" y="5046831"/>
            <a:ext cx="8780583" cy="1093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1"/>
              </a:lnSpc>
            </a:pPr>
            <a:r>
              <a:rPr lang="en-US" sz="2026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A practical system for turning training videos and athlete data into movement insights that are easy to understand.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118445" y="6924846"/>
            <a:ext cx="8593503" cy="1551689"/>
            <a:chOff x="0" y="0"/>
            <a:chExt cx="11458004" cy="206891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457940" cy="2068830"/>
            </a:xfrm>
            <a:custGeom>
              <a:avLst/>
              <a:gdLst/>
              <a:ahLst/>
              <a:cxnLst/>
              <a:rect r="r" b="b" t="t" l="l"/>
              <a:pathLst>
                <a:path h="2068830" w="11457940">
                  <a:moveTo>
                    <a:pt x="0" y="344805"/>
                  </a:moveTo>
                  <a:cubicBezTo>
                    <a:pt x="0" y="154432"/>
                    <a:pt x="154432" y="0"/>
                    <a:pt x="344805" y="0"/>
                  </a:cubicBezTo>
                  <a:lnTo>
                    <a:pt x="11113136" y="0"/>
                  </a:lnTo>
                  <a:cubicBezTo>
                    <a:pt x="11303636" y="0"/>
                    <a:pt x="11457940" y="154432"/>
                    <a:pt x="11457940" y="344805"/>
                  </a:cubicBezTo>
                  <a:lnTo>
                    <a:pt x="11457940" y="1724025"/>
                  </a:lnTo>
                  <a:cubicBezTo>
                    <a:pt x="11457940" y="1914525"/>
                    <a:pt x="11303508" y="2068830"/>
                    <a:pt x="11113136" y="2068830"/>
                  </a:cubicBezTo>
                  <a:lnTo>
                    <a:pt x="344805" y="2068830"/>
                  </a:lnTo>
                  <a:cubicBezTo>
                    <a:pt x="154305" y="2068830"/>
                    <a:pt x="0" y="1914398"/>
                    <a:pt x="0" y="1724025"/>
                  </a:cubicBezTo>
                  <a:close/>
                </a:path>
              </a:pathLst>
            </a:custGeom>
            <a:solidFill>
              <a:srgbClr val="171E2D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189625" y="7089719"/>
            <a:ext cx="1711319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Presented by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27532" y="7404283"/>
            <a:ext cx="3201591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[Neelakantha Panigrahi]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27532" y="7832908"/>
            <a:ext cx="6103877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00DCF5"/>
                </a:solidFill>
                <a:latin typeface="Aptos Bold"/>
                <a:ea typeface="Aptos Bold"/>
                <a:cs typeface="Aptos Bold"/>
                <a:sym typeface="Aptos Bold"/>
              </a:rPr>
              <a:t>PROJECT PRESENTATION  |  M1–M4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27532" y="8093397"/>
            <a:ext cx="4044867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ATHLETE HUB  •  M1–M4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783183" y="9773021"/>
            <a:ext cx="544554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8811" y="558194"/>
            <a:ext cx="4044867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0DCF5"/>
                </a:solidFill>
                <a:latin typeface="Aptos Bold"/>
                <a:ea typeface="Aptos Bold"/>
                <a:cs typeface="Aptos Bold"/>
                <a:sym typeface="Aptos Bold"/>
              </a:rPr>
              <a:t>01 •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8811" y="1006973"/>
            <a:ext cx="16398916" cy="71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What is Athlete Hub?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6262" y="1821047"/>
            <a:ext cx="15987112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The idea is simple: make movement analysis easier to access, easier to understand, and useful for day-to-day training.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92235" y="2498265"/>
            <a:ext cx="1441304" cy="61770"/>
            <a:chOff x="0" y="0"/>
            <a:chExt cx="1921739" cy="82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1764" cy="82423"/>
            </a:xfrm>
            <a:custGeom>
              <a:avLst/>
              <a:gdLst/>
              <a:ahLst/>
              <a:cxnLst/>
              <a:rect r="r" b="b" t="t" l="l"/>
              <a:pathLst>
                <a:path h="82423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00DCF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85092" y="2944092"/>
            <a:ext cx="9623003" cy="6122689"/>
            <a:chOff x="0" y="0"/>
            <a:chExt cx="12830670" cy="81635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30683" cy="8163687"/>
            </a:xfrm>
            <a:custGeom>
              <a:avLst/>
              <a:gdLst/>
              <a:ahLst/>
              <a:cxnLst/>
              <a:rect r="r" b="b" t="t" l="l"/>
              <a:pathLst>
                <a:path h="8163687" w="12830683">
                  <a:moveTo>
                    <a:pt x="0" y="1360678"/>
                  </a:moveTo>
                  <a:cubicBezTo>
                    <a:pt x="0" y="609219"/>
                    <a:pt x="609219" y="0"/>
                    <a:pt x="1360678" y="0"/>
                  </a:cubicBezTo>
                  <a:lnTo>
                    <a:pt x="11470005" y="0"/>
                  </a:lnTo>
                  <a:cubicBezTo>
                    <a:pt x="12221464" y="0"/>
                    <a:pt x="12830683" y="609219"/>
                    <a:pt x="12830683" y="1360678"/>
                  </a:cubicBezTo>
                  <a:lnTo>
                    <a:pt x="12830683" y="6803009"/>
                  </a:lnTo>
                  <a:cubicBezTo>
                    <a:pt x="12830683" y="7554468"/>
                    <a:pt x="12221464" y="8163687"/>
                    <a:pt x="11470005" y="8163687"/>
                  </a:cubicBezTo>
                  <a:lnTo>
                    <a:pt x="1360678" y="8163687"/>
                  </a:lnTo>
                  <a:cubicBezTo>
                    <a:pt x="609219" y="8163560"/>
                    <a:pt x="0" y="7554468"/>
                    <a:pt x="0" y="6803009"/>
                  </a:cubicBezTo>
                  <a:close/>
                </a:path>
              </a:pathLst>
            </a:custGeom>
            <a:solidFill>
              <a:srgbClr val="131926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340615" y="3440801"/>
            <a:ext cx="8574681" cy="33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The project in one sentence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0615" y="4044782"/>
            <a:ext cx="8300152" cy="118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3452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Athlete Hub brings athlete profiles, training data and video-based movement analysis into one place.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0615" y="5762920"/>
            <a:ext cx="8268091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7"/>
              </a:lnSpc>
            </a:pPr>
            <a:r>
              <a:rPr lang="en-US" sz="1981">
                <a:solidFill>
                  <a:srgbClr val="F2F5FA"/>
                </a:solidFill>
                <a:latin typeface="Aptos"/>
                <a:ea typeface="Aptos"/>
                <a:cs typeface="Aptos"/>
                <a:sym typeface="Aptos"/>
              </a:rPr>
              <a:t>• Athletes can upload a training video instead of relying only on manual observation.</a:t>
            </a:r>
          </a:p>
          <a:p>
            <a:pPr algn="l">
              <a:lnSpc>
                <a:spcPts val="2377"/>
              </a:lnSpc>
            </a:pPr>
          </a:p>
          <a:p>
            <a:pPr algn="l">
              <a:lnSpc>
                <a:spcPts val="2377"/>
              </a:lnSpc>
            </a:pPr>
            <a:r>
              <a:rPr lang="en-US" sz="1981">
                <a:solidFill>
                  <a:srgbClr val="F2F5FA"/>
                </a:solidFill>
                <a:latin typeface="Aptos"/>
                <a:ea typeface="Aptos"/>
                <a:cs typeface="Aptos"/>
                <a:sym typeface="Aptos"/>
              </a:rPr>
              <a:t>• The system extracts body landmarks and turns them into measurable movement metrics.</a:t>
            </a:r>
          </a:p>
          <a:p>
            <a:pPr algn="l">
              <a:lnSpc>
                <a:spcPts val="2377"/>
              </a:lnSpc>
            </a:pPr>
          </a:p>
          <a:p>
            <a:pPr algn="l">
              <a:lnSpc>
                <a:spcPts val="2377"/>
              </a:lnSpc>
            </a:pPr>
            <a:r>
              <a:rPr lang="en-US" sz="1981">
                <a:solidFill>
                  <a:srgbClr val="F2F5FA"/>
                </a:solidFill>
                <a:latin typeface="Aptos"/>
                <a:ea typeface="Aptos"/>
                <a:cs typeface="Aptos"/>
                <a:sym typeface="Aptos"/>
              </a:rPr>
              <a:t>• Those metrics feed an explainable risk and recommendation layer.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974229" y="3040180"/>
            <a:ext cx="5230454" cy="782993"/>
            <a:chOff x="0" y="0"/>
            <a:chExt cx="6973938" cy="10439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73951" cy="1043940"/>
            </a:xfrm>
            <a:custGeom>
              <a:avLst/>
              <a:gdLst/>
              <a:ahLst/>
              <a:cxnLst/>
              <a:rect r="r" b="b" t="t" l="l"/>
              <a:pathLst>
                <a:path h="1043940" w="6973951">
                  <a:moveTo>
                    <a:pt x="0" y="173990"/>
                  </a:moveTo>
                  <a:cubicBezTo>
                    <a:pt x="0" y="77851"/>
                    <a:pt x="77851" y="0"/>
                    <a:pt x="173990" y="0"/>
                  </a:cubicBezTo>
                  <a:lnTo>
                    <a:pt x="6799961" y="0"/>
                  </a:lnTo>
                  <a:cubicBezTo>
                    <a:pt x="6896100" y="0"/>
                    <a:pt x="6973951" y="77851"/>
                    <a:pt x="6973951" y="173990"/>
                  </a:cubicBezTo>
                  <a:lnTo>
                    <a:pt x="6973951" y="869950"/>
                  </a:lnTo>
                  <a:cubicBezTo>
                    <a:pt x="6973951" y="966089"/>
                    <a:pt x="6896100" y="1043940"/>
                    <a:pt x="6799961" y="1043940"/>
                  </a:cubicBezTo>
                  <a:lnTo>
                    <a:pt x="173990" y="1043940"/>
                  </a:lnTo>
                  <a:cubicBezTo>
                    <a:pt x="77851" y="1043940"/>
                    <a:pt x="0" y="966089"/>
                    <a:pt x="0" y="869950"/>
                  </a:cubicBezTo>
                  <a:close/>
                </a:path>
              </a:pathLst>
            </a:custGeom>
            <a:solidFill>
              <a:srgbClr val="171E2D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201009" y="3184598"/>
            <a:ext cx="480431" cy="480431"/>
            <a:chOff x="0" y="0"/>
            <a:chExt cx="640575" cy="6405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0588" cy="640588"/>
            </a:xfrm>
            <a:custGeom>
              <a:avLst/>
              <a:gdLst/>
              <a:ahLst/>
              <a:cxnLst/>
              <a:rect r="r" b="b" t="t" l="l"/>
              <a:pathLst>
                <a:path h="640588" w="640588">
                  <a:moveTo>
                    <a:pt x="0" y="320294"/>
                  </a:moveTo>
                  <a:cubicBezTo>
                    <a:pt x="0" y="143383"/>
                    <a:pt x="143383" y="0"/>
                    <a:pt x="320294" y="0"/>
                  </a:cubicBezTo>
                  <a:cubicBezTo>
                    <a:pt x="497205" y="0"/>
                    <a:pt x="640588" y="143383"/>
                    <a:pt x="640588" y="320294"/>
                  </a:cubicBezTo>
                  <a:cubicBezTo>
                    <a:pt x="640588" y="497205"/>
                    <a:pt x="497205" y="640588"/>
                    <a:pt x="320294" y="640588"/>
                  </a:cubicBezTo>
                  <a:cubicBezTo>
                    <a:pt x="143383" y="640588"/>
                    <a:pt x="0" y="497205"/>
                    <a:pt x="0" y="320294"/>
                  </a:cubicBezTo>
                  <a:close/>
                </a:path>
              </a:pathLst>
            </a:custGeom>
            <a:solidFill>
              <a:srgbClr val="00DCF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201009" y="3212049"/>
            <a:ext cx="480431" cy="425529"/>
            <a:chOff x="0" y="0"/>
            <a:chExt cx="640575" cy="5673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0580" cy="567371"/>
            </a:xfrm>
            <a:custGeom>
              <a:avLst/>
              <a:gdLst/>
              <a:ahLst/>
              <a:cxnLst/>
              <a:rect r="r" b="b" t="t" l="l"/>
              <a:pathLst>
                <a:path h="567371" w="640580">
                  <a:moveTo>
                    <a:pt x="0" y="0"/>
                  </a:moveTo>
                  <a:lnTo>
                    <a:pt x="640580" y="0"/>
                  </a:lnTo>
                  <a:lnTo>
                    <a:pt x="640580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3640" t="0" r="-6364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640575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0A0E1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951370" y="3248625"/>
            <a:ext cx="3770328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ATHLETE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461311" y="3852605"/>
            <a:ext cx="338652" cy="283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↓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974229" y="4165778"/>
            <a:ext cx="5230454" cy="782993"/>
            <a:chOff x="0" y="0"/>
            <a:chExt cx="6973938" cy="10439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73951" cy="1043940"/>
            </a:xfrm>
            <a:custGeom>
              <a:avLst/>
              <a:gdLst/>
              <a:ahLst/>
              <a:cxnLst/>
              <a:rect r="r" b="b" t="t" l="l"/>
              <a:pathLst>
                <a:path h="1043940" w="6973951">
                  <a:moveTo>
                    <a:pt x="0" y="173990"/>
                  </a:moveTo>
                  <a:cubicBezTo>
                    <a:pt x="0" y="77851"/>
                    <a:pt x="77851" y="0"/>
                    <a:pt x="173990" y="0"/>
                  </a:cubicBezTo>
                  <a:lnTo>
                    <a:pt x="6799961" y="0"/>
                  </a:lnTo>
                  <a:cubicBezTo>
                    <a:pt x="6896100" y="0"/>
                    <a:pt x="6973951" y="77851"/>
                    <a:pt x="6973951" y="173990"/>
                  </a:cubicBezTo>
                  <a:lnTo>
                    <a:pt x="6973951" y="869950"/>
                  </a:lnTo>
                  <a:cubicBezTo>
                    <a:pt x="6973951" y="966089"/>
                    <a:pt x="6896100" y="1043940"/>
                    <a:pt x="6799961" y="1043940"/>
                  </a:cubicBezTo>
                  <a:lnTo>
                    <a:pt x="173990" y="1043940"/>
                  </a:lnTo>
                  <a:cubicBezTo>
                    <a:pt x="77851" y="1043940"/>
                    <a:pt x="0" y="966089"/>
                    <a:pt x="0" y="869950"/>
                  </a:cubicBezTo>
                  <a:close/>
                </a:path>
              </a:pathLst>
            </a:custGeom>
            <a:solidFill>
              <a:srgbClr val="171E2D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1201009" y="4310196"/>
            <a:ext cx="480431" cy="480431"/>
            <a:chOff x="0" y="0"/>
            <a:chExt cx="640575" cy="6405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0588" cy="640588"/>
            </a:xfrm>
            <a:custGeom>
              <a:avLst/>
              <a:gdLst/>
              <a:ahLst/>
              <a:cxnLst/>
              <a:rect r="r" b="b" t="t" l="l"/>
              <a:pathLst>
                <a:path h="640588" w="640588">
                  <a:moveTo>
                    <a:pt x="0" y="320294"/>
                  </a:moveTo>
                  <a:cubicBezTo>
                    <a:pt x="0" y="143383"/>
                    <a:pt x="143383" y="0"/>
                    <a:pt x="320294" y="0"/>
                  </a:cubicBezTo>
                  <a:cubicBezTo>
                    <a:pt x="497205" y="0"/>
                    <a:pt x="640588" y="143383"/>
                    <a:pt x="640588" y="320294"/>
                  </a:cubicBezTo>
                  <a:cubicBezTo>
                    <a:pt x="640588" y="497205"/>
                    <a:pt x="497205" y="640588"/>
                    <a:pt x="320294" y="640588"/>
                  </a:cubicBezTo>
                  <a:cubicBezTo>
                    <a:pt x="143383" y="640588"/>
                    <a:pt x="0" y="497205"/>
                    <a:pt x="0" y="320294"/>
                  </a:cubicBezTo>
                  <a:close/>
                </a:path>
              </a:pathLst>
            </a:custGeom>
            <a:solidFill>
              <a:srgbClr val="4C91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201009" y="4337647"/>
            <a:ext cx="480431" cy="425529"/>
            <a:chOff x="0" y="0"/>
            <a:chExt cx="640575" cy="5673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0580" cy="567371"/>
            </a:xfrm>
            <a:custGeom>
              <a:avLst/>
              <a:gdLst/>
              <a:ahLst/>
              <a:cxnLst/>
              <a:rect r="r" b="b" t="t" l="l"/>
              <a:pathLst>
                <a:path h="567371" w="640580">
                  <a:moveTo>
                    <a:pt x="0" y="0"/>
                  </a:moveTo>
                  <a:lnTo>
                    <a:pt x="640580" y="0"/>
                  </a:lnTo>
                  <a:lnTo>
                    <a:pt x="640580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3640" t="0" r="-6364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640575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0A0E1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1951370" y="4374223"/>
            <a:ext cx="3770328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VIDEO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461311" y="4978194"/>
            <a:ext cx="338652" cy="283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↓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0974229" y="5291366"/>
            <a:ext cx="5230454" cy="782993"/>
            <a:chOff x="0" y="0"/>
            <a:chExt cx="6973938" cy="104399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973951" cy="1043940"/>
            </a:xfrm>
            <a:custGeom>
              <a:avLst/>
              <a:gdLst/>
              <a:ahLst/>
              <a:cxnLst/>
              <a:rect r="r" b="b" t="t" l="l"/>
              <a:pathLst>
                <a:path h="1043940" w="6973951">
                  <a:moveTo>
                    <a:pt x="0" y="173990"/>
                  </a:moveTo>
                  <a:cubicBezTo>
                    <a:pt x="0" y="77851"/>
                    <a:pt x="77851" y="0"/>
                    <a:pt x="173990" y="0"/>
                  </a:cubicBezTo>
                  <a:lnTo>
                    <a:pt x="6799961" y="0"/>
                  </a:lnTo>
                  <a:cubicBezTo>
                    <a:pt x="6896100" y="0"/>
                    <a:pt x="6973951" y="77851"/>
                    <a:pt x="6973951" y="173990"/>
                  </a:cubicBezTo>
                  <a:lnTo>
                    <a:pt x="6973951" y="869950"/>
                  </a:lnTo>
                  <a:cubicBezTo>
                    <a:pt x="6973951" y="966089"/>
                    <a:pt x="6896100" y="1043940"/>
                    <a:pt x="6799961" y="1043940"/>
                  </a:cubicBezTo>
                  <a:lnTo>
                    <a:pt x="173990" y="1043940"/>
                  </a:lnTo>
                  <a:cubicBezTo>
                    <a:pt x="77851" y="1043940"/>
                    <a:pt x="0" y="966089"/>
                    <a:pt x="0" y="869950"/>
                  </a:cubicBezTo>
                  <a:close/>
                </a:path>
              </a:pathLst>
            </a:custGeom>
            <a:solidFill>
              <a:srgbClr val="171E2D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1201009" y="5435784"/>
            <a:ext cx="480431" cy="480431"/>
            <a:chOff x="0" y="0"/>
            <a:chExt cx="640575" cy="64057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0588" cy="640588"/>
            </a:xfrm>
            <a:custGeom>
              <a:avLst/>
              <a:gdLst/>
              <a:ahLst/>
              <a:cxnLst/>
              <a:rect r="r" b="b" t="t" l="l"/>
              <a:pathLst>
                <a:path h="640588" w="640588">
                  <a:moveTo>
                    <a:pt x="0" y="320294"/>
                  </a:moveTo>
                  <a:cubicBezTo>
                    <a:pt x="0" y="143383"/>
                    <a:pt x="143383" y="0"/>
                    <a:pt x="320294" y="0"/>
                  </a:cubicBezTo>
                  <a:cubicBezTo>
                    <a:pt x="497205" y="0"/>
                    <a:pt x="640588" y="143383"/>
                    <a:pt x="640588" y="320294"/>
                  </a:cubicBezTo>
                  <a:cubicBezTo>
                    <a:pt x="640588" y="497205"/>
                    <a:pt x="497205" y="640588"/>
                    <a:pt x="320294" y="640588"/>
                  </a:cubicBezTo>
                  <a:cubicBezTo>
                    <a:pt x="143383" y="640588"/>
                    <a:pt x="0" y="497205"/>
                    <a:pt x="0" y="320294"/>
                  </a:cubicBezTo>
                  <a:close/>
                </a:path>
              </a:pathLst>
            </a:custGeom>
            <a:solidFill>
              <a:srgbClr val="965A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201009" y="5463235"/>
            <a:ext cx="480431" cy="425529"/>
            <a:chOff x="0" y="0"/>
            <a:chExt cx="640575" cy="56737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40580" cy="567371"/>
            </a:xfrm>
            <a:custGeom>
              <a:avLst/>
              <a:gdLst/>
              <a:ahLst/>
              <a:cxnLst/>
              <a:rect r="r" b="b" t="t" l="l"/>
              <a:pathLst>
                <a:path h="567371" w="640580">
                  <a:moveTo>
                    <a:pt x="0" y="0"/>
                  </a:moveTo>
                  <a:lnTo>
                    <a:pt x="640580" y="0"/>
                  </a:lnTo>
                  <a:lnTo>
                    <a:pt x="640580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3640" t="0" r="-6364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640575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0A0E1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1951370" y="5499811"/>
            <a:ext cx="3770328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POSE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461311" y="6103791"/>
            <a:ext cx="338652" cy="283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↓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974229" y="6416954"/>
            <a:ext cx="5230454" cy="782993"/>
            <a:chOff x="0" y="0"/>
            <a:chExt cx="6973938" cy="104399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973951" cy="1043940"/>
            </a:xfrm>
            <a:custGeom>
              <a:avLst/>
              <a:gdLst/>
              <a:ahLst/>
              <a:cxnLst/>
              <a:rect r="r" b="b" t="t" l="l"/>
              <a:pathLst>
                <a:path h="1043940" w="6973951">
                  <a:moveTo>
                    <a:pt x="0" y="173990"/>
                  </a:moveTo>
                  <a:cubicBezTo>
                    <a:pt x="0" y="77851"/>
                    <a:pt x="77851" y="0"/>
                    <a:pt x="173990" y="0"/>
                  </a:cubicBezTo>
                  <a:lnTo>
                    <a:pt x="6799961" y="0"/>
                  </a:lnTo>
                  <a:cubicBezTo>
                    <a:pt x="6896100" y="0"/>
                    <a:pt x="6973951" y="77851"/>
                    <a:pt x="6973951" y="173990"/>
                  </a:cubicBezTo>
                  <a:lnTo>
                    <a:pt x="6973951" y="869950"/>
                  </a:lnTo>
                  <a:cubicBezTo>
                    <a:pt x="6973951" y="966089"/>
                    <a:pt x="6896100" y="1043940"/>
                    <a:pt x="6799961" y="1043940"/>
                  </a:cubicBezTo>
                  <a:lnTo>
                    <a:pt x="173990" y="1043940"/>
                  </a:lnTo>
                  <a:cubicBezTo>
                    <a:pt x="77851" y="1043940"/>
                    <a:pt x="0" y="966089"/>
                    <a:pt x="0" y="869950"/>
                  </a:cubicBezTo>
                  <a:close/>
                </a:path>
              </a:pathLst>
            </a:custGeom>
            <a:solidFill>
              <a:srgbClr val="171E2D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1201009" y="6561372"/>
            <a:ext cx="480431" cy="480431"/>
            <a:chOff x="0" y="0"/>
            <a:chExt cx="640575" cy="6405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40588" cy="640588"/>
            </a:xfrm>
            <a:custGeom>
              <a:avLst/>
              <a:gdLst/>
              <a:ahLst/>
              <a:cxnLst/>
              <a:rect r="r" b="b" t="t" l="l"/>
              <a:pathLst>
                <a:path h="640588" w="640588">
                  <a:moveTo>
                    <a:pt x="0" y="320294"/>
                  </a:moveTo>
                  <a:cubicBezTo>
                    <a:pt x="0" y="143383"/>
                    <a:pt x="143383" y="0"/>
                    <a:pt x="320294" y="0"/>
                  </a:cubicBezTo>
                  <a:cubicBezTo>
                    <a:pt x="497205" y="0"/>
                    <a:pt x="640588" y="143383"/>
                    <a:pt x="640588" y="320294"/>
                  </a:cubicBezTo>
                  <a:cubicBezTo>
                    <a:pt x="640588" y="497205"/>
                    <a:pt x="497205" y="640588"/>
                    <a:pt x="320294" y="640588"/>
                  </a:cubicBezTo>
                  <a:cubicBezTo>
                    <a:pt x="143383" y="640588"/>
                    <a:pt x="0" y="497205"/>
                    <a:pt x="0" y="320294"/>
                  </a:cubicBezTo>
                  <a:close/>
                </a:path>
              </a:pathLst>
            </a:custGeom>
            <a:solidFill>
              <a:srgbClr val="26DC7D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201009" y="6588824"/>
            <a:ext cx="480431" cy="425529"/>
            <a:chOff x="0" y="0"/>
            <a:chExt cx="640575" cy="56737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40580" cy="567371"/>
            </a:xfrm>
            <a:custGeom>
              <a:avLst/>
              <a:gdLst/>
              <a:ahLst/>
              <a:cxnLst/>
              <a:rect r="r" b="b" t="t" l="l"/>
              <a:pathLst>
                <a:path h="567371" w="640580">
                  <a:moveTo>
                    <a:pt x="0" y="0"/>
                  </a:moveTo>
                  <a:lnTo>
                    <a:pt x="640580" y="0"/>
                  </a:lnTo>
                  <a:lnTo>
                    <a:pt x="640580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3640" t="0" r="-63640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640575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0A0E1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1951370" y="6625400"/>
            <a:ext cx="3770328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ANALYSIS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461311" y="7229380"/>
            <a:ext cx="338652" cy="283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↓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0974229" y="7542552"/>
            <a:ext cx="5230454" cy="782993"/>
            <a:chOff x="0" y="0"/>
            <a:chExt cx="6973938" cy="104399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973951" cy="1043940"/>
            </a:xfrm>
            <a:custGeom>
              <a:avLst/>
              <a:gdLst/>
              <a:ahLst/>
              <a:cxnLst/>
              <a:rect r="r" b="b" t="t" l="l"/>
              <a:pathLst>
                <a:path h="1043940" w="6973951">
                  <a:moveTo>
                    <a:pt x="0" y="173990"/>
                  </a:moveTo>
                  <a:cubicBezTo>
                    <a:pt x="0" y="77851"/>
                    <a:pt x="77851" y="0"/>
                    <a:pt x="173990" y="0"/>
                  </a:cubicBezTo>
                  <a:lnTo>
                    <a:pt x="6799961" y="0"/>
                  </a:lnTo>
                  <a:cubicBezTo>
                    <a:pt x="6896100" y="0"/>
                    <a:pt x="6973951" y="77851"/>
                    <a:pt x="6973951" y="173990"/>
                  </a:cubicBezTo>
                  <a:lnTo>
                    <a:pt x="6973951" y="869950"/>
                  </a:lnTo>
                  <a:cubicBezTo>
                    <a:pt x="6973951" y="966089"/>
                    <a:pt x="6896100" y="1043940"/>
                    <a:pt x="6799961" y="1043940"/>
                  </a:cubicBezTo>
                  <a:lnTo>
                    <a:pt x="173990" y="1043940"/>
                  </a:lnTo>
                  <a:cubicBezTo>
                    <a:pt x="77851" y="1043940"/>
                    <a:pt x="0" y="966089"/>
                    <a:pt x="0" y="869950"/>
                  </a:cubicBezTo>
                  <a:close/>
                </a:path>
              </a:pathLst>
            </a:custGeom>
            <a:solidFill>
              <a:srgbClr val="171E2D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1201009" y="7686961"/>
            <a:ext cx="480431" cy="480431"/>
            <a:chOff x="0" y="0"/>
            <a:chExt cx="640575" cy="64057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40588" cy="640588"/>
            </a:xfrm>
            <a:custGeom>
              <a:avLst/>
              <a:gdLst/>
              <a:ahLst/>
              <a:cxnLst/>
              <a:rect r="r" b="b" t="t" l="l"/>
              <a:pathLst>
                <a:path h="640588" w="640588">
                  <a:moveTo>
                    <a:pt x="0" y="320294"/>
                  </a:moveTo>
                  <a:cubicBezTo>
                    <a:pt x="0" y="143383"/>
                    <a:pt x="143383" y="0"/>
                    <a:pt x="320294" y="0"/>
                  </a:cubicBezTo>
                  <a:cubicBezTo>
                    <a:pt x="497205" y="0"/>
                    <a:pt x="640588" y="143383"/>
                    <a:pt x="640588" y="320294"/>
                  </a:cubicBezTo>
                  <a:cubicBezTo>
                    <a:pt x="640588" y="497205"/>
                    <a:pt x="497205" y="640588"/>
                    <a:pt x="320294" y="640588"/>
                  </a:cubicBezTo>
                  <a:cubicBezTo>
                    <a:pt x="143383" y="640588"/>
                    <a:pt x="0" y="497205"/>
                    <a:pt x="0" y="320294"/>
                  </a:cubicBezTo>
                  <a:close/>
                </a:path>
              </a:pathLst>
            </a:custGeom>
            <a:solidFill>
              <a:srgbClr val="FFB22D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201009" y="7714421"/>
            <a:ext cx="480431" cy="425529"/>
            <a:chOff x="0" y="0"/>
            <a:chExt cx="640575" cy="56737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40580" cy="567371"/>
            </a:xfrm>
            <a:custGeom>
              <a:avLst/>
              <a:gdLst/>
              <a:ahLst/>
              <a:cxnLst/>
              <a:rect r="r" b="b" t="t" l="l"/>
              <a:pathLst>
                <a:path h="567371" w="640580">
                  <a:moveTo>
                    <a:pt x="0" y="0"/>
                  </a:moveTo>
                  <a:lnTo>
                    <a:pt x="640580" y="0"/>
                  </a:lnTo>
                  <a:lnTo>
                    <a:pt x="640580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3640" t="0" r="-63640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640575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0A0E1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1951370" y="7750997"/>
            <a:ext cx="3770328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INSIGHT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017958" y="8849135"/>
            <a:ext cx="5417534" cy="33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i="true">
                <a:solidFill>
                  <a:srgbClr val="A5AEBE"/>
                </a:solidFill>
                <a:latin typeface="Aptos Italics"/>
                <a:ea typeface="Aptos Italics"/>
                <a:cs typeface="Aptos Italics"/>
                <a:sym typeface="Aptos Italics"/>
              </a:rPr>
              <a:t>From raw footage to a result the athlete can act on.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28811" y="9827933"/>
            <a:ext cx="4044867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ATHLETE HUB  •  M1–M4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6783183" y="9773021"/>
            <a:ext cx="544554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8811" y="558194"/>
            <a:ext cx="4044867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0DCF5"/>
                </a:solidFill>
                <a:latin typeface="Aptos Bold"/>
                <a:ea typeface="Aptos Bold"/>
                <a:cs typeface="Aptos Bold"/>
                <a:sym typeface="Aptos Bold"/>
              </a:rPr>
              <a:t>02 • PROBLEM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8811" y="1006973"/>
            <a:ext cx="16398916" cy="71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Why did we build it?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6262" y="1821047"/>
            <a:ext cx="15987112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The project focuses on a gap between what athletes record and what they can actually learn from that data.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92235" y="2498265"/>
            <a:ext cx="1441304" cy="61770"/>
            <a:chOff x="0" y="0"/>
            <a:chExt cx="1921739" cy="82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1764" cy="82423"/>
            </a:xfrm>
            <a:custGeom>
              <a:avLst/>
              <a:gdLst/>
              <a:ahLst/>
              <a:cxnLst/>
              <a:rect r="r" b="b" t="t" l="l"/>
              <a:pathLst>
                <a:path h="82423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00DCF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85092" y="2944092"/>
            <a:ext cx="8044434" cy="5436356"/>
            <a:chOff x="0" y="0"/>
            <a:chExt cx="10725912" cy="72484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25912" cy="7248525"/>
            </a:xfrm>
            <a:custGeom>
              <a:avLst/>
              <a:gdLst/>
              <a:ahLst/>
              <a:cxnLst/>
              <a:rect r="r" b="b" t="t" l="l"/>
              <a:pathLst>
                <a:path h="7248525" w="10725912">
                  <a:moveTo>
                    <a:pt x="0" y="1208151"/>
                  </a:moveTo>
                  <a:cubicBezTo>
                    <a:pt x="0" y="540893"/>
                    <a:pt x="540893" y="0"/>
                    <a:pt x="1208151" y="0"/>
                  </a:cubicBezTo>
                  <a:lnTo>
                    <a:pt x="9517761" y="0"/>
                  </a:lnTo>
                  <a:cubicBezTo>
                    <a:pt x="10185019" y="0"/>
                    <a:pt x="10725912" y="540893"/>
                    <a:pt x="10725912" y="1208151"/>
                  </a:cubicBezTo>
                  <a:lnTo>
                    <a:pt x="10725912" y="6040374"/>
                  </a:lnTo>
                  <a:cubicBezTo>
                    <a:pt x="10725912" y="6707632"/>
                    <a:pt x="10185019" y="7248525"/>
                    <a:pt x="9517761" y="7248525"/>
                  </a:cubicBezTo>
                  <a:lnTo>
                    <a:pt x="1208151" y="7248525"/>
                  </a:lnTo>
                  <a:cubicBezTo>
                    <a:pt x="540893" y="7248525"/>
                    <a:pt x="0" y="6707632"/>
                    <a:pt x="0" y="6040374"/>
                  </a:cubicBezTo>
                  <a:close/>
                </a:path>
              </a:pathLst>
            </a:custGeom>
            <a:solidFill>
              <a:srgbClr val="131926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297176" y="3468253"/>
            <a:ext cx="7353005" cy="33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What makes the problem difficult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2513" y="4090645"/>
            <a:ext cx="7389581" cy="314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F2F5FA"/>
                </a:solidFill>
                <a:latin typeface="Aptos"/>
                <a:ea typeface="Aptos"/>
                <a:cs typeface="Aptos"/>
                <a:sym typeface="Aptos"/>
              </a:rPr>
              <a:t>• Movement quality is often judged by eye, so small asymmetries can be missed.</a:t>
            </a:r>
          </a:p>
          <a:p>
            <a:pPr algn="l">
              <a:lnSpc>
                <a:spcPts val="2251"/>
              </a:lnSpc>
            </a:pP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F2F5FA"/>
                </a:solidFill>
                <a:latin typeface="Aptos"/>
                <a:ea typeface="Aptos"/>
                <a:cs typeface="Aptos"/>
                <a:sym typeface="Aptos"/>
              </a:rPr>
              <a:t>• Training load, fatigue and previous injury history are rarely considered </a:t>
            </a: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F2F5FA"/>
                </a:solidFill>
                <a:latin typeface="Aptos"/>
                <a:ea typeface="Aptos"/>
                <a:cs typeface="Aptos"/>
                <a:sym typeface="Aptos"/>
              </a:rPr>
              <a:t>together.</a:t>
            </a:r>
          </a:p>
          <a:p>
            <a:pPr algn="l">
              <a:lnSpc>
                <a:spcPts val="2251"/>
              </a:lnSpc>
            </a:pP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F2F5FA"/>
                </a:solidFill>
                <a:latin typeface="Aptos"/>
                <a:ea typeface="Aptos"/>
                <a:cs typeface="Aptos"/>
                <a:sym typeface="Aptos"/>
              </a:rPr>
              <a:t>• Raw measurements are not very helpful unless they are explained in a simple way.</a:t>
            </a:r>
          </a:p>
          <a:p>
            <a:pPr algn="l">
              <a:lnSpc>
                <a:spcPts val="2251"/>
              </a:lnSpc>
            </a:pPr>
          </a:p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F2F5FA"/>
                </a:solidFill>
                <a:latin typeface="Aptos"/>
                <a:ea typeface="Aptos"/>
                <a:cs typeface="Aptos"/>
                <a:sym typeface="Aptos"/>
              </a:rPr>
              <a:t>• Professional movement assessment can require time, equipment and expert availability.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258386" y="2944092"/>
            <a:ext cx="8181699" cy="5436356"/>
            <a:chOff x="0" y="0"/>
            <a:chExt cx="10908932" cy="72484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08919" cy="7248525"/>
            </a:xfrm>
            <a:custGeom>
              <a:avLst/>
              <a:gdLst/>
              <a:ahLst/>
              <a:cxnLst/>
              <a:rect r="r" b="b" t="t" l="l"/>
              <a:pathLst>
                <a:path h="7248525" w="10908919">
                  <a:moveTo>
                    <a:pt x="0" y="1208151"/>
                  </a:moveTo>
                  <a:cubicBezTo>
                    <a:pt x="0" y="540893"/>
                    <a:pt x="540893" y="0"/>
                    <a:pt x="1208151" y="0"/>
                  </a:cubicBezTo>
                  <a:lnTo>
                    <a:pt x="9700768" y="0"/>
                  </a:lnTo>
                  <a:cubicBezTo>
                    <a:pt x="10368026" y="0"/>
                    <a:pt x="10908919" y="540893"/>
                    <a:pt x="10908919" y="1208151"/>
                  </a:cubicBezTo>
                  <a:lnTo>
                    <a:pt x="10908919" y="6040374"/>
                  </a:lnTo>
                  <a:cubicBezTo>
                    <a:pt x="10908919" y="6707632"/>
                    <a:pt x="10368026" y="7248525"/>
                    <a:pt x="9700768" y="7248525"/>
                  </a:cubicBezTo>
                  <a:lnTo>
                    <a:pt x="1208151" y="7248525"/>
                  </a:lnTo>
                  <a:cubicBezTo>
                    <a:pt x="540893" y="7248525"/>
                    <a:pt x="0" y="6707632"/>
                    <a:pt x="0" y="6040374"/>
                  </a:cubicBezTo>
                  <a:close/>
                </a:path>
              </a:pathLst>
            </a:custGeom>
            <a:solidFill>
              <a:srgbClr val="131926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9713919" y="3468253"/>
            <a:ext cx="7202014" cy="33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The question we are answering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13919" y="4223223"/>
            <a:ext cx="6996112" cy="1642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3"/>
              </a:lnSpc>
            </a:pPr>
            <a:r>
              <a:rPr lang="en-US" sz="3452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How can we use an athlete's training video and available data to give useful, explainable movement and risk insights?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670190" y="6471866"/>
            <a:ext cx="7014924" cy="1222248"/>
            <a:chOff x="0" y="0"/>
            <a:chExt cx="9353232" cy="16296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353297" cy="1629791"/>
            </a:xfrm>
            <a:custGeom>
              <a:avLst/>
              <a:gdLst/>
              <a:ahLst/>
              <a:cxnLst/>
              <a:rect r="r" b="b" t="t" l="l"/>
              <a:pathLst>
                <a:path h="1629791" w="9353297">
                  <a:moveTo>
                    <a:pt x="0" y="271653"/>
                  </a:moveTo>
                  <a:cubicBezTo>
                    <a:pt x="0" y="121666"/>
                    <a:pt x="121666" y="0"/>
                    <a:pt x="271653" y="0"/>
                  </a:cubicBezTo>
                  <a:lnTo>
                    <a:pt x="9081643" y="0"/>
                  </a:lnTo>
                  <a:cubicBezTo>
                    <a:pt x="9231630" y="0"/>
                    <a:pt x="9353297" y="121666"/>
                    <a:pt x="9353297" y="271653"/>
                  </a:cubicBezTo>
                  <a:lnTo>
                    <a:pt x="9353297" y="1358138"/>
                  </a:lnTo>
                  <a:cubicBezTo>
                    <a:pt x="9353297" y="1508125"/>
                    <a:pt x="9231630" y="1629791"/>
                    <a:pt x="9081643" y="1629791"/>
                  </a:cubicBezTo>
                  <a:lnTo>
                    <a:pt x="271653" y="1629791"/>
                  </a:lnTo>
                  <a:cubicBezTo>
                    <a:pt x="121666" y="1629664"/>
                    <a:pt x="0" y="1507998"/>
                    <a:pt x="0" y="1358011"/>
                  </a:cubicBezTo>
                  <a:close/>
                </a:path>
              </a:pathLst>
            </a:custGeom>
            <a:solidFill>
              <a:srgbClr val="171E2D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0029634" y="6803850"/>
            <a:ext cx="819083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00DCF5"/>
                </a:solidFill>
                <a:latin typeface="Aptos Bold"/>
                <a:ea typeface="Aptos Bold"/>
                <a:cs typeface="Aptos Bold"/>
                <a:sym typeface="Aptos Bold"/>
              </a:rPr>
              <a:t>Goal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49321" y="6748948"/>
            <a:ext cx="5211632" cy="366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Turn complex analysis into feedback an athlete can understand.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8811" y="9827933"/>
            <a:ext cx="4044867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ATHLETE HUB  •  M1–M4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783183" y="9773021"/>
            <a:ext cx="544554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8811" y="558194"/>
            <a:ext cx="4044867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0DCF5"/>
                </a:solidFill>
                <a:latin typeface="Aptos Bold"/>
                <a:ea typeface="Aptos Bold"/>
                <a:cs typeface="Aptos Bold"/>
                <a:sym typeface="Aptos Bold"/>
              </a:rPr>
              <a:t>03 • 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8811" y="1006973"/>
            <a:ext cx="16398916" cy="71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What are we trying to achieve?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6262" y="1821047"/>
            <a:ext cx="15987112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The objectives were kept practical: build the platform first, then make the analysis meaningful.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92235" y="2498265"/>
            <a:ext cx="1441304" cy="61770"/>
            <a:chOff x="0" y="0"/>
            <a:chExt cx="1921739" cy="82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1764" cy="82423"/>
            </a:xfrm>
            <a:custGeom>
              <a:avLst/>
              <a:gdLst/>
              <a:ahLst/>
              <a:cxnLst/>
              <a:rect r="r" b="b" t="t" l="l"/>
              <a:pathLst>
                <a:path h="82423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00DCF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2356" y="2985278"/>
            <a:ext cx="7769895" cy="1592875"/>
            <a:chOff x="0" y="0"/>
            <a:chExt cx="10359860" cy="21238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59771" cy="2123821"/>
            </a:xfrm>
            <a:custGeom>
              <a:avLst/>
              <a:gdLst/>
              <a:ahLst/>
              <a:cxnLst/>
              <a:rect r="r" b="b" t="t" l="l"/>
              <a:pathLst>
                <a:path h="2123821" w="10359771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10005822" y="0"/>
                  </a:lnTo>
                  <a:cubicBezTo>
                    <a:pt x="10201275" y="0"/>
                    <a:pt x="10359771" y="158496"/>
                    <a:pt x="10359771" y="353949"/>
                  </a:cubicBezTo>
                  <a:lnTo>
                    <a:pt x="10359771" y="1769872"/>
                  </a:lnTo>
                  <a:cubicBezTo>
                    <a:pt x="10359771" y="1965325"/>
                    <a:pt x="10201275" y="2123821"/>
                    <a:pt x="10005822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131926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04039" y="3335598"/>
            <a:ext cx="754971" cy="754971"/>
            <a:chOff x="0" y="0"/>
            <a:chExt cx="1006627" cy="10066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00DCF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04039" y="3363049"/>
            <a:ext cx="754971" cy="700059"/>
            <a:chOff x="0" y="0"/>
            <a:chExt cx="1006627" cy="9334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6626" cy="933417"/>
            </a:xfrm>
            <a:custGeom>
              <a:avLst/>
              <a:gdLst/>
              <a:ahLst/>
              <a:cxnLst/>
              <a:rect r="r" b="b" t="t" l="l"/>
              <a:pathLst>
                <a:path h="933417" w="1006626">
                  <a:moveTo>
                    <a:pt x="0" y="0"/>
                  </a:moveTo>
                  <a:lnTo>
                    <a:pt x="1006626" y="0"/>
                  </a:lnTo>
                  <a:lnTo>
                    <a:pt x="1006626" y="933417"/>
                  </a:lnTo>
                  <a:lnTo>
                    <a:pt x="0" y="9334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971" t="0" r="-68971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006627" cy="9334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0A0E1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370115" y="3280286"/>
            <a:ext cx="5897975" cy="306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Build the platform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70115" y="3742792"/>
            <a:ext cx="5897975" cy="53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Profiles, authentication, database and athlete dashboard.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464288" y="2985278"/>
            <a:ext cx="7769895" cy="1592875"/>
            <a:chOff x="0" y="0"/>
            <a:chExt cx="10359860" cy="21238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359771" cy="2123821"/>
            </a:xfrm>
            <a:custGeom>
              <a:avLst/>
              <a:gdLst/>
              <a:ahLst/>
              <a:cxnLst/>
              <a:rect r="r" b="b" t="t" l="l"/>
              <a:pathLst>
                <a:path h="2123821" w="10359771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10005822" y="0"/>
                  </a:lnTo>
                  <a:cubicBezTo>
                    <a:pt x="10201275" y="0"/>
                    <a:pt x="10359771" y="158496"/>
                    <a:pt x="10359771" y="353949"/>
                  </a:cubicBezTo>
                  <a:lnTo>
                    <a:pt x="10359771" y="1769872"/>
                  </a:lnTo>
                  <a:cubicBezTo>
                    <a:pt x="10359771" y="1965325"/>
                    <a:pt x="10201275" y="2123821"/>
                    <a:pt x="10005822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131926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745970" y="3335598"/>
            <a:ext cx="754971" cy="754971"/>
            <a:chOff x="0" y="0"/>
            <a:chExt cx="1006627" cy="100662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00DCF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745970" y="3363049"/>
            <a:ext cx="754971" cy="700059"/>
            <a:chOff x="0" y="0"/>
            <a:chExt cx="1006627" cy="93341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6626" cy="933417"/>
            </a:xfrm>
            <a:custGeom>
              <a:avLst/>
              <a:gdLst/>
              <a:ahLst/>
              <a:cxnLst/>
              <a:rect r="r" b="b" t="t" l="l"/>
              <a:pathLst>
                <a:path h="933417" w="1006626">
                  <a:moveTo>
                    <a:pt x="0" y="0"/>
                  </a:moveTo>
                  <a:lnTo>
                    <a:pt x="1006626" y="0"/>
                  </a:lnTo>
                  <a:lnTo>
                    <a:pt x="1006626" y="933417"/>
                  </a:lnTo>
                  <a:lnTo>
                    <a:pt x="0" y="9334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971" t="0" r="-68971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006627" cy="9334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0A0E1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812056" y="3280286"/>
            <a:ext cx="5897975" cy="306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Handle training videos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812056" y="3742792"/>
            <a:ext cx="5897975" cy="53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Upload, store and process exercise recordings.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22356" y="4934474"/>
            <a:ext cx="7769895" cy="1592875"/>
            <a:chOff x="0" y="0"/>
            <a:chExt cx="10359860" cy="21238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359771" cy="2123821"/>
            </a:xfrm>
            <a:custGeom>
              <a:avLst/>
              <a:gdLst/>
              <a:ahLst/>
              <a:cxnLst/>
              <a:rect r="r" b="b" t="t" l="l"/>
              <a:pathLst>
                <a:path h="2123821" w="10359771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10005822" y="0"/>
                  </a:lnTo>
                  <a:cubicBezTo>
                    <a:pt x="10201275" y="0"/>
                    <a:pt x="10359771" y="158496"/>
                    <a:pt x="10359771" y="353949"/>
                  </a:cubicBezTo>
                  <a:lnTo>
                    <a:pt x="10359771" y="1769872"/>
                  </a:lnTo>
                  <a:cubicBezTo>
                    <a:pt x="10359771" y="1965325"/>
                    <a:pt x="10201275" y="2123821"/>
                    <a:pt x="10005822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131926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304039" y="5284784"/>
            <a:ext cx="754971" cy="754971"/>
            <a:chOff x="0" y="0"/>
            <a:chExt cx="1006627" cy="100662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00DCF5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04039" y="5312245"/>
            <a:ext cx="754971" cy="700059"/>
            <a:chOff x="0" y="0"/>
            <a:chExt cx="1006627" cy="93341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6626" cy="933417"/>
            </a:xfrm>
            <a:custGeom>
              <a:avLst/>
              <a:gdLst/>
              <a:ahLst/>
              <a:cxnLst/>
              <a:rect r="r" b="b" t="t" l="l"/>
              <a:pathLst>
                <a:path h="933417" w="1006626">
                  <a:moveTo>
                    <a:pt x="0" y="0"/>
                  </a:moveTo>
                  <a:lnTo>
                    <a:pt x="1006626" y="0"/>
                  </a:lnTo>
                  <a:lnTo>
                    <a:pt x="1006626" y="933417"/>
                  </a:lnTo>
                  <a:lnTo>
                    <a:pt x="0" y="9334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971" t="0" r="-68971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006627" cy="9334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0A0E1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370115" y="5229482"/>
            <a:ext cx="5897975" cy="306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Measure movement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370115" y="5691988"/>
            <a:ext cx="5897975" cy="53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Extract pose landmarks and calculate biomechanical metrics.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464288" y="4934474"/>
            <a:ext cx="7769895" cy="1592875"/>
            <a:chOff x="0" y="0"/>
            <a:chExt cx="10359860" cy="21238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359771" cy="2123821"/>
            </a:xfrm>
            <a:custGeom>
              <a:avLst/>
              <a:gdLst/>
              <a:ahLst/>
              <a:cxnLst/>
              <a:rect r="r" b="b" t="t" l="l"/>
              <a:pathLst>
                <a:path h="2123821" w="10359771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10005822" y="0"/>
                  </a:lnTo>
                  <a:cubicBezTo>
                    <a:pt x="10201275" y="0"/>
                    <a:pt x="10359771" y="158496"/>
                    <a:pt x="10359771" y="353949"/>
                  </a:cubicBezTo>
                  <a:lnTo>
                    <a:pt x="10359771" y="1769872"/>
                  </a:lnTo>
                  <a:cubicBezTo>
                    <a:pt x="10359771" y="1965325"/>
                    <a:pt x="10201275" y="2123821"/>
                    <a:pt x="10005822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131926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745970" y="5284784"/>
            <a:ext cx="754971" cy="754971"/>
            <a:chOff x="0" y="0"/>
            <a:chExt cx="1006627" cy="100662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965AF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745970" y="5312245"/>
            <a:ext cx="754971" cy="700059"/>
            <a:chOff x="0" y="0"/>
            <a:chExt cx="1006627" cy="93341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06626" cy="933417"/>
            </a:xfrm>
            <a:custGeom>
              <a:avLst/>
              <a:gdLst/>
              <a:ahLst/>
              <a:cxnLst/>
              <a:rect r="r" b="b" t="t" l="l"/>
              <a:pathLst>
                <a:path h="933417" w="1006626">
                  <a:moveTo>
                    <a:pt x="0" y="0"/>
                  </a:moveTo>
                  <a:lnTo>
                    <a:pt x="1006626" y="0"/>
                  </a:lnTo>
                  <a:lnTo>
                    <a:pt x="1006626" y="933417"/>
                  </a:lnTo>
                  <a:lnTo>
                    <a:pt x="0" y="9334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971" t="0" r="-68971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1006627" cy="9334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0A0E1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0812056" y="5229482"/>
            <a:ext cx="5897975" cy="306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Explain risk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812056" y="5691988"/>
            <a:ext cx="5897975" cy="53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Combine movement, injury, workload and fatigue indicators.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022356" y="6883670"/>
            <a:ext cx="7769895" cy="1592875"/>
            <a:chOff x="0" y="0"/>
            <a:chExt cx="10359860" cy="212383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359771" cy="2123821"/>
            </a:xfrm>
            <a:custGeom>
              <a:avLst/>
              <a:gdLst/>
              <a:ahLst/>
              <a:cxnLst/>
              <a:rect r="r" b="b" t="t" l="l"/>
              <a:pathLst>
                <a:path h="2123821" w="10359771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10005822" y="0"/>
                  </a:lnTo>
                  <a:cubicBezTo>
                    <a:pt x="10201275" y="0"/>
                    <a:pt x="10359771" y="158496"/>
                    <a:pt x="10359771" y="353949"/>
                  </a:cubicBezTo>
                  <a:lnTo>
                    <a:pt x="10359771" y="1769872"/>
                  </a:lnTo>
                  <a:cubicBezTo>
                    <a:pt x="10359771" y="1965325"/>
                    <a:pt x="10201275" y="2123821"/>
                    <a:pt x="10005822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131926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304039" y="7233980"/>
            <a:ext cx="754971" cy="754971"/>
            <a:chOff x="0" y="0"/>
            <a:chExt cx="1006627" cy="100662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965A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04039" y="7261431"/>
            <a:ext cx="754971" cy="700059"/>
            <a:chOff x="0" y="0"/>
            <a:chExt cx="1006627" cy="93341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06626" cy="933417"/>
            </a:xfrm>
            <a:custGeom>
              <a:avLst/>
              <a:gdLst/>
              <a:ahLst/>
              <a:cxnLst/>
              <a:rect r="r" b="b" t="t" l="l"/>
              <a:pathLst>
                <a:path h="933417" w="1006626">
                  <a:moveTo>
                    <a:pt x="0" y="0"/>
                  </a:moveTo>
                  <a:lnTo>
                    <a:pt x="1006626" y="0"/>
                  </a:lnTo>
                  <a:lnTo>
                    <a:pt x="1006626" y="933417"/>
                  </a:lnTo>
                  <a:lnTo>
                    <a:pt x="0" y="9334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971" t="0" r="-68971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006627" cy="9334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0A0E1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2370115" y="7178678"/>
            <a:ext cx="5897975" cy="306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Give useful feedback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370115" y="7641184"/>
            <a:ext cx="5897975" cy="53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Detect anomalies and turn them into clear recommendations.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022356" y="8887768"/>
            <a:ext cx="16211836" cy="632003"/>
            <a:chOff x="0" y="0"/>
            <a:chExt cx="21615781" cy="84267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615781" cy="842645"/>
            </a:xfrm>
            <a:custGeom>
              <a:avLst/>
              <a:gdLst/>
              <a:ahLst/>
              <a:cxnLst/>
              <a:rect r="r" b="b" t="t" l="l"/>
              <a:pathLst>
                <a:path h="842645" w="21615781">
                  <a:moveTo>
                    <a:pt x="0" y="140462"/>
                  </a:moveTo>
                  <a:cubicBezTo>
                    <a:pt x="0" y="62865"/>
                    <a:pt x="62865" y="0"/>
                    <a:pt x="140462" y="0"/>
                  </a:cubicBezTo>
                  <a:lnTo>
                    <a:pt x="21475319" y="0"/>
                  </a:lnTo>
                  <a:cubicBezTo>
                    <a:pt x="21552915" y="0"/>
                    <a:pt x="21615781" y="62865"/>
                    <a:pt x="21615781" y="140462"/>
                  </a:cubicBezTo>
                  <a:lnTo>
                    <a:pt x="21615781" y="702183"/>
                  </a:lnTo>
                  <a:cubicBezTo>
                    <a:pt x="21615781" y="779780"/>
                    <a:pt x="21552915" y="842645"/>
                    <a:pt x="21475319" y="842645"/>
                  </a:cubicBezTo>
                  <a:lnTo>
                    <a:pt x="140462" y="842645"/>
                  </a:lnTo>
                  <a:cubicBezTo>
                    <a:pt x="62865" y="842645"/>
                    <a:pt x="0" y="779780"/>
                    <a:pt x="0" y="702183"/>
                  </a:cubicBezTo>
                  <a:close/>
                </a:path>
              </a:pathLst>
            </a:custGeom>
            <a:solidFill>
              <a:srgbClr val="171E2D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sp>
        <p:nvSpPr>
          <p:cNvPr name="TextBox 54" id="54"/>
          <p:cNvSpPr txBox="true"/>
          <p:nvPr/>
        </p:nvSpPr>
        <p:spPr>
          <a:xfrm rot="0">
            <a:off x="1340615" y="9096213"/>
            <a:ext cx="15575318" cy="173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1"/>
              </a:lnSpc>
            </a:pPr>
            <a:r>
              <a:rPr lang="en-US" sz="1426" i="true">
                <a:solidFill>
                  <a:srgbClr val="A5AEBE"/>
                </a:solidFill>
                <a:latin typeface="Aptos Italics"/>
                <a:ea typeface="Aptos Italics"/>
                <a:cs typeface="Aptos Italics"/>
                <a:sym typeface="Aptos Italics"/>
              </a:rPr>
              <a:t>The result is not meant to replace a clinician; it is designed to support screening, discussion and training decisions.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28811" y="9827933"/>
            <a:ext cx="4044867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ATHLETE HUB  •  M1–M4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6783183" y="9773021"/>
            <a:ext cx="544554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8811" y="558194"/>
            <a:ext cx="4044867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0DCF5"/>
                </a:solidFill>
                <a:latin typeface="Aptos Bold"/>
                <a:ea typeface="Aptos Bold"/>
                <a:cs typeface="Aptos Bold"/>
                <a:sym typeface="Aptos Bold"/>
              </a:rPr>
              <a:t>04 • ARCHITECTURE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8811" y="1006973"/>
            <a:ext cx="16398916" cy="71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How the system works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6262" y="1821047"/>
            <a:ext cx="15987112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A simple pipeline connects the web application to pose estimation, analytics and the final dashboard.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92235" y="2498265"/>
            <a:ext cx="1441304" cy="61770"/>
            <a:chOff x="0" y="0"/>
            <a:chExt cx="1921739" cy="82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1764" cy="82423"/>
            </a:xfrm>
            <a:custGeom>
              <a:avLst/>
              <a:gdLst/>
              <a:ahLst/>
              <a:cxnLst/>
              <a:rect r="r" b="b" t="t" l="l"/>
              <a:pathLst>
                <a:path h="82423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00DCF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90984" y="3081366"/>
            <a:ext cx="2828277" cy="1318336"/>
            <a:chOff x="0" y="0"/>
            <a:chExt cx="3771036" cy="17577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71011" cy="1757807"/>
            </a:xfrm>
            <a:custGeom>
              <a:avLst/>
              <a:gdLst/>
              <a:ahLst/>
              <a:cxnLst/>
              <a:rect r="r" b="b" t="t" l="l"/>
              <a:pathLst>
                <a:path h="1757807" w="3771011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3478022" y="0"/>
                  </a:lnTo>
                  <a:cubicBezTo>
                    <a:pt x="3639820" y="0"/>
                    <a:pt x="3771011" y="131191"/>
                    <a:pt x="3771011" y="292989"/>
                  </a:cubicBezTo>
                  <a:lnTo>
                    <a:pt x="3771011" y="1464818"/>
                  </a:lnTo>
                  <a:cubicBezTo>
                    <a:pt x="3771011" y="1626616"/>
                    <a:pt x="3639820" y="1757807"/>
                    <a:pt x="3478022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171E2D"/>
            </a:solidFill>
            <a:ln w="14299" cap="sq">
              <a:solidFill>
                <a:srgbClr val="00DCF5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62863" y="3363049"/>
            <a:ext cx="2484539" cy="754971"/>
            <a:chOff x="0" y="0"/>
            <a:chExt cx="3312719" cy="10066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12716" cy="1006626"/>
            </a:xfrm>
            <a:custGeom>
              <a:avLst/>
              <a:gdLst/>
              <a:ahLst/>
              <a:cxnLst/>
              <a:rect r="r" b="b" t="t" l="l"/>
              <a:pathLst>
                <a:path h="1006626" w="3312716">
                  <a:moveTo>
                    <a:pt x="0" y="0"/>
                  </a:moveTo>
                  <a:lnTo>
                    <a:pt x="3312716" y="0"/>
                  </a:lnTo>
                  <a:lnTo>
                    <a:pt x="3312716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23" r="0" b="-1412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3312719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2F5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Athlete</a:t>
              </a:r>
            </a:p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2F5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Web App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110866" y="3081366"/>
            <a:ext cx="2828277" cy="1318336"/>
            <a:chOff x="0" y="0"/>
            <a:chExt cx="3771036" cy="17577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71011" cy="1757807"/>
            </a:xfrm>
            <a:custGeom>
              <a:avLst/>
              <a:gdLst/>
              <a:ahLst/>
              <a:cxnLst/>
              <a:rect r="r" b="b" t="t" l="l"/>
              <a:pathLst>
                <a:path h="1757807" w="3771011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3478022" y="0"/>
                  </a:lnTo>
                  <a:cubicBezTo>
                    <a:pt x="3639820" y="0"/>
                    <a:pt x="3771011" y="131191"/>
                    <a:pt x="3771011" y="292989"/>
                  </a:cubicBezTo>
                  <a:lnTo>
                    <a:pt x="3771011" y="1464818"/>
                  </a:lnTo>
                  <a:cubicBezTo>
                    <a:pt x="3771011" y="1626616"/>
                    <a:pt x="3639820" y="1757807"/>
                    <a:pt x="3478022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171E2D"/>
            </a:solidFill>
            <a:ln w="14299" cap="sq">
              <a:solidFill>
                <a:srgbClr val="4C91F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4282735" y="3363049"/>
            <a:ext cx="2484539" cy="754971"/>
            <a:chOff x="0" y="0"/>
            <a:chExt cx="3312719" cy="10066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12716" cy="1006626"/>
            </a:xfrm>
            <a:custGeom>
              <a:avLst/>
              <a:gdLst/>
              <a:ahLst/>
              <a:cxnLst/>
              <a:rect r="r" b="b" t="t" l="l"/>
              <a:pathLst>
                <a:path h="1006626" w="3312716">
                  <a:moveTo>
                    <a:pt x="0" y="0"/>
                  </a:moveTo>
                  <a:lnTo>
                    <a:pt x="3312716" y="0"/>
                  </a:lnTo>
                  <a:lnTo>
                    <a:pt x="3312716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23" r="0" b="-1412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3312719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2F5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FastAPI</a:t>
              </a:r>
            </a:p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2F5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Backend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130748" y="3081366"/>
            <a:ext cx="2828277" cy="1318336"/>
            <a:chOff x="0" y="0"/>
            <a:chExt cx="3771036" cy="175778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771011" cy="1757807"/>
            </a:xfrm>
            <a:custGeom>
              <a:avLst/>
              <a:gdLst/>
              <a:ahLst/>
              <a:cxnLst/>
              <a:rect r="r" b="b" t="t" l="l"/>
              <a:pathLst>
                <a:path h="1757807" w="3771011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3478022" y="0"/>
                  </a:lnTo>
                  <a:cubicBezTo>
                    <a:pt x="3639820" y="0"/>
                    <a:pt x="3771011" y="131191"/>
                    <a:pt x="3771011" y="292989"/>
                  </a:cubicBezTo>
                  <a:lnTo>
                    <a:pt x="3771011" y="1464818"/>
                  </a:lnTo>
                  <a:cubicBezTo>
                    <a:pt x="3771011" y="1626616"/>
                    <a:pt x="3639820" y="1757807"/>
                    <a:pt x="3478022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171E2D"/>
            </a:solidFill>
            <a:ln w="14299" cap="sq">
              <a:solidFill>
                <a:srgbClr val="965AF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7302617" y="3363049"/>
            <a:ext cx="2484539" cy="754971"/>
            <a:chOff x="0" y="0"/>
            <a:chExt cx="3312719" cy="100662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312716" cy="1006626"/>
            </a:xfrm>
            <a:custGeom>
              <a:avLst/>
              <a:gdLst/>
              <a:ahLst/>
              <a:cxnLst/>
              <a:rect r="r" b="b" t="t" l="l"/>
              <a:pathLst>
                <a:path h="1006626" w="3312716">
                  <a:moveTo>
                    <a:pt x="0" y="0"/>
                  </a:moveTo>
                  <a:lnTo>
                    <a:pt x="3312716" y="0"/>
                  </a:lnTo>
                  <a:lnTo>
                    <a:pt x="3312716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23" r="0" b="-1412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3312719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2F5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Video</a:t>
              </a:r>
            </a:p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2F5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Processing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150631" y="3081366"/>
            <a:ext cx="2828277" cy="1318336"/>
            <a:chOff x="0" y="0"/>
            <a:chExt cx="3771036" cy="175778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771011" cy="1757807"/>
            </a:xfrm>
            <a:custGeom>
              <a:avLst/>
              <a:gdLst/>
              <a:ahLst/>
              <a:cxnLst/>
              <a:rect r="r" b="b" t="t" l="l"/>
              <a:pathLst>
                <a:path h="1757807" w="3771011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3478022" y="0"/>
                  </a:lnTo>
                  <a:cubicBezTo>
                    <a:pt x="3639820" y="0"/>
                    <a:pt x="3771011" y="131191"/>
                    <a:pt x="3771011" y="292989"/>
                  </a:cubicBezTo>
                  <a:lnTo>
                    <a:pt x="3771011" y="1464818"/>
                  </a:lnTo>
                  <a:cubicBezTo>
                    <a:pt x="3771011" y="1626616"/>
                    <a:pt x="3639820" y="1757807"/>
                    <a:pt x="3478022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171E2D"/>
            </a:solidFill>
            <a:ln w="14299" cap="sq">
              <a:solidFill>
                <a:srgbClr val="26DC7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0322500" y="3363049"/>
            <a:ext cx="2484539" cy="754971"/>
            <a:chOff x="0" y="0"/>
            <a:chExt cx="3312719" cy="100662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312716" cy="1006626"/>
            </a:xfrm>
            <a:custGeom>
              <a:avLst/>
              <a:gdLst/>
              <a:ahLst/>
              <a:cxnLst/>
              <a:rect r="r" b="b" t="t" l="l"/>
              <a:pathLst>
                <a:path h="1006626" w="3312716">
                  <a:moveTo>
                    <a:pt x="0" y="0"/>
                  </a:moveTo>
                  <a:lnTo>
                    <a:pt x="3312716" y="0"/>
                  </a:lnTo>
                  <a:lnTo>
                    <a:pt x="3312716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23" r="0" b="-1412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3312719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2F5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MediaPipe</a:t>
              </a:r>
            </a:p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2F5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Pose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170503" y="3081366"/>
            <a:ext cx="2828277" cy="1318336"/>
            <a:chOff x="0" y="0"/>
            <a:chExt cx="3771036" cy="175778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771011" cy="1757807"/>
            </a:xfrm>
            <a:custGeom>
              <a:avLst/>
              <a:gdLst/>
              <a:ahLst/>
              <a:cxnLst/>
              <a:rect r="r" b="b" t="t" l="l"/>
              <a:pathLst>
                <a:path h="1757807" w="3771011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3478022" y="0"/>
                  </a:lnTo>
                  <a:cubicBezTo>
                    <a:pt x="3639820" y="0"/>
                    <a:pt x="3771011" y="131191"/>
                    <a:pt x="3771011" y="292989"/>
                  </a:cubicBezTo>
                  <a:lnTo>
                    <a:pt x="3771011" y="1464818"/>
                  </a:lnTo>
                  <a:cubicBezTo>
                    <a:pt x="3771011" y="1626616"/>
                    <a:pt x="3639820" y="1757807"/>
                    <a:pt x="3478022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171E2D"/>
            </a:solidFill>
            <a:ln w="14299" cap="sq">
              <a:solidFill>
                <a:srgbClr val="FFB22D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3342372" y="3363049"/>
            <a:ext cx="2484539" cy="754971"/>
            <a:chOff x="0" y="0"/>
            <a:chExt cx="3312719" cy="100662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312716" cy="1006626"/>
            </a:xfrm>
            <a:custGeom>
              <a:avLst/>
              <a:gdLst/>
              <a:ahLst/>
              <a:cxnLst/>
              <a:rect r="r" b="b" t="t" l="l"/>
              <a:pathLst>
                <a:path h="1006626" w="3312716">
                  <a:moveTo>
                    <a:pt x="0" y="0"/>
                  </a:moveTo>
                  <a:lnTo>
                    <a:pt x="3312716" y="0"/>
                  </a:lnTo>
                  <a:lnTo>
                    <a:pt x="3312716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23" r="0" b="-1412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312719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2F5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Biomechanical</a:t>
              </a:r>
            </a:p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2F5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Analytics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199386" y="6101239"/>
            <a:ext cx="2828277" cy="1318336"/>
            <a:chOff x="0" y="0"/>
            <a:chExt cx="3771036" cy="175778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771011" cy="1757807"/>
            </a:xfrm>
            <a:custGeom>
              <a:avLst/>
              <a:gdLst/>
              <a:ahLst/>
              <a:cxnLst/>
              <a:rect r="r" b="b" t="t" l="l"/>
              <a:pathLst>
                <a:path h="1757807" w="3771011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3478022" y="0"/>
                  </a:lnTo>
                  <a:cubicBezTo>
                    <a:pt x="3639820" y="0"/>
                    <a:pt x="3771011" y="131191"/>
                    <a:pt x="3771011" y="292989"/>
                  </a:cubicBezTo>
                  <a:lnTo>
                    <a:pt x="3771011" y="1464818"/>
                  </a:lnTo>
                  <a:cubicBezTo>
                    <a:pt x="3771011" y="1626616"/>
                    <a:pt x="3639820" y="1757807"/>
                    <a:pt x="3478022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171E2D"/>
            </a:solidFill>
            <a:ln w="14299" cap="sq">
              <a:solidFill>
                <a:srgbClr val="00DCF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7371255" y="6382931"/>
            <a:ext cx="2484539" cy="754971"/>
            <a:chOff x="0" y="0"/>
            <a:chExt cx="3312719" cy="100662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312716" cy="1006626"/>
            </a:xfrm>
            <a:custGeom>
              <a:avLst/>
              <a:gdLst/>
              <a:ahLst/>
              <a:cxnLst/>
              <a:rect r="r" b="b" t="t" l="l"/>
              <a:pathLst>
                <a:path h="1006626" w="3312716">
                  <a:moveTo>
                    <a:pt x="0" y="0"/>
                  </a:moveTo>
                  <a:lnTo>
                    <a:pt x="3312716" y="0"/>
                  </a:lnTo>
                  <a:lnTo>
                    <a:pt x="3312716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23" r="0" b="-1412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312719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2F5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Risk +</a:t>
              </a:r>
            </a:p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2F5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Recommendations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042866" y="6101239"/>
            <a:ext cx="2828277" cy="1318336"/>
            <a:chOff x="0" y="0"/>
            <a:chExt cx="3771036" cy="175778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771011" cy="1757807"/>
            </a:xfrm>
            <a:custGeom>
              <a:avLst/>
              <a:gdLst/>
              <a:ahLst/>
              <a:cxnLst/>
              <a:rect r="r" b="b" t="t" l="l"/>
              <a:pathLst>
                <a:path h="1757807" w="3771011">
                  <a:moveTo>
                    <a:pt x="0" y="292989"/>
                  </a:moveTo>
                  <a:cubicBezTo>
                    <a:pt x="0" y="131191"/>
                    <a:pt x="131191" y="0"/>
                    <a:pt x="292989" y="0"/>
                  </a:cubicBezTo>
                  <a:lnTo>
                    <a:pt x="3478022" y="0"/>
                  </a:lnTo>
                  <a:cubicBezTo>
                    <a:pt x="3639820" y="0"/>
                    <a:pt x="3771011" y="131191"/>
                    <a:pt x="3771011" y="292989"/>
                  </a:cubicBezTo>
                  <a:lnTo>
                    <a:pt x="3771011" y="1464818"/>
                  </a:lnTo>
                  <a:cubicBezTo>
                    <a:pt x="3771011" y="1626616"/>
                    <a:pt x="3639820" y="1757807"/>
                    <a:pt x="3478022" y="1757807"/>
                  </a:cubicBezTo>
                  <a:lnTo>
                    <a:pt x="292989" y="1757807"/>
                  </a:lnTo>
                  <a:cubicBezTo>
                    <a:pt x="131191" y="1757807"/>
                    <a:pt x="0" y="1626616"/>
                    <a:pt x="0" y="1464818"/>
                  </a:cubicBezTo>
                  <a:close/>
                </a:path>
              </a:pathLst>
            </a:custGeom>
            <a:solidFill>
              <a:srgbClr val="171E2D"/>
            </a:solidFill>
            <a:ln w="14299" cap="sq">
              <a:solidFill>
                <a:srgbClr val="965AFF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1214735" y="6382931"/>
            <a:ext cx="2484539" cy="754971"/>
            <a:chOff x="0" y="0"/>
            <a:chExt cx="3312719" cy="100662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312716" cy="1006626"/>
            </a:xfrm>
            <a:custGeom>
              <a:avLst/>
              <a:gdLst/>
              <a:ahLst/>
              <a:cxnLst/>
              <a:rect r="r" b="b" t="t" l="l"/>
              <a:pathLst>
                <a:path h="1006626" w="3312716">
                  <a:moveTo>
                    <a:pt x="0" y="0"/>
                  </a:moveTo>
                  <a:lnTo>
                    <a:pt x="3312716" y="0"/>
                  </a:lnTo>
                  <a:lnTo>
                    <a:pt x="3312716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23" r="0" b="-1412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3312719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2F5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Dashboard</a:t>
              </a:r>
            </a:p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F2F5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&amp; Reports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 rot="576300">
            <a:off x="3889381" y="3737867"/>
            <a:ext cx="251365" cy="0"/>
          </a:xfrm>
          <a:prstGeom prst="line">
            <a:avLst/>
          </a:prstGeom>
          <a:ln cap="rnd" w="19050">
            <a:solidFill>
              <a:srgbClr val="00DC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rot="576300">
            <a:off x="6909264" y="3737867"/>
            <a:ext cx="251365" cy="0"/>
          </a:xfrm>
          <a:prstGeom prst="line">
            <a:avLst/>
          </a:prstGeom>
          <a:ln cap="rnd" w="19050">
            <a:solidFill>
              <a:srgbClr val="00DC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 rot="576300">
            <a:off x="9929146" y="3737867"/>
            <a:ext cx="251365" cy="0"/>
          </a:xfrm>
          <a:prstGeom prst="line">
            <a:avLst/>
          </a:prstGeom>
          <a:ln cap="rnd" w="19050">
            <a:solidFill>
              <a:srgbClr val="00DC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 rot="576300">
            <a:off x="12949018" y="3737867"/>
            <a:ext cx="251365" cy="0"/>
          </a:xfrm>
          <a:prstGeom prst="line">
            <a:avLst/>
          </a:prstGeom>
          <a:ln cap="rnd" w="19050">
            <a:solidFill>
              <a:srgbClr val="00DC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 rot="8490720">
            <a:off x="12094893" y="5240950"/>
            <a:ext cx="2824410" cy="0"/>
          </a:xfrm>
          <a:prstGeom prst="line">
            <a:avLst/>
          </a:prstGeom>
          <a:ln cap="rnd" w="19050">
            <a:solidFill>
              <a:srgbClr val="00DC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 rot="5317980">
            <a:off x="7658881" y="5240950"/>
            <a:ext cx="1758286" cy="0"/>
          </a:xfrm>
          <a:prstGeom prst="line">
            <a:avLst/>
          </a:prstGeom>
          <a:ln cap="rnd" w="19050">
            <a:solidFill>
              <a:srgbClr val="965A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 rot="134520">
            <a:off x="9999126" y="6744024"/>
            <a:ext cx="1072267" cy="0"/>
          </a:xfrm>
          <a:prstGeom prst="line">
            <a:avLst/>
          </a:prstGeom>
          <a:ln cap="rnd" w="19050">
            <a:solidFill>
              <a:srgbClr val="00DC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9" id="49"/>
          <p:cNvGrpSpPr/>
          <p:nvPr/>
        </p:nvGrpSpPr>
        <p:grpSpPr>
          <a:xfrm rot="0">
            <a:off x="1090984" y="8064160"/>
            <a:ext cx="16005934" cy="1181071"/>
            <a:chOff x="0" y="0"/>
            <a:chExt cx="21341245" cy="157476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341335" cy="1574800"/>
            </a:xfrm>
            <a:custGeom>
              <a:avLst/>
              <a:gdLst/>
              <a:ahLst/>
              <a:cxnLst/>
              <a:rect r="r" b="b" t="t" l="l"/>
              <a:pathLst>
                <a:path h="1574800" w="21341335">
                  <a:moveTo>
                    <a:pt x="0" y="262509"/>
                  </a:moveTo>
                  <a:cubicBezTo>
                    <a:pt x="0" y="117475"/>
                    <a:pt x="117475" y="0"/>
                    <a:pt x="262509" y="0"/>
                  </a:cubicBezTo>
                  <a:lnTo>
                    <a:pt x="21078825" y="0"/>
                  </a:lnTo>
                  <a:cubicBezTo>
                    <a:pt x="21223732" y="0"/>
                    <a:pt x="21341335" y="117475"/>
                    <a:pt x="21341335" y="262509"/>
                  </a:cubicBezTo>
                  <a:lnTo>
                    <a:pt x="21341335" y="1312291"/>
                  </a:lnTo>
                  <a:cubicBezTo>
                    <a:pt x="21341335" y="1457198"/>
                    <a:pt x="21223860" y="1574800"/>
                    <a:pt x="21078825" y="1574800"/>
                  </a:cubicBezTo>
                  <a:lnTo>
                    <a:pt x="262509" y="1574800"/>
                  </a:lnTo>
                  <a:cubicBezTo>
                    <a:pt x="117475" y="1574800"/>
                    <a:pt x="0" y="1457198"/>
                    <a:pt x="0" y="1312291"/>
                  </a:cubicBezTo>
                  <a:close/>
                </a:path>
              </a:pathLst>
            </a:custGeom>
            <a:solidFill>
              <a:srgbClr val="131926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sp>
        <p:nvSpPr>
          <p:cNvPr name="TextBox 51" id="51"/>
          <p:cNvSpPr txBox="true"/>
          <p:nvPr/>
        </p:nvSpPr>
        <p:spPr>
          <a:xfrm rot="0">
            <a:off x="1477880" y="8372904"/>
            <a:ext cx="1299524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00DCF5"/>
                </a:solidFill>
                <a:latin typeface="Aptos Bold"/>
                <a:ea typeface="Aptos Bold"/>
                <a:cs typeface="Aptos Bold"/>
                <a:sym typeface="Aptos Bold"/>
              </a:rPr>
              <a:t>Frontend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77880" y="8698135"/>
            <a:ext cx="2123122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React + Vite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154595" y="8372904"/>
            <a:ext cx="1299524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4C91FF"/>
                </a:solidFill>
                <a:latin typeface="Aptos Bold"/>
                <a:ea typeface="Aptos Bold"/>
                <a:cs typeface="Aptos Bold"/>
                <a:sym typeface="Aptos Bold"/>
              </a:rPr>
              <a:t>Backend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154595" y="8698135"/>
            <a:ext cx="2672191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FastAPI + SQLAlchemy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654909" y="8372904"/>
            <a:ext cx="1711319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965AFF"/>
                </a:solidFill>
                <a:latin typeface="Aptos Bold"/>
                <a:ea typeface="Aptos Bold"/>
                <a:cs typeface="Aptos Bold"/>
                <a:sym typeface="Aptos Bold"/>
              </a:rPr>
              <a:t>Computer Vision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654909" y="8698135"/>
            <a:ext cx="2397662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MediaPipe + OpenCV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086586" y="8372904"/>
            <a:ext cx="887720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26DC7D"/>
                </a:solidFill>
                <a:latin typeface="Aptos Bold"/>
                <a:ea typeface="Aptos Bold"/>
                <a:cs typeface="Aptos Bold"/>
                <a:sym typeface="Aptos Bold"/>
              </a:rPr>
              <a:t>Data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086586" y="8698135"/>
            <a:ext cx="2809456" cy="20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SQLite / PostgreSQL support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28811" y="9827933"/>
            <a:ext cx="4044867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ATHLETE HUB  •  M1–M4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6783183" y="9773021"/>
            <a:ext cx="544554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8811" y="558194"/>
            <a:ext cx="4044867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0DCF5"/>
                </a:solidFill>
                <a:latin typeface="Aptos Bold"/>
                <a:ea typeface="Aptos Bold"/>
                <a:cs typeface="Aptos Bold"/>
                <a:sym typeface="Aptos Bold"/>
              </a:rPr>
              <a:t>05 • IMPLEMENTATION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8811" y="1006973"/>
            <a:ext cx="16398916" cy="71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What we completed in M1–M4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6262" y="1821047"/>
            <a:ext cx="15987112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Each milestone added one layer to the same working system.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92235" y="2498265"/>
            <a:ext cx="1441304" cy="61770"/>
            <a:chOff x="0" y="0"/>
            <a:chExt cx="1921739" cy="82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1764" cy="82423"/>
            </a:xfrm>
            <a:custGeom>
              <a:avLst/>
              <a:gdLst/>
              <a:ahLst/>
              <a:cxnLst/>
              <a:rect r="r" b="b" t="t" l="l"/>
              <a:pathLst>
                <a:path h="82423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00DCF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63533" y="3081366"/>
            <a:ext cx="3789150" cy="5024552"/>
            <a:chOff x="0" y="0"/>
            <a:chExt cx="5052200" cy="66994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52060" cy="6699377"/>
            </a:xfrm>
            <a:custGeom>
              <a:avLst/>
              <a:gdLst/>
              <a:ahLst/>
              <a:cxnLst/>
              <a:rect r="r" b="b" t="t" l="l"/>
              <a:pathLst>
                <a:path h="6699377" w="5052060">
                  <a:moveTo>
                    <a:pt x="0" y="842010"/>
                  </a:moveTo>
                  <a:cubicBezTo>
                    <a:pt x="0" y="376936"/>
                    <a:pt x="376936" y="0"/>
                    <a:pt x="842010" y="0"/>
                  </a:cubicBezTo>
                  <a:lnTo>
                    <a:pt x="4210050" y="0"/>
                  </a:lnTo>
                  <a:cubicBezTo>
                    <a:pt x="4675124" y="0"/>
                    <a:pt x="5052060" y="376936"/>
                    <a:pt x="5052060" y="842010"/>
                  </a:cubicBezTo>
                  <a:lnTo>
                    <a:pt x="5052060" y="5857367"/>
                  </a:lnTo>
                  <a:cubicBezTo>
                    <a:pt x="5052060" y="6322441"/>
                    <a:pt x="4675124" y="6699377"/>
                    <a:pt x="4210050" y="6699377"/>
                  </a:cubicBezTo>
                  <a:lnTo>
                    <a:pt x="842010" y="6699377"/>
                  </a:lnTo>
                  <a:cubicBezTo>
                    <a:pt x="376936" y="6699377"/>
                    <a:pt x="0" y="6322441"/>
                    <a:pt x="0" y="5857367"/>
                  </a:cubicBezTo>
                  <a:close/>
                </a:path>
              </a:pathLst>
            </a:custGeom>
            <a:solidFill>
              <a:srgbClr val="131926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409252" y="3536890"/>
            <a:ext cx="956348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00DCF5"/>
                </a:solidFill>
                <a:latin typeface="Aptos Bold"/>
                <a:ea typeface="Aptos Bold"/>
                <a:cs typeface="Aptos Bold"/>
                <a:sym typeface="Aptos Bold"/>
              </a:rPr>
              <a:t>M1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9252" y="4195772"/>
            <a:ext cx="3083995" cy="777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Foundation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9252" y="5458635"/>
            <a:ext cx="3015358" cy="154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Authentication, athlete profiles, database, dashboard and core API.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72676" y="7343794"/>
            <a:ext cx="3129696" cy="82363"/>
            <a:chOff x="0" y="0"/>
            <a:chExt cx="4172928" cy="10981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72966" cy="109855"/>
            </a:xfrm>
            <a:custGeom>
              <a:avLst/>
              <a:gdLst/>
              <a:ahLst/>
              <a:cxnLst/>
              <a:rect r="r" b="b" t="t" l="l"/>
              <a:pathLst>
                <a:path h="109855" w="4172966">
                  <a:moveTo>
                    <a:pt x="0" y="0"/>
                  </a:moveTo>
                  <a:lnTo>
                    <a:pt x="4172966" y="0"/>
                  </a:lnTo>
                  <a:lnTo>
                    <a:pt x="4172966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00DCF5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409252" y="7576747"/>
            <a:ext cx="1848593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00DCF5"/>
                </a:solidFill>
                <a:latin typeface="Aptos Bold"/>
                <a:ea typeface="Aptos Bold"/>
                <a:cs typeface="Aptos Bold"/>
                <a:sym typeface="Aptos Bold"/>
              </a:rPr>
              <a:t>COMPLETED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291366" y="3081366"/>
            <a:ext cx="3789150" cy="5024552"/>
            <a:chOff x="0" y="0"/>
            <a:chExt cx="5052200" cy="669940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52060" cy="6699377"/>
            </a:xfrm>
            <a:custGeom>
              <a:avLst/>
              <a:gdLst/>
              <a:ahLst/>
              <a:cxnLst/>
              <a:rect r="r" b="b" t="t" l="l"/>
              <a:pathLst>
                <a:path h="6699377" w="5052060">
                  <a:moveTo>
                    <a:pt x="0" y="842010"/>
                  </a:moveTo>
                  <a:cubicBezTo>
                    <a:pt x="0" y="376936"/>
                    <a:pt x="376936" y="0"/>
                    <a:pt x="842010" y="0"/>
                  </a:cubicBezTo>
                  <a:lnTo>
                    <a:pt x="4210050" y="0"/>
                  </a:lnTo>
                  <a:cubicBezTo>
                    <a:pt x="4675124" y="0"/>
                    <a:pt x="5052060" y="376936"/>
                    <a:pt x="5052060" y="842010"/>
                  </a:cubicBezTo>
                  <a:lnTo>
                    <a:pt x="5052060" y="5857367"/>
                  </a:lnTo>
                  <a:cubicBezTo>
                    <a:pt x="5052060" y="6322441"/>
                    <a:pt x="4675124" y="6699377"/>
                    <a:pt x="4210050" y="6699377"/>
                  </a:cubicBezTo>
                  <a:lnTo>
                    <a:pt x="842010" y="6699377"/>
                  </a:lnTo>
                  <a:cubicBezTo>
                    <a:pt x="376936" y="6699377"/>
                    <a:pt x="0" y="6322441"/>
                    <a:pt x="0" y="5857367"/>
                  </a:cubicBezTo>
                  <a:close/>
                </a:path>
              </a:pathLst>
            </a:custGeom>
            <a:solidFill>
              <a:srgbClr val="131926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5637076" y="3536890"/>
            <a:ext cx="956348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4C91FF"/>
                </a:solidFill>
                <a:latin typeface="Aptos Bold"/>
                <a:ea typeface="Aptos Bold"/>
                <a:cs typeface="Aptos Bold"/>
                <a:sym typeface="Aptos Bold"/>
              </a:rPr>
              <a:t>M2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637076" y="4195772"/>
            <a:ext cx="3083995" cy="777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Video pipeline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637076" y="5458635"/>
            <a:ext cx="3015358" cy="154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Training-video upload, storage and processing workflow.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600500" y="7343794"/>
            <a:ext cx="3129696" cy="82363"/>
            <a:chOff x="0" y="0"/>
            <a:chExt cx="4172928" cy="10981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72966" cy="109855"/>
            </a:xfrm>
            <a:custGeom>
              <a:avLst/>
              <a:gdLst/>
              <a:ahLst/>
              <a:cxnLst/>
              <a:rect r="r" b="b" t="t" l="l"/>
              <a:pathLst>
                <a:path h="109855" w="4172966">
                  <a:moveTo>
                    <a:pt x="0" y="0"/>
                  </a:moveTo>
                  <a:lnTo>
                    <a:pt x="4172966" y="0"/>
                  </a:lnTo>
                  <a:lnTo>
                    <a:pt x="4172966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4C91F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637076" y="7576747"/>
            <a:ext cx="1848593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4C91FF"/>
                </a:solidFill>
                <a:latin typeface="Aptos Bold"/>
                <a:ea typeface="Aptos Bold"/>
                <a:cs typeface="Aptos Bold"/>
                <a:sym typeface="Aptos Bold"/>
              </a:rPr>
              <a:t>COMPLETED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519199" y="3081366"/>
            <a:ext cx="3789150" cy="5024552"/>
            <a:chOff x="0" y="0"/>
            <a:chExt cx="5052200" cy="669940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52060" cy="6699377"/>
            </a:xfrm>
            <a:custGeom>
              <a:avLst/>
              <a:gdLst/>
              <a:ahLst/>
              <a:cxnLst/>
              <a:rect r="r" b="b" t="t" l="l"/>
              <a:pathLst>
                <a:path h="6699377" w="5052060">
                  <a:moveTo>
                    <a:pt x="0" y="842010"/>
                  </a:moveTo>
                  <a:cubicBezTo>
                    <a:pt x="0" y="376936"/>
                    <a:pt x="376936" y="0"/>
                    <a:pt x="842010" y="0"/>
                  </a:cubicBezTo>
                  <a:lnTo>
                    <a:pt x="4210050" y="0"/>
                  </a:lnTo>
                  <a:cubicBezTo>
                    <a:pt x="4675124" y="0"/>
                    <a:pt x="5052060" y="376936"/>
                    <a:pt x="5052060" y="842010"/>
                  </a:cubicBezTo>
                  <a:lnTo>
                    <a:pt x="5052060" y="5857367"/>
                  </a:lnTo>
                  <a:cubicBezTo>
                    <a:pt x="5052060" y="6322441"/>
                    <a:pt x="4675124" y="6699377"/>
                    <a:pt x="4210050" y="6699377"/>
                  </a:cubicBezTo>
                  <a:lnTo>
                    <a:pt x="842010" y="6699377"/>
                  </a:lnTo>
                  <a:cubicBezTo>
                    <a:pt x="376936" y="6699377"/>
                    <a:pt x="0" y="6322441"/>
                    <a:pt x="0" y="5857367"/>
                  </a:cubicBezTo>
                  <a:close/>
                </a:path>
              </a:pathLst>
            </a:custGeom>
            <a:solidFill>
              <a:srgbClr val="131926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9864909" y="3536890"/>
            <a:ext cx="956348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965AFF"/>
                </a:solidFill>
                <a:latin typeface="Aptos Bold"/>
                <a:ea typeface="Aptos Bold"/>
                <a:cs typeface="Aptos Bold"/>
                <a:sym typeface="Aptos Bold"/>
              </a:rPr>
              <a:t>M3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64909" y="4195772"/>
            <a:ext cx="3083995" cy="777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Pose + biomechanics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64909" y="5458635"/>
            <a:ext cx="3015358" cy="154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Real MediaPipe Pose Landmarker processing and movement metrics.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828333" y="7343794"/>
            <a:ext cx="3129696" cy="82363"/>
            <a:chOff x="0" y="0"/>
            <a:chExt cx="4172928" cy="10981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172966" cy="109855"/>
            </a:xfrm>
            <a:custGeom>
              <a:avLst/>
              <a:gdLst/>
              <a:ahLst/>
              <a:cxnLst/>
              <a:rect r="r" b="b" t="t" l="l"/>
              <a:pathLst>
                <a:path h="109855" w="4172966">
                  <a:moveTo>
                    <a:pt x="0" y="0"/>
                  </a:moveTo>
                  <a:lnTo>
                    <a:pt x="4172966" y="0"/>
                  </a:lnTo>
                  <a:lnTo>
                    <a:pt x="4172966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965AF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864909" y="7576747"/>
            <a:ext cx="1848593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965AFF"/>
                </a:solidFill>
                <a:latin typeface="Aptos Bold"/>
                <a:ea typeface="Aptos Bold"/>
                <a:cs typeface="Aptos Bold"/>
                <a:sym typeface="Aptos Bold"/>
              </a:rPr>
              <a:t>COMPLETED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3747032" y="3081366"/>
            <a:ext cx="3789150" cy="5024552"/>
            <a:chOff x="0" y="0"/>
            <a:chExt cx="5052200" cy="669940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052060" cy="6699377"/>
            </a:xfrm>
            <a:custGeom>
              <a:avLst/>
              <a:gdLst/>
              <a:ahLst/>
              <a:cxnLst/>
              <a:rect r="r" b="b" t="t" l="l"/>
              <a:pathLst>
                <a:path h="6699377" w="5052060">
                  <a:moveTo>
                    <a:pt x="0" y="842010"/>
                  </a:moveTo>
                  <a:cubicBezTo>
                    <a:pt x="0" y="376936"/>
                    <a:pt x="376936" y="0"/>
                    <a:pt x="842010" y="0"/>
                  </a:cubicBezTo>
                  <a:lnTo>
                    <a:pt x="4210050" y="0"/>
                  </a:lnTo>
                  <a:cubicBezTo>
                    <a:pt x="4675124" y="0"/>
                    <a:pt x="5052060" y="376936"/>
                    <a:pt x="5052060" y="842010"/>
                  </a:cubicBezTo>
                  <a:lnTo>
                    <a:pt x="5052060" y="5857367"/>
                  </a:lnTo>
                  <a:cubicBezTo>
                    <a:pt x="5052060" y="6322441"/>
                    <a:pt x="4675124" y="6699377"/>
                    <a:pt x="4210050" y="6699377"/>
                  </a:cubicBezTo>
                  <a:lnTo>
                    <a:pt x="842010" y="6699377"/>
                  </a:lnTo>
                  <a:cubicBezTo>
                    <a:pt x="376936" y="6699377"/>
                    <a:pt x="0" y="6322441"/>
                    <a:pt x="0" y="5857367"/>
                  </a:cubicBezTo>
                  <a:close/>
                </a:path>
              </a:pathLst>
            </a:custGeom>
            <a:solidFill>
              <a:srgbClr val="131926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4092742" y="3536890"/>
            <a:ext cx="956348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B22D"/>
                </a:solidFill>
                <a:latin typeface="Aptos Bold"/>
                <a:ea typeface="Aptos Bold"/>
                <a:cs typeface="Aptos Bold"/>
                <a:sym typeface="Aptos Bold"/>
              </a:rPr>
              <a:t>M4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092742" y="4195772"/>
            <a:ext cx="3083995" cy="777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Intelligence layer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092742" y="5458635"/>
            <a:ext cx="3015358" cy="154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Risk scoring, anomaly detection, injury-risk indicators and recommendations.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4056166" y="7343794"/>
            <a:ext cx="3129696" cy="82363"/>
            <a:chOff x="0" y="0"/>
            <a:chExt cx="4172928" cy="10981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72966" cy="109855"/>
            </a:xfrm>
            <a:custGeom>
              <a:avLst/>
              <a:gdLst/>
              <a:ahLst/>
              <a:cxnLst/>
              <a:rect r="r" b="b" t="t" l="l"/>
              <a:pathLst>
                <a:path h="109855" w="4172966">
                  <a:moveTo>
                    <a:pt x="0" y="0"/>
                  </a:moveTo>
                  <a:lnTo>
                    <a:pt x="4172966" y="0"/>
                  </a:lnTo>
                  <a:lnTo>
                    <a:pt x="4172966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FFB22D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4092742" y="7576747"/>
            <a:ext cx="1848593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FFB22D"/>
                </a:solidFill>
                <a:latin typeface="Aptos Bold"/>
                <a:ea typeface="Aptos Bold"/>
                <a:cs typeface="Aptos Bold"/>
                <a:sym typeface="Aptos Bold"/>
              </a:rPr>
              <a:t>COMPLETED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03350" y="8753046"/>
            <a:ext cx="6103877" cy="40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M1 → M2 → M3 → M4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899939" y="8807948"/>
            <a:ext cx="9672818" cy="33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The project is now at the point where the complete analysis flow can be demonstrated.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28811" y="9827933"/>
            <a:ext cx="4044867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ATHLETE HUB  •  M1–M4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783183" y="9773021"/>
            <a:ext cx="544554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8811" y="558194"/>
            <a:ext cx="4044867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0DCF5"/>
                </a:solidFill>
                <a:latin typeface="Aptos Bold"/>
                <a:ea typeface="Aptos Bold"/>
                <a:cs typeface="Aptos Bold"/>
                <a:sym typeface="Aptos Bold"/>
              </a:rPr>
              <a:t>06 • M3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8811" y="1006973"/>
            <a:ext cx="16398916" cy="71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From video to movement data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6262" y="1821047"/>
            <a:ext cx="15987112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This is the computer-vision part of the project: the system watches the movement frame by frame instead of treating the video as a black box.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92235" y="2498265"/>
            <a:ext cx="1441304" cy="61770"/>
            <a:chOff x="0" y="0"/>
            <a:chExt cx="1921739" cy="82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1764" cy="82423"/>
            </a:xfrm>
            <a:custGeom>
              <a:avLst/>
              <a:gdLst/>
              <a:ahLst/>
              <a:cxnLst/>
              <a:rect r="r" b="b" t="t" l="l"/>
              <a:pathLst>
                <a:path h="82423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00DCF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85092" y="2944092"/>
            <a:ext cx="9211208" cy="5985424"/>
            <a:chOff x="0" y="0"/>
            <a:chExt cx="12281611" cy="79805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281535" cy="7980552"/>
            </a:xfrm>
            <a:custGeom>
              <a:avLst/>
              <a:gdLst/>
              <a:ahLst/>
              <a:cxnLst/>
              <a:rect r="r" b="b" t="t" l="l"/>
              <a:pathLst>
                <a:path h="7980552" w="12281535">
                  <a:moveTo>
                    <a:pt x="0" y="1330071"/>
                  </a:moveTo>
                  <a:cubicBezTo>
                    <a:pt x="0" y="595503"/>
                    <a:pt x="595503" y="0"/>
                    <a:pt x="1330071" y="0"/>
                  </a:cubicBezTo>
                  <a:lnTo>
                    <a:pt x="10951464" y="0"/>
                  </a:lnTo>
                  <a:cubicBezTo>
                    <a:pt x="11686032" y="0"/>
                    <a:pt x="12281535" y="595503"/>
                    <a:pt x="12281535" y="1330071"/>
                  </a:cubicBezTo>
                  <a:lnTo>
                    <a:pt x="12281535" y="6650482"/>
                  </a:lnTo>
                  <a:cubicBezTo>
                    <a:pt x="12281535" y="7385050"/>
                    <a:pt x="11686032" y="7980552"/>
                    <a:pt x="10951464" y="7980552"/>
                  </a:cubicBezTo>
                  <a:lnTo>
                    <a:pt x="1330071" y="7980552"/>
                  </a:lnTo>
                  <a:cubicBezTo>
                    <a:pt x="595503" y="7980553"/>
                    <a:pt x="0" y="7385050"/>
                    <a:pt x="0" y="6650482"/>
                  </a:cubicBezTo>
                  <a:close/>
                </a:path>
              </a:pathLst>
            </a:custGeom>
            <a:solidFill>
              <a:srgbClr val="171E2D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15775" y="4283564"/>
            <a:ext cx="8949823" cy="2894676"/>
            <a:chOff x="0" y="0"/>
            <a:chExt cx="11933098" cy="3859568"/>
          </a:xfrm>
        </p:grpSpPr>
        <p:sp>
          <p:nvSpPr>
            <p:cNvPr name="Freeform 10" id="10" descr="b876833d-ebde-4928-a14d-e6c106db2251.png"/>
            <p:cNvSpPr/>
            <p:nvPr/>
          </p:nvSpPr>
          <p:spPr>
            <a:xfrm flipH="false" flipV="false" rot="0">
              <a:off x="0" y="0"/>
              <a:ext cx="11933047" cy="3859530"/>
            </a:xfrm>
            <a:custGeom>
              <a:avLst/>
              <a:gdLst/>
              <a:ahLst/>
              <a:cxnLst/>
              <a:rect r="r" b="b" t="t" l="l"/>
              <a:pathLst>
                <a:path h="3859530" w="11933047">
                  <a:moveTo>
                    <a:pt x="0" y="0"/>
                  </a:moveTo>
                  <a:lnTo>
                    <a:pt x="11933047" y="0"/>
                  </a:lnTo>
                  <a:lnTo>
                    <a:pt x="11933047" y="3859530"/>
                  </a:lnTo>
                  <a:lnTo>
                    <a:pt x="0" y="38595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71289" y="7347990"/>
            <a:ext cx="8794309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Actual biomechanical analysis screen from the project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493797" y="2944092"/>
            <a:ext cx="6877660" cy="5985424"/>
            <a:chOff x="0" y="0"/>
            <a:chExt cx="9170213" cy="79805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70162" cy="7980552"/>
            </a:xfrm>
            <a:custGeom>
              <a:avLst/>
              <a:gdLst/>
              <a:ahLst/>
              <a:cxnLst/>
              <a:rect r="r" b="b" t="t" l="l"/>
              <a:pathLst>
                <a:path h="7980552" w="9170162">
                  <a:moveTo>
                    <a:pt x="0" y="1330071"/>
                  </a:moveTo>
                  <a:cubicBezTo>
                    <a:pt x="0" y="595503"/>
                    <a:pt x="595503" y="0"/>
                    <a:pt x="1330071" y="0"/>
                  </a:cubicBezTo>
                  <a:lnTo>
                    <a:pt x="7840090" y="0"/>
                  </a:lnTo>
                  <a:cubicBezTo>
                    <a:pt x="8574659" y="0"/>
                    <a:pt x="9170162" y="595503"/>
                    <a:pt x="9170162" y="1330071"/>
                  </a:cubicBezTo>
                  <a:lnTo>
                    <a:pt x="9170162" y="6650482"/>
                  </a:lnTo>
                  <a:cubicBezTo>
                    <a:pt x="9170162" y="7385050"/>
                    <a:pt x="8574659" y="7980552"/>
                    <a:pt x="7840090" y="7980552"/>
                  </a:cubicBezTo>
                  <a:lnTo>
                    <a:pt x="1330071" y="7980552"/>
                  </a:lnTo>
                  <a:cubicBezTo>
                    <a:pt x="595503" y="7980553"/>
                    <a:pt x="0" y="7385050"/>
                    <a:pt x="0" y="6650482"/>
                  </a:cubicBezTo>
                  <a:close/>
                </a:path>
              </a:pathLst>
            </a:custGeom>
            <a:solidFill>
              <a:srgbClr val="131926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0949321" y="3431276"/>
            <a:ext cx="5829338" cy="34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What the system extracts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912745" y="4131745"/>
            <a:ext cx="384353" cy="384353"/>
            <a:chOff x="0" y="0"/>
            <a:chExt cx="512470" cy="5124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965A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912745" y="4159196"/>
            <a:ext cx="384353" cy="329441"/>
            <a:chOff x="0" y="0"/>
            <a:chExt cx="512470" cy="43925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2464" cy="439255"/>
            </a:xfrm>
            <a:custGeom>
              <a:avLst/>
              <a:gdLst/>
              <a:ahLst/>
              <a:cxnLst/>
              <a:rect r="r" b="b" t="t" l="l"/>
              <a:pathLst>
                <a:path h="439255" w="512464">
                  <a:moveTo>
                    <a:pt x="0" y="0"/>
                  </a:moveTo>
                  <a:lnTo>
                    <a:pt x="512464" y="0"/>
                  </a:lnTo>
                  <a:lnTo>
                    <a:pt x="512464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973" t="0" r="-59975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512470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sz="1200" b="true">
                  <a:solidFill>
                    <a:srgbClr val="0A0E1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1539566" y="4127144"/>
            <a:ext cx="2329024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Knee angles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39566" y="4429125"/>
            <a:ext cx="5280269" cy="393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3"/>
              </a:lnSpc>
            </a:pPr>
            <a:r>
              <a:rPr lang="en-US" sz="1411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Track flexion and extension across frames.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912745" y="5010255"/>
            <a:ext cx="384353" cy="384353"/>
            <a:chOff x="0" y="0"/>
            <a:chExt cx="512470" cy="5124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965A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912745" y="5037706"/>
            <a:ext cx="384353" cy="329441"/>
            <a:chOff x="0" y="0"/>
            <a:chExt cx="512470" cy="43925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2464" cy="439255"/>
            </a:xfrm>
            <a:custGeom>
              <a:avLst/>
              <a:gdLst/>
              <a:ahLst/>
              <a:cxnLst/>
              <a:rect r="r" b="b" t="t" l="l"/>
              <a:pathLst>
                <a:path h="439255" w="512464">
                  <a:moveTo>
                    <a:pt x="0" y="0"/>
                  </a:moveTo>
                  <a:lnTo>
                    <a:pt x="512464" y="0"/>
                  </a:lnTo>
                  <a:lnTo>
                    <a:pt x="512464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973" t="0" r="-59975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512470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sz="1200" b="true">
                  <a:solidFill>
                    <a:srgbClr val="0A0E1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1539566" y="5005654"/>
            <a:ext cx="2329024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Bilateral symmetry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539566" y="5307635"/>
            <a:ext cx="5280269" cy="393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3"/>
              </a:lnSpc>
            </a:pPr>
            <a:r>
              <a:rPr lang="en-US" sz="1411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Compare left and right movement.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912745" y="5888765"/>
            <a:ext cx="384353" cy="384353"/>
            <a:chOff x="0" y="0"/>
            <a:chExt cx="512470" cy="5124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965A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912745" y="5916216"/>
            <a:ext cx="384353" cy="329441"/>
            <a:chOff x="0" y="0"/>
            <a:chExt cx="512470" cy="43925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2464" cy="439255"/>
            </a:xfrm>
            <a:custGeom>
              <a:avLst/>
              <a:gdLst/>
              <a:ahLst/>
              <a:cxnLst/>
              <a:rect r="r" b="b" t="t" l="l"/>
              <a:pathLst>
                <a:path h="439255" w="512464">
                  <a:moveTo>
                    <a:pt x="0" y="0"/>
                  </a:moveTo>
                  <a:lnTo>
                    <a:pt x="512464" y="0"/>
                  </a:lnTo>
                  <a:lnTo>
                    <a:pt x="512464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973" t="0" r="-59975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512470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sz="1200" b="true">
                  <a:solidFill>
                    <a:srgbClr val="0A0E1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539566" y="5884164"/>
            <a:ext cx="2329024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Posture alignment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539566" y="6186145"/>
            <a:ext cx="5280269" cy="393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3"/>
              </a:lnSpc>
            </a:pPr>
            <a:r>
              <a:rPr lang="en-US" sz="1411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Look for meaningful positional deviation.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912745" y="6767274"/>
            <a:ext cx="384353" cy="384353"/>
            <a:chOff x="0" y="0"/>
            <a:chExt cx="512470" cy="51247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965AF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912745" y="6794725"/>
            <a:ext cx="384353" cy="329441"/>
            <a:chOff x="0" y="0"/>
            <a:chExt cx="512470" cy="43925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12464" cy="439255"/>
            </a:xfrm>
            <a:custGeom>
              <a:avLst/>
              <a:gdLst/>
              <a:ahLst/>
              <a:cxnLst/>
              <a:rect r="r" b="b" t="t" l="l"/>
              <a:pathLst>
                <a:path h="439255" w="512464">
                  <a:moveTo>
                    <a:pt x="0" y="0"/>
                  </a:moveTo>
                  <a:lnTo>
                    <a:pt x="512464" y="0"/>
                  </a:lnTo>
                  <a:lnTo>
                    <a:pt x="512464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973" t="0" r="-59975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512470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sz="1200" b="true">
                  <a:solidFill>
                    <a:srgbClr val="0A0E1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1539566" y="6762674"/>
            <a:ext cx="2329024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Flexion velocity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539566" y="7064654"/>
            <a:ext cx="5280269" cy="393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3"/>
              </a:lnSpc>
            </a:pPr>
            <a:r>
              <a:rPr lang="en-US" sz="1411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Estimate how quickly the movement changes.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0912745" y="7645784"/>
            <a:ext cx="384353" cy="384353"/>
            <a:chOff x="0" y="0"/>
            <a:chExt cx="512470" cy="5124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2445" cy="512445"/>
            </a:xfrm>
            <a:custGeom>
              <a:avLst/>
              <a:gdLst/>
              <a:ahLst/>
              <a:cxnLst/>
              <a:rect r="r" b="b" t="t" l="l"/>
              <a:pathLst>
                <a:path h="512445" w="512445">
                  <a:moveTo>
                    <a:pt x="0" y="256286"/>
                  </a:moveTo>
                  <a:cubicBezTo>
                    <a:pt x="0" y="114681"/>
                    <a:pt x="114681" y="0"/>
                    <a:pt x="256286" y="0"/>
                  </a:cubicBezTo>
                  <a:cubicBezTo>
                    <a:pt x="397891" y="0"/>
                    <a:pt x="512445" y="114681"/>
                    <a:pt x="512445" y="256286"/>
                  </a:cubicBezTo>
                  <a:cubicBezTo>
                    <a:pt x="512445" y="397891"/>
                    <a:pt x="397764" y="512445"/>
                    <a:pt x="256286" y="512445"/>
                  </a:cubicBezTo>
                  <a:cubicBezTo>
                    <a:pt x="114808" y="512445"/>
                    <a:pt x="0" y="397764"/>
                    <a:pt x="0" y="256286"/>
                  </a:cubicBezTo>
                  <a:close/>
                </a:path>
              </a:pathLst>
            </a:custGeom>
            <a:solidFill>
              <a:srgbClr val="965A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912745" y="7673235"/>
            <a:ext cx="384353" cy="329441"/>
            <a:chOff x="0" y="0"/>
            <a:chExt cx="512470" cy="43925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2464" cy="439255"/>
            </a:xfrm>
            <a:custGeom>
              <a:avLst/>
              <a:gdLst/>
              <a:ahLst/>
              <a:cxnLst/>
              <a:rect r="r" b="b" t="t" l="l"/>
              <a:pathLst>
                <a:path h="439255" w="512464">
                  <a:moveTo>
                    <a:pt x="0" y="0"/>
                  </a:moveTo>
                  <a:lnTo>
                    <a:pt x="512464" y="0"/>
                  </a:lnTo>
                  <a:lnTo>
                    <a:pt x="512464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9973" t="0" r="-59975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512470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1"/>
                </a:lnSpc>
              </a:pPr>
              <a:r>
                <a:rPr lang="en-US" sz="1200" b="true">
                  <a:solidFill>
                    <a:srgbClr val="0A0E1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1539566" y="7641184"/>
            <a:ext cx="2329024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Skeletal landmarks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539566" y="7943174"/>
            <a:ext cx="5280269" cy="393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93"/>
              </a:lnSpc>
            </a:pPr>
            <a:r>
              <a:rPr lang="en-US" sz="1411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Use body keypoints as the basis for analysis.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104921" y="8336728"/>
            <a:ext cx="553787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00DCF5"/>
                </a:solidFill>
                <a:latin typeface="Aptos Bold"/>
                <a:ea typeface="Aptos Bold"/>
                <a:cs typeface="Aptos Bold"/>
                <a:sym typeface="Aptos Bold"/>
              </a:rPr>
              <a:t>Example: a squat video becomes structured movement data that the M4 intelligence layer can use.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28811" y="9827933"/>
            <a:ext cx="4044867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ATHLETE HUB  •  M1–M4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6783183" y="9773021"/>
            <a:ext cx="544554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8811" y="558194"/>
            <a:ext cx="4044867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0DCF5"/>
                </a:solidFill>
                <a:latin typeface="Aptos Bold"/>
                <a:ea typeface="Aptos Bold"/>
                <a:cs typeface="Aptos Bold"/>
                <a:sym typeface="Aptos Bold"/>
              </a:rPr>
              <a:t>07 • M4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8811" y="1006973"/>
            <a:ext cx="16398916" cy="71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Risk assessment with transparent scoring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6262" y="1821047"/>
            <a:ext cx="15987112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The result is deliberately explainable: the dashboard shows where the risk score came from instead of giving only a final number.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92235" y="2498265"/>
            <a:ext cx="1441304" cy="61770"/>
            <a:chOff x="0" y="0"/>
            <a:chExt cx="1921739" cy="82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1764" cy="82423"/>
            </a:xfrm>
            <a:custGeom>
              <a:avLst/>
              <a:gdLst/>
              <a:ahLst/>
              <a:cxnLst/>
              <a:rect r="r" b="b" t="t" l="l"/>
              <a:pathLst>
                <a:path h="82423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00DCF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85092" y="2944092"/>
            <a:ext cx="9279836" cy="6122689"/>
            <a:chOff x="0" y="0"/>
            <a:chExt cx="12373115" cy="81635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73229" cy="8163687"/>
            </a:xfrm>
            <a:custGeom>
              <a:avLst/>
              <a:gdLst/>
              <a:ahLst/>
              <a:cxnLst/>
              <a:rect r="r" b="b" t="t" l="l"/>
              <a:pathLst>
                <a:path h="8163687" w="12373229">
                  <a:moveTo>
                    <a:pt x="0" y="1360678"/>
                  </a:moveTo>
                  <a:cubicBezTo>
                    <a:pt x="0" y="609219"/>
                    <a:pt x="609219" y="0"/>
                    <a:pt x="1360678" y="0"/>
                  </a:cubicBezTo>
                  <a:lnTo>
                    <a:pt x="11012551" y="0"/>
                  </a:lnTo>
                  <a:cubicBezTo>
                    <a:pt x="11764010" y="0"/>
                    <a:pt x="12373229" y="609219"/>
                    <a:pt x="12373229" y="1360678"/>
                  </a:cubicBezTo>
                  <a:lnTo>
                    <a:pt x="12373229" y="6803009"/>
                  </a:lnTo>
                  <a:cubicBezTo>
                    <a:pt x="12373229" y="7554468"/>
                    <a:pt x="11764010" y="8163687"/>
                    <a:pt x="11012551" y="8163687"/>
                  </a:cubicBezTo>
                  <a:lnTo>
                    <a:pt x="1360678" y="8163687"/>
                  </a:lnTo>
                  <a:cubicBezTo>
                    <a:pt x="609219" y="8163560"/>
                    <a:pt x="0" y="7554468"/>
                    <a:pt x="0" y="6803009"/>
                  </a:cubicBezTo>
                  <a:close/>
                </a:path>
              </a:pathLst>
            </a:custGeom>
            <a:solidFill>
              <a:srgbClr val="171E2D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15775" y="3783140"/>
            <a:ext cx="9018460" cy="4032799"/>
            <a:chOff x="0" y="0"/>
            <a:chExt cx="12024614" cy="5377066"/>
          </a:xfrm>
        </p:grpSpPr>
        <p:sp>
          <p:nvSpPr>
            <p:cNvPr name="Freeform 10" id="10" descr="199e7e95-8f90-4fd8-807e-668c2a12ff03.png"/>
            <p:cNvSpPr/>
            <p:nvPr/>
          </p:nvSpPr>
          <p:spPr>
            <a:xfrm flipH="false" flipV="false" rot="0">
              <a:off x="0" y="0"/>
              <a:ext cx="12024614" cy="5377053"/>
            </a:xfrm>
            <a:custGeom>
              <a:avLst/>
              <a:gdLst/>
              <a:ahLst/>
              <a:cxnLst/>
              <a:rect r="r" b="b" t="t" l="l"/>
              <a:pathLst>
                <a:path h="5377053" w="12024614">
                  <a:moveTo>
                    <a:pt x="0" y="0"/>
                  </a:moveTo>
                  <a:lnTo>
                    <a:pt x="12024614" y="0"/>
                  </a:lnTo>
                  <a:lnTo>
                    <a:pt x="12024614" y="5377053"/>
                  </a:lnTo>
                  <a:lnTo>
                    <a:pt x="0" y="5377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71289" y="8164735"/>
            <a:ext cx="8862946" cy="21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Actual Risk &amp; Biomechanics screen for the demo athlete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562425" y="2944092"/>
            <a:ext cx="6809022" cy="6122689"/>
            <a:chOff x="0" y="0"/>
            <a:chExt cx="9078697" cy="81635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078722" cy="8163687"/>
            </a:xfrm>
            <a:custGeom>
              <a:avLst/>
              <a:gdLst/>
              <a:ahLst/>
              <a:cxnLst/>
              <a:rect r="r" b="b" t="t" l="l"/>
              <a:pathLst>
                <a:path h="8163687" w="9078722">
                  <a:moveTo>
                    <a:pt x="0" y="1360678"/>
                  </a:moveTo>
                  <a:cubicBezTo>
                    <a:pt x="0" y="609219"/>
                    <a:pt x="609219" y="0"/>
                    <a:pt x="1360678" y="0"/>
                  </a:cubicBezTo>
                  <a:lnTo>
                    <a:pt x="7718044" y="0"/>
                  </a:lnTo>
                  <a:cubicBezTo>
                    <a:pt x="8469502" y="0"/>
                    <a:pt x="9078722" y="609219"/>
                    <a:pt x="9078722" y="1360678"/>
                  </a:cubicBezTo>
                  <a:lnTo>
                    <a:pt x="9078722" y="6803009"/>
                  </a:lnTo>
                  <a:cubicBezTo>
                    <a:pt x="9078722" y="7554468"/>
                    <a:pt x="8469502" y="8163687"/>
                    <a:pt x="7718044" y="8163687"/>
                  </a:cubicBezTo>
                  <a:lnTo>
                    <a:pt x="1360678" y="8163687"/>
                  </a:lnTo>
                  <a:cubicBezTo>
                    <a:pt x="609219" y="8163560"/>
                    <a:pt x="0" y="7554468"/>
                    <a:pt x="0" y="6803009"/>
                  </a:cubicBezTo>
                  <a:close/>
                </a:path>
              </a:pathLst>
            </a:custGeom>
            <a:solidFill>
              <a:srgbClr val="131926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0990497" y="3440801"/>
            <a:ext cx="5554799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00DCF5"/>
                </a:solidFill>
                <a:latin typeface="Aptos Bold"/>
                <a:ea typeface="Aptos Bold"/>
                <a:cs typeface="Aptos Bold"/>
                <a:sym typeface="Aptos Bold"/>
              </a:rPr>
              <a:t>Demo result • Video 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905592" y="4001052"/>
            <a:ext cx="2965542" cy="1455601"/>
            <a:chOff x="0" y="0"/>
            <a:chExt cx="3954056" cy="19408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54018" cy="1940814"/>
            </a:xfrm>
            <a:custGeom>
              <a:avLst/>
              <a:gdLst/>
              <a:ahLst/>
              <a:cxnLst/>
              <a:rect r="r" b="b" t="t" l="l"/>
              <a:pathLst>
                <a:path h="1940814" w="3954018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3630549" y="0"/>
                  </a:lnTo>
                  <a:cubicBezTo>
                    <a:pt x="3809238" y="0"/>
                    <a:pt x="3954018" y="144780"/>
                    <a:pt x="3954018" y="323469"/>
                  </a:cubicBezTo>
                  <a:lnTo>
                    <a:pt x="3954018" y="1617345"/>
                  </a:lnTo>
                  <a:cubicBezTo>
                    <a:pt x="3954018" y="1796034"/>
                    <a:pt x="3809238" y="1940814"/>
                    <a:pt x="3630549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171E2D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1196399" y="4264409"/>
            <a:ext cx="2383936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RISK INDEX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96399" y="4699464"/>
            <a:ext cx="2383936" cy="493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FFB22D"/>
                </a:solidFill>
                <a:latin typeface="Aptos Bold"/>
                <a:ea typeface="Aptos Bold"/>
                <a:cs typeface="Aptos Bold"/>
                <a:sym typeface="Aptos Bold"/>
              </a:rPr>
              <a:t>25.4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34625" y="5124274"/>
            <a:ext cx="2383936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Moderate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4062739" y="4001052"/>
            <a:ext cx="2965542" cy="1455601"/>
            <a:chOff x="0" y="0"/>
            <a:chExt cx="3954056" cy="194080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54018" cy="1940814"/>
            </a:xfrm>
            <a:custGeom>
              <a:avLst/>
              <a:gdLst/>
              <a:ahLst/>
              <a:cxnLst/>
              <a:rect r="r" b="b" t="t" l="l"/>
              <a:pathLst>
                <a:path h="1940814" w="3954018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3630549" y="0"/>
                  </a:lnTo>
                  <a:cubicBezTo>
                    <a:pt x="3809238" y="0"/>
                    <a:pt x="3954018" y="144780"/>
                    <a:pt x="3954018" y="323469"/>
                  </a:cubicBezTo>
                  <a:lnTo>
                    <a:pt x="3954018" y="1617345"/>
                  </a:lnTo>
                  <a:cubicBezTo>
                    <a:pt x="3954018" y="1796034"/>
                    <a:pt x="3809238" y="1940814"/>
                    <a:pt x="3630549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171E2D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4353546" y="4264409"/>
            <a:ext cx="2383936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MOVEMENT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353546" y="4699464"/>
            <a:ext cx="2383936" cy="493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4C91FF"/>
                </a:solidFill>
                <a:latin typeface="Aptos Bold"/>
                <a:ea typeface="Aptos Bold"/>
                <a:cs typeface="Aptos Bold"/>
                <a:sym typeface="Aptos Bold"/>
              </a:rPr>
              <a:t>46.5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353542" y="5124274"/>
            <a:ext cx="2383936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/ 100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905592" y="5648258"/>
            <a:ext cx="2965542" cy="1455601"/>
            <a:chOff x="0" y="0"/>
            <a:chExt cx="3954056" cy="194080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954018" cy="1940814"/>
            </a:xfrm>
            <a:custGeom>
              <a:avLst/>
              <a:gdLst/>
              <a:ahLst/>
              <a:cxnLst/>
              <a:rect r="r" b="b" t="t" l="l"/>
              <a:pathLst>
                <a:path h="1940814" w="3954018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3630549" y="0"/>
                  </a:lnTo>
                  <a:cubicBezTo>
                    <a:pt x="3809238" y="0"/>
                    <a:pt x="3954018" y="144780"/>
                    <a:pt x="3954018" y="323469"/>
                  </a:cubicBezTo>
                  <a:lnTo>
                    <a:pt x="3954018" y="1617345"/>
                  </a:lnTo>
                  <a:cubicBezTo>
                    <a:pt x="3954018" y="1796034"/>
                    <a:pt x="3809238" y="1940814"/>
                    <a:pt x="3630549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171E2D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1196399" y="5911615"/>
            <a:ext cx="2383936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HEALTH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196399" y="6346669"/>
            <a:ext cx="2383936" cy="493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26DC7D"/>
                </a:solidFill>
                <a:latin typeface="Aptos Bold"/>
                <a:ea typeface="Aptos Bold"/>
                <a:cs typeface="Aptos Bold"/>
                <a:sym typeface="Aptos Bold"/>
              </a:rPr>
              <a:t>86.0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278753" y="6769103"/>
            <a:ext cx="2383936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/ 100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4062739" y="5648258"/>
            <a:ext cx="2965542" cy="1455601"/>
            <a:chOff x="0" y="0"/>
            <a:chExt cx="3954056" cy="194080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954018" cy="1940814"/>
            </a:xfrm>
            <a:custGeom>
              <a:avLst/>
              <a:gdLst/>
              <a:ahLst/>
              <a:cxnLst/>
              <a:rect r="r" b="b" t="t" l="l"/>
              <a:pathLst>
                <a:path h="1940814" w="3954018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3630549" y="0"/>
                  </a:lnTo>
                  <a:cubicBezTo>
                    <a:pt x="3809238" y="0"/>
                    <a:pt x="3954018" y="144780"/>
                    <a:pt x="3954018" y="323469"/>
                  </a:cubicBezTo>
                  <a:lnTo>
                    <a:pt x="3954018" y="1617345"/>
                  </a:lnTo>
                  <a:cubicBezTo>
                    <a:pt x="3954018" y="1796034"/>
                    <a:pt x="3809238" y="1940814"/>
                    <a:pt x="3630549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171E2D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4353546" y="5911615"/>
            <a:ext cx="2383936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SYMMETRY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353546" y="6346669"/>
            <a:ext cx="2383936" cy="493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FF5262"/>
                </a:solidFill>
                <a:latin typeface="Aptos Bold"/>
                <a:ea typeface="Aptos Bold"/>
                <a:cs typeface="Aptos Bold"/>
                <a:sym typeface="Aptos Bold"/>
              </a:rPr>
              <a:t>17.0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353546" y="6771480"/>
            <a:ext cx="2383936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review flag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990497" y="7449007"/>
            <a:ext cx="2672191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Weighted model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990497" y="7833350"/>
            <a:ext cx="5760701" cy="68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5"/>
              </a:lnSpc>
            </a:pPr>
            <a:r>
              <a:rPr lang="en-US" sz="1454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35% biomechanics  •  20% injury history  •  20% asymmetry</a:t>
            </a:r>
          </a:p>
          <a:p>
            <a:pPr algn="l">
              <a:lnSpc>
                <a:spcPts val="1745"/>
              </a:lnSpc>
            </a:pPr>
            <a:r>
              <a:rPr lang="en-US" sz="1454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15% training load  •  10% fatigue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956179" y="8400750"/>
            <a:ext cx="5623436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5"/>
              </a:lnSpc>
            </a:pPr>
            <a:r>
              <a:rPr lang="en-US" sz="1396" i="true">
                <a:solidFill>
                  <a:srgbClr val="A5AEBE"/>
                </a:solidFill>
                <a:latin typeface="Aptos Italics"/>
                <a:ea typeface="Aptos Italics"/>
                <a:cs typeface="Aptos Italics"/>
                <a:sym typeface="Aptos Italics"/>
              </a:rPr>
              <a:t>Analytical estimate — not a medical diagnosis.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28811" y="9827933"/>
            <a:ext cx="4044867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ATHLETE HUB  •  M1–M4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783183" y="9773021"/>
            <a:ext cx="544554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8811" y="558194"/>
            <a:ext cx="4044867" cy="31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0DCF5"/>
                </a:solidFill>
                <a:latin typeface="Aptos Bold"/>
                <a:ea typeface="Aptos Bold"/>
                <a:cs typeface="Aptos Bold"/>
                <a:sym typeface="Aptos Bold"/>
              </a:rPr>
              <a:t>08 • M4 RESULTS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8811" y="1006973"/>
            <a:ext cx="16398916" cy="71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What did the system actually find?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6262" y="1821047"/>
            <a:ext cx="15987112" cy="50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The demo output shows both the warning signals and the action the athlete can take next.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92235" y="2498265"/>
            <a:ext cx="1441304" cy="61770"/>
            <a:chOff x="0" y="0"/>
            <a:chExt cx="1921739" cy="82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1764" cy="82423"/>
            </a:xfrm>
            <a:custGeom>
              <a:avLst/>
              <a:gdLst/>
              <a:ahLst/>
              <a:cxnLst/>
              <a:rect r="r" b="b" t="t" l="l"/>
              <a:pathLst>
                <a:path h="82423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00DCF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85092" y="2944092"/>
            <a:ext cx="7975797" cy="6259954"/>
            <a:chOff x="0" y="0"/>
            <a:chExt cx="10634396" cy="83466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34472" cy="8346694"/>
            </a:xfrm>
            <a:custGeom>
              <a:avLst/>
              <a:gdLst/>
              <a:ahLst/>
              <a:cxnLst/>
              <a:rect r="r" b="b" t="t" l="l"/>
              <a:pathLst>
                <a:path h="8346694" w="10634472">
                  <a:moveTo>
                    <a:pt x="0" y="1391158"/>
                  </a:moveTo>
                  <a:cubicBezTo>
                    <a:pt x="0" y="622808"/>
                    <a:pt x="622808" y="0"/>
                    <a:pt x="1391158" y="0"/>
                  </a:cubicBezTo>
                  <a:lnTo>
                    <a:pt x="9243314" y="0"/>
                  </a:lnTo>
                  <a:cubicBezTo>
                    <a:pt x="10011664" y="0"/>
                    <a:pt x="10634472" y="622808"/>
                    <a:pt x="10634472" y="1391158"/>
                  </a:cubicBezTo>
                  <a:lnTo>
                    <a:pt x="10634472" y="6955536"/>
                  </a:lnTo>
                  <a:cubicBezTo>
                    <a:pt x="10634472" y="7723886"/>
                    <a:pt x="10011664" y="8346694"/>
                    <a:pt x="9243314" y="8346694"/>
                  </a:cubicBezTo>
                  <a:lnTo>
                    <a:pt x="1391158" y="8346694"/>
                  </a:lnTo>
                  <a:cubicBezTo>
                    <a:pt x="622808" y="8346567"/>
                    <a:pt x="0" y="7723759"/>
                    <a:pt x="0" y="6955536"/>
                  </a:cubicBezTo>
                  <a:close/>
                </a:path>
              </a:pathLst>
            </a:custGeom>
            <a:solidFill>
              <a:srgbClr val="131926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340615" y="3390100"/>
            <a:ext cx="6515671" cy="34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Injury-risk indicators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0615" y="4085958"/>
            <a:ext cx="3289897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ACL injury risk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50743" y="4076433"/>
            <a:ext cx="915172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17"/>
              </a:lnSpc>
            </a:pPr>
            <a:r>
              <a:rPr lang="en-US" sz="1681" b="true">
                <a:solidFill>
                  <a:srgbClr val="FF5262"/>
                </a:solidFill>
                <a:latin typeface="Aptos Bold"/>
                <a:ea typeface="Aptos Bold"/>
                <a:cs typeface="Aptos Bold"/>
                <a:sym typeface="Aptos Bold"/>
              </a:rPr>
              <a:t>59.5%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238513" y="4014778"/>
            <a:ext cx="1455601" cy="384924"/>
            <a:chOff x="0" y="0"/>
            <a:chExt cx="1940801" cy="5132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40814" cy="513334"/>
            </a:xfrm>
            <a:custGeom>
              <a:avLst/>
              <a:gdLst/>
              <a:ahLst/>
              <a:cxnLst/>
              <a:rect r="r" b="b" t="t" l="l"/>
              <a:pathLst>
                <a:path h="513334" w="1940814">
                  <a:moveTo>
                    <a:pt x="0" y="85598"/>
                  </a:moveTo>
                  <a:cubicBezTo>
                    <a:pt x="0" y="38354"/>
                    <a:pt x="38354" y="0"/>
                    <a:pt x="85598" y="0"/>
                  </a:cubicBezTo>
                  <a:lnTo>
                    <a:pt x="1855216" y="0"/>
                  </a:lnTo>
                  <a:cubicBezTo>
                    <a:pt x="1902460" y="0"/>
                    <a:pt x="1940814" y="38354"/>
                    <a:pt x="1940814" y="85598"/>
                  </a:cubicBezTo>
                  <a:lnTo>
                    <a:pt x="1940814" y="427736"/>
                  </a:lnTo>
                  <a:cubicBezTo>
                    <a:pt x="1940814" y="474980"/>
                    <a:pt x="1902460" y="513334"/>
                    <a:pt x="1855216" y="513334"/>
                  </a:cubicBezTo>
                  <a:lnTo>
                    <a:pt x="85598" y="513334"/>
                  </a:lnTo>
                  <a:cubicBezTo>
                    <a:pt x="38354" y="513207"/>
                    <a:pt x="0" y="474980"/>
                    <a:pt x="0" y="427736"/>
                  </a:cubicBezTo>
                  <a:close/>
                </a:path>
              </a:pathLst>
            </a:custGeom>
            <a:solidFill>
              <a:srgbClr val="171E2D"/>
            </a:solidFill>
            <a:ln w="14299" cap="sq">
              <a:solidFill>
                <a:srgbClr val="FF5262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6282233" y="4099684"/>
            <a:ext cx="1368152" cy="160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"/>
              </a:lnSpc>
            </a:pPr>
            <a:r>
              <a:rPr lang="en-US" sz="1155" b="true">
                <a:solidFill>
                  <a:srgbClr val="FF5262"/>
                </a:solidFill>
                <a:latin typeface="Aptos Bold"/>
                <a:ea typeface="Aptos Bold"/>
                <a:cs typeface="Aptos Bold"/>
                <a:sym typeface="Aptos Bold"/>
              </a:rPr>
              <a:t>HIGH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0615" y="4827203"/>
            <a:ext cx="3289897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Ankle sprain risk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50743" y="4817678"/>
            <a:ext cx="915172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17"/>
              </a:lnSpc>
            </a:pPr>
            <a:r>
              <a:rPr lang="en-US" sz="1681" b="true">
                <a:solidFill>
                  <a:srgbClr val="FF5262"/>
                </a:solidFill>
                <a:latin typeface="Aptos Bold"/>
                <a:ea typeface="Aptos Bold"/>
                <a:cs typeface="Aptos Bold"/>
                <a:sym typeface="Aptos Bold"/>
              </a:rPr>
              <a:t>62.6%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238513" y="4756023"/>
            <a:ext cx="1455601" cy="384924"/>
            <a:chOff x="0" y="0"/>
            <a:chExt cx="1940801" cy="5132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40814" cy="513334"/>
            </a:xfrm>
            <a:custGeom>
              <a:avLst/>
              <a:gdLst/>
              <a:ahLst/>
              <a:cxnLst/>
              <a:rect r="r" b="b" t="t" l="l"/>
              <a:pathLst>
                <a:path h="513334" w="1940814">
                  <a:moveTo>
                    <a:pt x="0" y="85598"/>
                  </a:moveTo>
                  <a:cubicBezTo>
                    <a:pt x="0" y="38354"/>
                    <a:pt x="38354" y="0"/>
                    <a:pt x="85598" y="0"/>
                  </a:cubicBezTo>
                  <a:lnTo>
                    <a:pt x="1855216" y="0"/>
                  </a:lnTo>
                  <a:cubicBezTo>
                    <a:pt x="1902460" y="0"/>
                    <a:pt x="1940814" y="38354"/>
                    <a:pt x="1940814" y="85598"/>
                  </a:cubicBezTo>
                  <a:lnTo>
                    <a:pt x="1940814" y="427736"/>
                  </a:lnTo>
                  <a:cubicBezTo>
                    <a:pt x="1940814" y="474980"/>
                    <a:pt x="1902460" y="513334"/>
                    <a:pt x="1855216" y="513334"/>
                  </a:cubicBezTo>
                  <a:lnTo>
                    <a:pt x="85598" y="513334"/>
                  </a:lnTo>
                  <a:cubicBezTo>
                    <a:pt x="38354" y="513207"/>
                    <a:pt x="0" y="474980"/>
                    <a:pt x="0" y="427736"/>
                  </a:cubicBezTo>
                  <a:close/>
                </a:path>
              </a:pathLst>
            </a:custGeom>
            <a:solidFill>
              <a:srgbClr val="171E2D"/>
            </a:solidFill>
            <a:ln w="14299" cap="sq">
              <a:solidFill>
                <a:srgbClr val="FF5262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6282233" y="4840929"/>
            <a:ext cx="1368152" cy="160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"/>
              </a:lnSpc>
            </a:pPr>
            <a:r>
              <a:rPr lang="en-US" sz="1155" b="true">
                <a:solidFill>
                  <a:srgbClr val="FF5262"/>
                </a:solidFill>
                <a:latin typeface="Aptos Bold"/>
                <a:ea typeface="Aptos Bold"/>
                <a:cs typeface="Aptos Bold"/>
                <a:sym typeface="Aptos Bold"/>
              </a:rPr>
              <a:t>HIGH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40615" y="5568448"/>
            <a:ext cx="3289897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Hamstring risk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950743" y="5558923"/>
            <a:ext cx="915172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17"/>
              </a:lnSpc>
            </a:pPr>
            <a:r>
              <a:rPr lang="en-US" sz="1681" b="true">
                <a:solidFill>
                  <a:srgbClr val="26DC7D"/>
                </a:solidFill>
                <a:latin typeface="Aptos Bold"/>
                <a:ea typeface="Aptos Bold"/>
                <a:cs typeface="Aptos Bold"/>
                <a:sym typeface="Aptos Bold"/>
              </a:rPr>
              <a:t>8.9%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238513" y="5497268"/>
            <a:ext cx="1455601" cy="384924"/>
            <a:chOff x="0" y="0"/>
            <a:chExt cx="1940801" cy="51323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40814" cy="513334"/>
            </a:xfrm>
            <a:custGeom>
              <a:avLst/>
              <a:gdLst/>
              <a:ahLst/>
              <a:cxnLst/>
              <a:rect r="r" b="b" t="t" l="l"/>
              <a:pathLst>
                <a:path h="513334" w="1940814">
                  <a:moveTo>
                    <a:pt x="0" y="85598"/>
                  </a:moveTo>
                  <a:cubicBezTo>
                    <a:pt x="0" y="38354"/>
                    <a:pt x="38354" y="0"/>
                    <a:pt x="85598" y="0"/>
                  </a:cubicBezTo>
                  <a:lnTo>
                    <a:pt x="1855216" y="0"/>
                  </a:lnTo>
                  <a:cubicBezTo>
                    <a:pt x="1902460" y="0"/>
                    <a:pt x="1940814" y="38354"/>
                    <a:pt x="1940814" y="85598"/>
                  </a:cubicBezTo>
                  <a:lnTo>
                    <a:pt x="1940814" y="427736"/>
                  </a:lnTo>
                  <a:cubicBezTo>
                    <a:pt x="1940814" y="474980"/>
                    <a:pt x="1902460" y="513334"/>
                    <a:pt x="1855216" y="513334"/>
                  </a:cubicBezTo>
                  <a:lnTo>
                    <a:pt x="85598" y="513334"/>
                  </a:lnTo>
                  <a:cubicBezTo>
                    <a:pt x="38354" y="513207"/>
                    <a:pt x="0" y="474980"/>
                    <a:pt x="0" y="427736"/>
                  </a:cubicBezTo>
                  <a:close/>
                </a:path>
              </a:pathLst>
            </a:custGeom>
            <a:solidFill>
              <a:srgbClr val="171E2D"/>
            </a:solidFill>
            <a:ln w="14299" cap="sq">
              <a:solidFill>
                <a:srgbClr val="26DC7D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6282233" y="5582174"/>
            <a:ext cx="1368152" cy="160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"/>
              </a:lnSpc>
            </a:pPr>
            <a:r>
              <a:rPr lang="en-US" sz="1155" b="true">
                <a:solidFill>
                  <a:srgbClr val="26DC7D"/>
                </a:solidFill>
                <a:latin typeface="Aptos Bold"/>
                <a:ea typeface="Aptos Bold"/>
                <a:cs typeface="Aptos Bold"/>
                <a:sym typeface="Aptos Bold"/>
              </a:rPr>
              <a:t>LOW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0615" y="6309693"/>
            <a:ext cx="3289897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Shoulder risk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950743" y="6300168"/>
            <a:ext cx="915172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17"/>
              </a:lnSpc>
            </a:pPr>
            <a:r>
              <a:rPr lang="en-US" sz="1681" b="true">
                <a:solidFill>
                  <a:srgbClr val="26DC7D"/>
                </a:solidFill>
                <a:latin typeface="Aptos Bold"/>
                <a:ea typeface="Aptos Bold"/>
                <a:cs typeface="Aptos Bold"/>
                <a:sym typeface="Aptos Bold"/>
              </a:rPr>
              <a:t>12.1%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238513" y="6238513"/>
            <a:ext cx="1455601" cy="384924"/>
            <a:chOff x="0" y="0"/>
            <a:chExt cx="1940801" cy="51323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40814" cy="513334"/>
            </a:xfrm>
            <a:custGeom>
              <a:avLst/>
              <a:gdLst/>
              <a:ahLst/>
              <a:cxnLst/>
              <a:rect r="r" b="b" t="t" l="l"/>
              <a:pathLst>
                <a:path h="513334" w="1940814">
                  <a:moveTo>
                    <a:pt x="0" y="85598"/>
                  </a:moveTo>
                  <a:cubicBezTo>
                    <a:pt x="0" y="38354"/>
                    <a:pt x="38354" y="0"/>
                    <a:pt x="85598" y="0"/>
                  </a:cubicBezTo>
                  <a:lnTo>
                    <a:pt x="1855216" y="0"/>
                  </a:lnTo>
                  <a:cubicBezTo>
                    <a:pt x="1902460" y="0"/>
                    <a:pt x="1940814" y="38354"/>
                    <a:pt x="1940814" y="85598"/>
                  </a:cubicBezTo>
                  <a:lnTo>
                    <a:pt x="1940814" y="427736"/>
                  </a:lnTo>
                  <a:cubicBezTo>
                    <a:pt x="1940814" y="474980"/>
                    <a:pt x="1902460" y="513334"/>
                    <a:pt x="1855216" y="513334"/>
                  </a:cubicBezTo>
                  <a:lnTo>
                    <a:pt x="85598" y="513334"/>
                  </a:lnTo>
                  <a:cubicBezTo>
                    <a:pt x="38354" y="513207"/>
                    <a:pt x="0" y="474980"/>
                    <a:pt x="0" y="427736"/>
                  </a:cubicBezTo>
                  <a:close/>
                </a:path>
              </a:pathLst>
            </a:custGeom>
            <a:solidFill>
              <a:srgbClr val="171E2D"/>
            </a:solidFill>
            <a:ln w="14299" cap="sq">
              <a:solidFill>
                <a:srgbClr val="26DC7D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6282233" y="6323419"/>
            <a:ext cx="1368152" cy="160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"/>
              </a:lnSpc>
            </a:pPr>
            <a:r>
              <a:rPr lang="en-US" sz="1155" b="true">
                <a:solidFill>
                  <a:srgbClr val="26DC7D"/>
                </a:solidFill>
                <a:latin typeface="Aptos Bold"/>
                <a:ea typeface="Aptos Bold"/>
                <a:cs typeface="Aptos Bold"/>
                <a:sym typeface="Aptos Bold"/>
              </a:rPr>
              <a:t>LOW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40615" y="7050929"/>
            <a:ext cx="3289897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Lower-back risk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950743" y="7041404"/>
            <a:ext cx="915172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17"/>
              </a:lnSpc>
            </a:pPr>
            <a:r>
              <a:rPr lang="en-US" sz="1681" b="true">
                <a:solidFill>
                  <a:srgbClr val="26DC7D"/>
                </a:solidFill>
                <a:latin typeface="Aptos Bold"/>
                <a:ea typeface="Aptos Bold"/>
                <a:cs typeface="Aptos Bold"/>
                <a:sym typeface="Aptos Bold"/>
              </a:rPr>
              <a:t>16.9%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238513" y="6979749"/>
            <a:ext cx="1455601" cy="384924"/>
            <a:chOff x="0" y="0"/>
            <a:chExt cx="1940801" cy="51323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40814" cy="513334"/>
            </a:xfrm>
            <a:custGeom>
              <a:avLst/>
              <a:gdLst/>
              <a:ahLst/>
              <a:cxnLst/>
              <a:rect r="r" b="b" t="t" l="l"/>
              <a:pathLst>
                <a:path h="513334" w="1940814">
                  <a:moveTo>
                    <a:pt x="0" y="85598"/>
                  </a:moveTo>
                  <a:cubicBezTo>
                    <a:pt x="0" y="38354"/>
                    <a:pt x="38354" y="0"/>
                    <a:pt x="85598" y="0"/>
                  </a:cubicBezTo>
                  <a:lnTo>
                    <a:pt x="1855216" y="0"/>
                  </a:lnTo>
                  <a:cubicBezTo>
                    <a:pt x="1902460" y="0"/>
                    <a:pt x="1940814" y="38354"/>
                    <a:pt x="1940814" y="85598"/>
                  </a:cubicBezTo>
                  <a:lnTo>
                    <a:pt x="1940814" y="427736"/>
                  </a:lnTo>
                  <a:cubicBezTo>
                    <a:pt x="1940814" y="474980"/>
                    <a:pt x="1902460" y="513334"/>
                    <a:pt x="1855216" y="513334"/>
                  </a:cubicBezTo>
                  <a:lnTo>
                    <a:pt x="85598" y="513334"/>
                  </a:lnTo>
                  <a:cubicBezTo>
                    <a:pt x="38354" y="513207"/>
                    <a:pt x="0" y="474980"/>
                    <a:pt x="0" y="427736"/>
                  </a:cubicBezTo>
                  <a:close/>
                </a:path>
              </a:pathLst>
            </a:custGeom>
            <a:solidFill>
              <a:srgbClr val="171E2D"/>
            </a:solidFill>
            <a:ln w="14299" cap="sq">
              <a:solidFill>
                <a:srgbClr val="26DC7D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6282233" y="7064654"/>
            <a:ext cx="1368152" cy="160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"/>
              </a:lnSpc>
            </a:pPr>
            <a:r>
              <a:rPr lang="en-US" sz="1155" b="true">
                <a:solidFill>
                  <a:srgbClr val="26DC7D"/>
                </a:solidFill>
                <a:latin typeface="Aptos Bold"/>
                <a:ea typeface="Aptos Bold"/>
                <a:cs typeface="Aptos Bold"/>
                <a:sym typeface="Aptos Bold"/>
              </a:rPr>
              <a:t>LOW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40615" y="7792174"/>
            <a:ext cx="3289897" cy="22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621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Overuse risk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950743" y="7782649"/>
            <a:ext cx="915172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17"/>
              </a:lnSpc>
            </a:pPr>
            <a:r>
              <a:rPr lang="en-US" sz="1681" b="true">
                <a:solidFill>
                  <a:srgbClr val="26DC7D"/>
                </a:solidFill>
                <a:latin typeface="Aptos Bold"/>
                <a:ea typeface="Aptos Bold"/>
                <a:cs typeface="Aptos Bold"/>
                <a:sym typeface="Aptos Bold"/>
              </a:rPr>
              <a:t>8.9%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6238513" y="7720994"/>
            <a:ext cx="1455601" cy="384924"/>
            <a:chOff x="0" y="0"/>
            <a:chExt cx="1940801" cy="51323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40814" cy="513334"/>
            </a:xfrm>
            <a:custGeom>
              <a:avLst/>
              <a:gdLst/>
              <a:ahLst/>
              <a:cxnLst/>
              <a:rect r="r" b="b" t="t" l="l"/>
              <a:pathLst>
                <a:path h="513334" w="1940814">
                  <a:moveTo>
                    <a:pt x="0" y="85598"/>
                  </a:moveTo>
                  <a:cubicBezTo>
                    <a:pt x="0" y="38354"/>
                    <a:pt x="38354" y="0"/>
                    <a:pt x="85598" y="0"/>
                  </a:cubicBezTo>
                  <a:lnTo>
                    <a:pt x="1855216" y="0"/>
                  </a:lnTo>
                  <a:cubicBezTo>
                    <a:pt x="1902460" y="0"/>
                    <a:pt x="1940814" y="38354"/>
                    <a:pt x="1940814" y="85598"/>
                  </a:cubicBezTo>
                  <a:lnTo>
                    <a:pt x="1940814" y="427736"/>
                  </a:lnTo>
                  <a:cubicBezTo>
                    <a:pt x="1940814" y="474980"/>
                    <a:pt x="1902460" y="513334"/>
                    <a:pt x="1855216" y="513334"/>
                  </a:cubicBezTo>
                  <a:lnTo>
                    <a:pt x="85598" y="513334"/>
                  </a:lnTo>
                  <a:cubicBezTo>
                    <a:pt x="38354" y="513207"/>
                    <a:pt x="0" y="474980"/>
                    <a:pt x="0" y="427736"/>
                  </a:cubicBezTo>
                  <a:close/>
                </a:path>
              </a:pathLst>
            </a:custGeom>
            <a:solidFill>
              <a:srgbClr val="171E2D"/>
            </a:solidFill>
            <a:ln w="14299" cap="sq">
              <a:solidFill>
                <a:srgbClr val="26DC7D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6282233" y="7805899"/>
            <a:ext cx="1368152" cy="160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7"/>
              </a:lnSpc>
            </a:pPr>
            <a:r>
              <a:rPr lang="en-US" sz="1155" b="true">
                <a:solidFill>
                  <a:srgbClr val="26DC7D"/>
                </a:solidFill>
                <a:latin typeface="Aptos Bold"/>
                <a:ea typeface="Aptos Bold"/>
                <a:cs typeface="Aptos Bold"/>
                <a:sym typeface="Aptos Bold"/>
              </a:rPr>
              <a:t>LOW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258386" y="2944092"/>
            <a:ext cx="8113062" cy="6259954"/>
            <a:chOff x="0" y="0"/>
            <a:chExt cx="10817416" cy="834660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817478" cy="8346694"/>
            </a:xfrm>
            <a:custGeom>
              <a:avLst/>
              <a:gdLst/>
              <a:ahLst/>
              <a:cxnLst/>
              <a:rect r="r" b="b" t="t" l="l"/>
              <a:pathLst>
                <a:path h="8346694" w="10817478">
                  <a:moveTo>
                    <a:pt x="0" y="1391158"/>
                  </a:moveTo>
                  <a:cubicBezTo>
                    <a:pt x="0" y="622808"/>
                    <a:pt x="622808" y="0"/>
                    <a:pt x="1391158" y="0"/>
                  </a:cubicBezTo>
                  <a:lnTo>
                    <a:pt x="9426321" y="0"/>
                  </a:lnTo>
                  <a:cubicBezTo>
                    <a:pt x="10194671" y="0"/>
                    <a:pt x="10817478" y="622808"/>
                    <a:pt x="10817478" y="1391158"/>
                  </a:cubicBezTo>
                  <a:lnTo>
                    <a:pt x="10817478" y="6955536"/>
                  </a:lnTo>
                  <a:cubicBezTo>
                    <a:pt x="10817478" y="7723886"/>
                    <a:pt x="10194671" y="8346694"/>
                    <a:pt x="9426321" y="8346694"/>
                  </a:cubicBezTo>
                  <a:lnTo>
                    <a:pt x="1391158" y="8346694"/>
                  </a:lnTo>
                  <a:cubicBezTo>
                    <a:pt x="622808" y="8346567"/>
                    <a:pt x="0" y="7723759"/>
                    <a:pt x="0" y="6955536"/>
                  </a:cubicBezTo>
                  <a:close/>
                </a:path>
              </a:pathLst>
            </a:custGeom>
            <a:solidFill>
              <a:srgbClr val="131926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9713919" y="3390100"/>
            <a:ext cx="6652946" cy="34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Detected anomaly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670190" y="4042239"/>
            <a:ext cx="7220826" cy="1084983"/>
            <a:chOff x="0" y="0"/>
            <a:chExt cx="9627768" cy="14466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627870" cy="1446657"/>
            </a:xfrm>
            <a:custGeom>
              <a:avLst/>
              <a:gdLst/>
              <a:ahLst/>
              <a:cxnLst/>
              <a:rect r="r" b="b" t="t" l="l"/>
              <a:pathLst>
                <a:path h="1446657" w="9627870">
                  <a:moveTo>
                    <a:pt x="0" y="241173"/>
                  </a:moveTo>
                  <a:cubicBezTo>
                    <a:pt x="0" y="107950"/>
                    <a:pt x="107950" y="0"/>
                    <a:pt x="241173" y="0"/>
                  </a:cubicBezTo>
                  <a:lnTo>
                    <a:pt x="9386697" y="0"/>
                  </a:lnTo>
                  <a:cubicBezTo>
                    <a:pt x="9519920" y="0"/>
                    <a:pt x="9627870" y="107950"/>
                    <a:pt x="9627870" y="241173"/>
                  </a:cubicBezTo>
                  <a:lnTo>
                    <a:pt x="9627870" y="1205484"/>
                  </a:lnTo>
                  <a:cubicBezTo>
                    <a:pt x="9627870" y="1338707"/>
                    <a:pt x="9519920" y="1446657"/>
                    <a:pt x="9386697" y="1446657"/>
                  </a:cubicBezTo>
                  <a:lnTo>
                    <a:pt x="241173" y="1446657"/>
                  </a:lnTo>
                  <a:cubicBezTo>
                    <a:pt x="107950" y="1446657"/>
                    <a:pt x="0" y="1338707"/>
                    <a:pt x="0" y="1205484"/>
                  </a:cubicBezTo>
                  <a:close/>
                </a:path>
              </a:pathLst>
            </a:custGeom>
            <a:solidFill>
              <a:srgbClr val="171E2D"/>
            </a:solidFill>
            <a:ln w="14299" cap="sq">
              <a:solidFill>
                <a:srgbClr val="FF5262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10029634" y="4346772"/>
            <a:ext cx="6515671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F5262"/>
                </a:solidFill>
                <a:latin typeface="Aptos Bold"/>
                <a:ea typeface="Aptos Bold"/>
                <a:cs typeface="Aptos Bold"/>
                <a:sym typeface="Aptos Bold"/>
              </a:rPr>
              <a:t>LEFT–RIGHT ASYMMETRY  •  HIGH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713919" y="5490286"/>
            <a:ext cx="6996112" cy="691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681">
                <a:solidFill>
                  <a:srgbClr val="F2F5FA"/>
                </a:solidFill>
                <a:latin typeface="Aptos"/>
                <a:ea typeface="Aptos"/>
                <a:cs typeface="Aptos"/>
                <a:sym typeface="Aptos"/>
              </a:rPr>
              <a:t>Lower-limb symmetry was measured at 17%, below the 92% review threshold.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713919" y="6597948"/>
            <a:ext cx="2672191" cy="256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0DCF5"/>
                </a:solidFill>
                <a:latin typeface="Aptos Bold"/>
                <a:ea typeface="Aptos Bold"/>
                <a:cs typeface="Aptos Bold"/>
                <a:sym typeface="Aptos Bold"/>
              </a:rPr>
              <a:t>Recommendation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713919" y="7037203"/>
            <a:ext cx="6858848" cy="819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Add supervised single-leg control and landing-mechanics drills.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713919" y="8478507"/>
            <a:ext cx="6515671" cy="27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b="true">
                <a:solidFill>
                  <a:srgbClr val="26DC7D"/>
                </a:solidFill>
                <a:latin typeface="Aptos Bold"/>
                <a:ea typeface="Aptos Bold"/>
                <a:cs typeface="Aptos Bold"/>
                <a:sym typeface="Aptos Bold"/>
              </a:rPr>
              <a:t>ACWR: 1.0  •  Status: Optimal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28811" y="9827933"/>
            <a:ext cx="4044867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ATHLETE HUB  •  M1–M4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6783183" y="9773021"/>
            <a:ext cx="544554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8811" y="558194"/>
            <a:ext cx="4044867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0DCF5"/>
                </a:solidFill>
                <a:latin typeface="Aptos Bold"/>
                <a:ea typeface="Aptos Bold"/>
                <a:cs typeface="Aptos Bold"/>
                <a:sym typeface="Aptos Bold"/>
              </a:rPr>
              <a:t>09 • CLOSING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8811" y="1006973"/>
            <a:ext cx="16398916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Future upgrades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6262" y="1821047"/>
            <a:ext cx="1598711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Thanks for</a:t>
            </a:r>
            <a:r>
              <a:rPr lang="en-US" sz="1876">
                <a:solidFill>
                  <a:srgbClr val="A5AEBE"/>
                </a:solidFill>
                <a:latin typeface="Aptos"/>
                <a:ea typeface="Aptos"/>
                <a:cs typeface="Aptos"/>
                <a:sym typeface="Aptos"/>
              </a:rPr>
              <a:t> reviewing — the work through M1–M4 stands as a finished deliverable 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92235" y="2498265"/>
            <a:ext cx="1441304" cy="61770"/>
            <a:chOff x="0" y="0"/>
            <a:chExt cx="1921739" cy="82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1764" cy="82423"/>
            </a:xfrm>
            <a:custGeom>
              <a:avLst/>
              <a:gdLst/>
              <a:ahLst/>
              <a:cxnLst/>
              <a:rect r="r" b="b" t="t" l="l"/>
              <a:pathLst>
                <a:path h="82423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00DCF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85092" y="2944092"/>
            <a:ext cx="9623003" cy="5436356"/>
            <a:chOff x="0" y="0"/>
            <a:chExt cx="12830670" cy="72484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30683" cy="7248525"/>
            </a:xfrm>
            <a:custGeom>
              <a:avLst/>
              <a:gdLst/>
              <a:ahLst/>
              <a:cxnLst/>
              <a:rect r="r" b="b" t="t" l="l"/>
              <a:pathLst>
                <a:path h="7248525" w="12830683">
                  <a:moveTo>
                    <a:pt x="0" y="1208151"/>
                  </a:moveTo>
                  <a:cubicBezTo>
                    <a:pt x="0" y="540893"/>
                    <a:pt x="540893" y="0"/>
                    <a:pt x="1208151" y="0"/>
                  </a:cubicBezTo>
                  <a:lnTo>
                    <a:pt x="11622532" y="0"/>
                  </a:lnTo>
                  <a:cubicBezTo>
                    <a:pt x="12289789" y="0"/>
                    <a:pt x="12830683" y="540893"/>
                    <a:pt x="12830683" y="1208151"/>
                  </a:cubicBezTo>
                  <a:lnTo>
                    <a:pt x="12830683" y="6040374"/>
                  </a:lnTo>
                  <a:cubicBezTo>
                    <a:pt x="12830683" y="6707632"/>
                    <a:pt x="12289789" y="7248525"/>
                    <a:pt x="11622532" y="7248525"/>
                  </a:cubicBezTo>
                  <a:lnTo>
                    <a:pt x="1208151" y="7248525"/>
                  </a:lnTo>
                  <a:cubicBezTo>
                    <a:pt x="540893" y="7248525"/>
                    <a:pt x="0" y="6707632"/>
                    <a:pt x="0" y="6040374"/>
                  </a:cubicBezTo>
                  <a:close/>
                </a:path>
              </a:pathLst>
            </a:custGeom>
            <a:solidFill>
              <a:srgbClr val="131926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371208" y="3445859"/>
            <a:ext cx="5143005" cy="34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00DCF5"/>
                </a:solidFill>
                <a:latin typeface="Aptos Bold"/>
                <a:ea typeface="Aptos Bold"/>
                <a:cs typeface="Aptos Bold"/>
                <a:sym typeface="Aptos Bold"/>
              </a:rPr>
              <a:t>If we continue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3962" y="3794036"/>
            <a:ext cx="7099433" cy="387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326">
                <a:solidFill>
                  <a:srgbClr val="F2F5FA"/>
                </a:solidFill>
                <a:latin typeface="Aptos"/>
                <a:ea typeface="Aptos"/>
                <a:cs typeface="Aptos"/>
                <a:sym typeface="Aptos"/>
              </a:rPr>
              <a:t>• Improve biomechanical accuracy and validation.</a:t>
            </a:r>
          </a:p>
          <a:p>
            <a:pPr algn="l">
              <a:lnSpc>
                <a:spcPts val="2791"/>
              </a:lnSpc>
            </a:pPr>
          </a:p>
          <a:p>
            <a:pPr algn="l">
              <a:lnSpc>
                <a:spcPts val="2791"/>
              </a:lnSpc>
            </a:pPr>
            <a:r>
              <a:rPr lang="en-US" sz="2326">
                <a:solidFill>
                  <a:srgbClr val="F2F5FA"/>
                </a:solidFill>
                <a:latin typeface="Aptos"/>
                <a:ea typeface="Aptos"/>
                <a:cs typeface="Aptos"/>
                <a:sym typeface="Aptos"/>
              </a:rPr>
              <a:t>• Support more exercises and movement patterns.</a:t>
            </a:r>
          </a:p>
          <a:p>
            <a:pPr algn="l">
              <a:lnSpc>
                <a:spcPts val="2791"/>
              </a:lnSpc>
            </a:pPr>
          </a:p>
          <a:p>
            <a:pPr algn="l">
              <a:lnSpc>
                <a:spcPts val="2791"/>
              </a:lnSpc>
            </a:pPr>
            <a:r>
              <a:rPr lang="en-US" sz="2326">
                <a:solidFill>
                  <a:srgbClr val="F2F5FA"/>
                </a:solidFill>
                <a:latin typeface="Aptos"/>
                <a:ea typeface="Aptos"/>
                <a:cs typeface="Aptos"/>
                <a:sym typeface="Aptos"/>
              </a:rPr>
              <a:t>• Expand training-load and athlete history data.</a:t>
            </a:r>
          </a:p>
          <a:p>
            <a:pPr algn="l">
              <a:lnSpc>
                <a:spcPts val="2791"/>
              </a:lnSpc>
            </a:pPr>
          </a:p>
          <a:p>
            <a:pPr algn="l">
              <a:lnSpc>
                <a:spcPts val="2791"/>
              </a:lnSpc>
            </a:pPr>
            <a:r>
              <a:rPr lang="en-US" sz="2326">
                <a:solidFill>
                  <a:srgbClr val="F2F5FA"/>
                </a:solidFill>
                <a:latin typeface="Aptos"/>
                <a:ea typeface="Aptos"/>
                <a:cs typeface="Aptos"/>
                <a:sym typeface="Aptos"/>
              </a:rPr>
              <a:t>• Improve video visualization and reporting.</a:t>
            </a:r>
          </a:p>
          <a:p>
            <a:pPr algn="l">
              <a:lnSpc>
                <a:spcPts val="2791"/>
              </a:lnSpc>
            </a:pPr>
          </a:p>
          <a:p>
            <a:pPr algn="l">
              <a:lnSpc>
                <a:spcPts val="2791"/>
              </a:lnSpc>
            </a:pPr>
            <a:r>
              <a:rPr lang="en-US" sz="2326">
                <a:solidFill>
                  <a:srgbClr val="F2F5FA"/>
                </a:solidFill>
                <a:latin typeface="Aptos"/>
                <a:ea typeface="Aptos"/>
                <a:cs typeface="Aptos"/>
                <a:sym typeface="Aptos"/>
              </a:rPr>
              <a:t>• Explore richer ML models and larger datasets.</a:t>
            </a:r>
          </a:p>
          <a:p>
            <a:pPr algn="l">
              <a:lnSpc>
                <a:spcPts val="2791"/>
              </a:lnSpc>
            </a:pPr>
          </a:p>
          <a:p>
            <a:pPr algn="l">
              <a:lnSpc>
                <a:spcPts val="2791"/>
              </a:lnSpc>
            </a:pPr>
            <a:r>
              <a:rPr lang="en-US" sz="2326">
                <a:solidFill>
                  <a:srgbClr val="F2F5FA"/>
                </a:solidFill>
                <a:latin typeface="Aptos"/>
                <a:ea typeface="Aptos"/>
                <a:cs typeface="Aptos"/>
                <a:sym typeface="Aptos"/>
              </a:rPr>
              <a:t>• Move toward real-time analysis and deployment.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08331" y="9018051"/>
            <a:ext cx="4044867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ATHLETE HUB  •  M1–M4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8811" y="9827933"/>
            <a:ext cx="4044867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ATHLETE HUB  •  M1–M4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783183" y="9773021"/>
            <a:ext cx="544554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A0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5092" y="2944092"/>
            <a:ext cx="16326274" cy="5436356"/>
            <a:chOff x="0" y="0"/>
            <a:chExt cx="21768365" cy="72484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8378" cy="7248525"/>
            </a:xfrm>
            <a:custGeom>
              <a:avLst/>
              <a:gdLst/>
              <a:ahLst/>
              <a:cxnLst/>
              <a:rect r="r" b="b" t="t" l="l"/>
              <a:pathLst>
                <a:path h="7248525" w="21768378">
                  <a:moveTo>
                    <a:pt x="0" y="1208151"/>
                  </a:moveTo>
                  <a:cubicBezTo>
                    <a:pt x="0" y="540893"/>
                    <a:pt x="917673" y="0"/>
                    <a:pt x="2049735" y="0"/>
                  </a:cubicBezTo>
                  <a:lnTo>
                    <a:pt x="19718651" y="0"/>
                  </a:lnTo>
                  <a:cubicBezTo>
                    <a:pt x="20850713" y="0"/>
                    <a:pt x="21768378" y="540893"/>
                    <a:pt x="21768378" y="1208151"/>
                  </a:cubicBezTo>
                  <a:lnTo>
                    <a:pt x="21768378" y="6040374"/>
                  </a:lnTo>
                  <a:cubicBezTo>
                    <a:pt x="21768378" y="6707632"/>
                    <a:pt x="20850713" y="7248525"/>
                    <a:pt x="19718651" y="7248525"/>
                  </a:cubicBezTo>
                  <a:lnTo>
                    <a:pt x="2049735" y="7248525"/>
                  </a:lnTo>
                  <a:cubicBezTo>
                    <a:pt x="917673" y="7248525"/>
                    <a:pt x="0" y="6707632"/>
                    <a:pt x="0" y="6040374"/>
                  </a:cubicBezTo>
                  <a:close/>
                </a:path>
              </a:pathLst>
            </a:custGeom>
            <a:solidFill>
              <a:srgbClr val="131926"/>
            </a:solidFill>
            <a:ln w="14299" cap="sq">
              <a:solidFill>
                <a:srgbClr val="2B3548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8058448" y="4790695"/>
            <a:ext cx="217110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00DCF5"/>
                </a:solidFill>
                <a:latin typeface="Aptos Bold"/>
                <a:ea typeface="Aptos Bold"/>
                <a:cs typeface="Aptos Bold"/>
                <a:sym typeface="Aptos Bold"/>
              </a:rPr>
              <a:t>THANK 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01154" y="3596657"/>
            <a:ext cx="2685693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F2F5FA"/>
                </a:solidFill>
                <a:latin typeface="Aptos Bold"/>
                <a:ea typeface="Aptos Bold"/>
                <a:cs typeface="Aptos Bold"/>
                <a:sym typeface="Aptos Bold"/>
              </a:rPr>
              <a:t>Questions &amp; Discussion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08331" y="9018051"/>
            <a:ext cx="4044867" cy="23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ATHLETE HUB  •  M1–M4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8811" y="9827933"/>
            <a:ext cx="4044867" cy="183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"/>
              </a:lnSpc>
            </a:pPr>
            <a:r>
              <a:rPr lang="en-US" sz="1275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ATHLETE HUB  •  M1–M4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83183" y="9773021"/>
            <a:ext cx="544554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5AEBE"/>
                </a:solidFill>
                <a:latin typeface="Aptos Bold"/>
                <a:ea typeface="Aptos Bold"/>
                <a:cs typeface="Aptos Bold"/>
                <a:sym typeface="Aptos Bold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DAHSVk5poT8</dc:identifier>
  <dcterms:modified xsi:type="dcterms:W3CDTF">2011-08-01T06:04:30Z</dcterms:modified>
  <cp:revision>1</cp:revision>
  <dc:title>[Neelakantha Panigrahi] • [Roll No.]</dc:title>
</cp:coreProperties>
</file>