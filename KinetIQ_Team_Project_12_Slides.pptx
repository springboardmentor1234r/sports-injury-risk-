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544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KINETIQ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 •  INFOSYS SPRINGBOARD VIRTUAL INTERNSHIP 7.0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Sports Injury Risk Detection from Video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video-based biomechanics, risk scoring and reporting platform for sports teams.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965960"/>
            <a:ext cx="3246120" cy="2377440"/>
          </a:xfrm>
          <a:prstGeom prst="roundRect">
            <a:avLst>
              <a:gd name="adj" fmla="val 5385"/>
            </a:avLst>
          </a:prstGeom>
          <a:solidFill>
            <a:srgbClr val="2A3358"/>
          </a:solidFill>
          <a:ln/>
        </p:spPr>
      </p:sp>
      <p:sp>
        <p:nvSpPr>
          <p:cNvPr id="7" name="Text 5"/>
          <p:cNvSpPr/>
          <p:nvPr/>
        </p:nvSpPr>
        <p:spPr>
          <a:xfrm>
            <a:off x="864108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41080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Jayita Pal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41080" y="30358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41080" y="3520440"/>
            <a:ext cx="2606040" cy="0"/>
          </a:xfrm>
          <a:prstGeom prst="line">
            <a:avLst/>
          </a:prstGeom>
          <a:noFill/>
          <a:ln w="12700">
            <a:solidFill>
              <a:srgbClr val="3A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3657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00" dirty="0" err="1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digital injury-risk screening workflow is needed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assessment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38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quality is often judged visually and can vary between reviewers.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5868" y="187452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0188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0188" y="2532888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red flags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0188" y="3017520"/>
            <a:ext cx="4838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valgus, trunk lean and movement asymmetry may be missed during routine review.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001768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4838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load, injury history and movement metrics are difficult to combine consistently.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55868" y="434340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0188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0188" y="5001768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explainability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0188" y="5486400"/>
            <a:ext cx="4838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a transparent triage signal rather than an unexplained black-box score.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 turns movement video into actionable, role-specific risk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0312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9202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video submitted for analysis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944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9443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276148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pose estimation extracts landmarks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78561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856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36027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angles, ROM, trunk lean and symmetry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43984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62686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6268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44439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0–100 injury-risk screening score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285232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46811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4681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52852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 and reports for the right role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1920240"/>
            <a:ext cx="4282135" cy="4078224"/>
          </a:xfrm>
          <a:prstGeom prst="roundRect">
            <a:avLst>
              <a:gd name="adj" fmla="val 2242"/>
            </a:avLst>
          </a:prstGeom>
          <a:solidFill>
            <a:srgbClr val="1B2340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194560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2542032"/>
            <a:ext cx="37334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risk factors before they become injury events.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635240" y="425196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designed as a screening and triage aid — not a medical diagnosis.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delivers end-to-end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1525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Athlete, coach, physiotherapist, sports scientist and administrator views.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8218" y="1874520"/>
            <a:ext cx="351525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6818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6818" y="24414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Athlete registry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66818" y="286207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sport, training load and injury history.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797" y="1874520"/>
            <a:ext cx="351525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6397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6397" y="24414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analysis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56397" y="286207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Movement-video review with pose and biomechanical metrics.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351525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98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8646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77240" y="528523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composite score with risk flags and recommendations.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38218" y="4297680"/>
            <a:ext cx="351525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6818" y="4498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66818" y="48646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66818" y="528523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Movement-quality trends, risk distribution and factor contributions.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27797" y="4297680"/>
            <a:ext cx="3515258" cy="2148840"/>
          </a:xfrm>
          <a:prstGeom prst="roundRect">
            <a:avLst>
              <a:gd name="adj" fmla="val 4255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6397" y="4498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56397" y="48646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alerts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56397" y="528523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Team/athlete reports with PDF, Excel or CSV export and threshold alerts.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web, database, computer-vision and reporting components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512064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74720" y="1828800"/>
            <a:ext cx="7894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 •  React 19  •  Vite 7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94415" cy="512064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450592"/>
            <a:ext cx="7894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 •  shadcn/ui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11094415" cy="512064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7238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Auth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072384"/>
            <a:ext cx="7894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 •  PostgreSQL  •  RLS  •  Auth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512064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941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4720" y="3694176"/>
            <a:ext cx="7894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Tasks Vision / Pose estimation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11094415" cy="512064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159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74720" y="4315968"/>
            <a:ext cx="7894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94415" cy="512064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377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&amp; Testing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74720" y="4937760"/>
            <a:ext cx="7894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 •  SheetJS  •  Vitest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94415" cy="566928"/>
          </a:xfrm>
          <a:prstGeom prst="roundRect">
            <a:avLst>
              <a:gd name="adj" fmla="val 11290"/>
            </a:avLst>
          </a:prstGeom>
          <a:solidFill>
            <a:srgbClr val="1B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669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5669280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inference in the browser where practical; enforce data access at the database layer.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submitted video to a structured risk report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57949" cy="2651760"/>
          </a:xfrm>
          <a:prstGeom prst="roundRect">
            <a:avLst>
              <a:gd name="adj" fmla="val 4443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1582" y="2221992"/>
            <a:ext cx="512064" cy="51206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7" name="Text 5"/>
          <p:cNvSpPr/>
          <p:nvPr/>
        </p:nvSpPr>
        <p:spPr>
          <a:xfrm>
            <a:off x="1321582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783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Video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1783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/ WEBM / MOV or direct video link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589" y="21305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07757" y="1965960"/>
            <a:ext cx="2057949" cy="2651760"/>
          </a:xfrm>
          <a:prstGeom prst="roundRect">
            <a:avLst>
              <a:gd name="adj" fmla="val 4443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0699" y="2221992"/>
            <a:ext cx="512064" cy="51206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3" name="Text 11"/>
          <p:cNvSpPr/>
          <p:nvPr/>
        </p:nvSpPr>
        <p:spPr>
          <a:xfrm>
            <a:off x="3580699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44917" y="2926080"/>
            <a:ext cx="1783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 Estimation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44917" y="3474720"/>
            <a:ext cx="1783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landmarks extracted in-browser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5705" y="21305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6873" y="1965960"/>
            <a:ext cx="2057949" cy="2651760"/>
          </a:xfrm>
          <a:prstGeom prst="roundRect">
            <a:avLst>
              <a:gd name="adj" fmla="val 4443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39816" y="2221992"/>
            <a:ext cx="512064" cy="51206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9" name="Text 17"/>
          <p:cNvSpPr/>
          <p:nvPr/>
        </p:nvSpPr>
        <p:spPr>
          <a:xfrm>
            <a:off x="5839816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04033" y="2926080"/>
            <a:ext cx="1783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Biomechanics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04033" y="3474720"/>
            <a:ext cx="1783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ROM, knee alignment, trunk lean, symmetry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4822" y="21305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25990" y="1965960"/>
            <a:ext cx="2057949" cy="2651760"/>
          </a:xfrm>
          <a:prstGeom prst="roundRect">
            <a:avLst>
              <a:gd name="adj" fmla="val 4443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8932" y="2221992"/>
            <a:ext cx="512064" cy="51206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5" name="Text 23"/>
          <p:cNvSpPr/>
          <p:nvPr/>
        </p:nvSpPr>
        <p:spPr>
          <a:xfrm>
            <a:off x="8098932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63150" y="2926080"/>
            <a:ext cx="1783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63150" y="3474720"/>
            <a:ext cx="1783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produces 0–100 score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83939" y="21305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85107" y="1965960"/>
            <a:ext cx="2057949" cy="2651760"/>
          </a:xfrm>
          <a:prstGeom prst="roundRect">
            <a:avLst>
              <a:gd name="adj" fmla="val 4443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58049" y="2221992"/>
            <a:ext cx="512064" cy="51206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31" name="Text 29"/>
          <p:cNvSpPr/>
          <p:nvPr/>
        </p:nvSpPr>
        <p:spPr>
          <a:xfrm>
            <a:off x="10358049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22267" y="2926080"/>
            <a:ext cx="17836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22267" y="3474720"/>
            <a:ext cx="1783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alerts, recommendations, reports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B2340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937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consistent and explainable screening workflow that connects movement evidence to follow-up action.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Security &amp; Data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see the information needed for their responsibilities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36003" cy="594360"/>
          </a:xfrm>
          <a:prstGeom prst="roundRect">
            <a:avLst>
              <a:gd name="adj" fmla="val 49231"/>
            </a:avLst>
          </a:prstGeom>
          <a:solidFill>
            <a:srgbClr val="E854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0360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3243" y="1828800"/>
            <a:ext cx="2036003" cy="594360"/>
          </a:xfrm>
          <a:prstGeom prst="roundRect">
            <a:avLst>
              <a:gd name="adj" fmla="val 49231"/>
            </a:avLst>
          </a:prstGeom>
          <a:solidFill>
            <a:srgbClr val="E8543E"/>
          </a:solidFill>
          <a:ln/>
        </p:spPr>
      </p:sp>
      <p:sp>
        <p:nvSpPr>
          <p:cNvPr id="8" name="Text 6"/>
          <p:cNvSpPr/>
          <p:nvPr/>
        </p:nvSpPr>
        <p:spPr>
          <a:xfrm>
            <a:off x="2813243" y="1828800"/>
            <a:ext cx="20360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7846" y="1828800"/>
            <a:ext cx="2036003" cy="594360"/>
          </a:xfrm>
          <a:prstGeom prst="roundRect">
            <a:avLst>
              <a:gd name="adj" fmla="val 49231"/>
            </a:avLst>
          </a:prstGeom>
          <a:solidFill>
            <a:srgbClr val="E8543E"/>
          </a:solidFill>
          <a:ln/>
        </p:spPr>
      </p:sp>
      <p:sp>
        <p:nvSpPr>
          <p:cNvPr id="10" name="Text 8"/>
          <p:cNvSpPr/>
          <p:nvPr/>
        </p:nvSpPr>
        <p:spPr>
          <a:xfrm>
            <a:off x="5077846" y="1828800"/>
            <a:ext cx="20360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Physiotherapist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42449" y="1828800"/>
            <a:ext cx="2036003" cy="594360"/>
          </a:xfrm>
          <a:prstGeom prst="roundRect">
            <a:avLst>
              <a:gd name="adj" fmla="val 49231"/>
            </a:avLst>
          </a:prstGeom>
          <a:solidFill>
            <a:srgbClr val="E854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42449" y="1828800"/>
            <a:ext cx="20360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Scientist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7052" y="1828800"/>
            <a:ext cx="2036003" cy="594360"/>
          </a:xfrm>
          <a:prstGeom prst="roundRect">
            <a:avLst>
              <a:gd name="adj" fmla="val 49231"/>
            </a:avLst>
          </a:prstGeom>
          <a:solidFill>
            <a:srgbClr val="E8543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7052" y="1828800"/>
            <a:ext cx="20360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17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447288"/>
            <a:ext cx="48156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handles sign-in and account identity.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Row-Level Security scopes data access.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helpers support controlled staff access.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restrictions are backed by database policies.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8728" y="278892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3048" y="3017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3048" y="3447288"/>
            <a:ext cx="48156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/ user_roles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athlete_profiles / injury history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video_submissions / pose_analyses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reporting data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&amp; Explainability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composite combines movement and athlete context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deviation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3200400" cy="146304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95144"/>
            <a:ext cx="3200400" cy="14630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9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history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26791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3200400" cy="146304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08376"/>
            <a:ext cx="1828800" cy="14630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92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asymmetry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3392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21608"/>
            <a:ext cx="3200400" cy="146304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721608"/>
            <a:ext cx="1828800" cy="14630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056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41056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3200400" cy="146304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3484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18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trend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48188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48072"/>
            <a:ext cx="3200400" cy="146304"/>
          </a:xfrm>
          <a:prstGeom prst="roundRect">
            <a:avLst>
              <a:gd name="adj" fmla="val 50000"/>
            </a:avLst>
          </a:prstGeom>
          <a:solidFill>
            <a:srgbClr val="F4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148072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1965960"/>
            <a:ext cx="4419295" cy="2331720"/>
          </a:xfrm>
          <a:prstGeom prst="roundRect">
            <a:avLst>
              <a:gd name="adj" fmla="val 3922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194560"/>
            <a:ext cx="3907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79792" y="2542032"/>
            <a:ext cx="3907231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factors contributed to the score.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review by coaches and clinical staff.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scoring logic auditable.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the result as a triage signal — not a diagnosis.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23760" y="4526280"/>
            <a:ext cx="4419295" cy="1234440"/>
          </a:xfrm>
          <a:prstGeom prst="roundRect">
            <a:avLst>
              <a:gd name="adj" fmla="val 7407"/>
            </a:avLst>
          </a:prstGeom>
          <a:solidFill>
            <a:srgbClr val="1B2340"/>
          </a:solidFill>
          <a:ln/>
        </p:spPr>
      </p:sp>
      <p:sp>
        <p:nvSpPr>
          <p:cNvPr id="29" name="Text 27"/>
          <p:cNvSpPr/>
          <p:nvPr/>
        </p:nvSpPr>
        <p:spPr>
          <a:xfrm>
            <a:off x="7479792" y="4681728"/>
            <a:ext cx="39072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LIVE SCORE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79792" y="4956048"/>
            <a:ext cx="3907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 </a:t>
            </a:r>
            <a:r>
              <a:rPr lang="en-US" sz="14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High risk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LIVE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screenshots from the running application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pic>
        <p:nvPicPr>
          <p:cNvPr id="7" name="Image 0" descr="images/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87047"/>
            <a:ext cx="3200400" cy="34212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18745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DASHBOARD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2286000"/>
            <a:ext cx="7162495" cy="4023360"/>
          </a:xfrm>
          <a:prstGeom prst="roundRect">
            <a:avLst>
              <a:gd name="adj" fmla="val 2273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pic>
        <p:nvPicPr>
          <p:cNvPr id="10" name="Image 1" descr="images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782289"/>
            <a:ext cx="6796735" cy="30307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LIVE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workflow converts movement video into measurable risk signals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pic>
        <p:nvPicPr>
          <p:cNvPr id="6" name="Image 0" descr="images/video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10" y="2057400"/>
            <a:ext cx="289826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8745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OUTPUTS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20640" y="2286000"/>
            <a:ext cx="6522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quality score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ROM and valgus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ROM and symmetry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trunk lean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and recommendations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C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Joint-angle trend over time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5212080"/>
            <a:ext cx="6522415" cy="1097280"/>
          </a:xfrm>
          <a:prstGeom prst="roundRect">
            <a:avLst>
              <a:gd name="adj" fmla="val 8333"/>
            </a:avLst>
          </a:prstGeom>
          <a:solidFill>
            <a:srgbClr val="1B2340"/>
          </a:solidFill>
          <a:ln/>
        </p:spPr>
      </p:sp>
      <p:sp>
        <p:nvSpPr>
          <p:cNvPr id="10" name="Text 7"/>
          <p:cNvSpPr/>
          <p:nvPr/>
        </p:nvSpPr>
        <p:spPr>
          <a:xfrm>
            <a:off x="5376672" y="5349240"/>
            <a:ext cx="6010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76672" y="5605272"/>
            <a:ext cx="6010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56.47  </a:t>
            </a:r>
            <a:r>
              <a:rPr lang="en-US" sz="13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Fair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LIVE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Analytics, Reports &amp; Export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views demonstrate the reporting layer of the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484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484778" cy="4069080"/>
          </a:xfrm>
          <a:prstGeom prst="roundRect">
            <a:avLst>
              <a:gd name="adj" fmla="val 2624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pic>
        <p:nvPicPr>
          <p:cNvPr id="7" name="Image 0" descr="images/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07512"/>
            <a:ext cx="3155594" cy="27346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53458" y="1874520"/>
            <a:ext cx="3484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REPORTS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3458" y="2240280"/>
            <a:ext cx="3484778" cy="4069080"/>
          </a:xfrm>
          <a:prstGeom prst="roundRect">
            <a:avLst>
              <a:gd name="adj" fmla="val 2624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pic>
        <p:nvPicPr>
          <p:cNvPr id="10" name="Image 1" descr="images/team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050" y="3549033"/>
            <a:ext cx="3155594" cy="14515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58277" y="1874520"/>
            <a:ext cx="3484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B8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8277" y="2240280"/>
            <a:ext cx="3484778" cy="4069080"/>
          </a:xfrm>
          <a:prstGeom prst="roundRect">
            <a:avLst>
              <a:gd name="adj" fmla="val 2624"/>
            </a:avLst>
          </a:prstGeom>
          <a:solidFill>
            <a:srgbClr val="F4F5F9"/>
          </a:solidFill>
          <a:ln w="12700">
            <a:solidFill>
              <a:srgbClr val="E4E6EF"/>
            </a:solidFill>
            <a:prstDash val="solid"/>
          </a:ln>
        </p:spPr>
      </p:sp>
      <p:pic>
        <p:nvPicPr>
          <p:cNvPr id="13" name="Image 2" descr="images/reportbui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935" y="2404872"/>
            <a:ext cx="2257462" cy="3739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—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Outcome, Future Scope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has delivered and where KinetIQ can go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2A335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video → pose → biomechanics → risk workflow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and database-backed access control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alerts and team/athlete reporting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Excel / CSV export workflow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Unit-tested scoring logic and a working live demo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2A3358"/>
          </a:solidFill>
          <a:ln/>
        </p:spPr>
      </p:sp>
      <p:sp>
        <p:nvSpPr>
          <p:cNvPr id="9" name="Text 7"/>
          <p:cNvSpPr/>
          <p:nvPr/>
        </p:nvSpPr>
        <p:spPr>
          <a:xfrm>
            <a:off x="6553048" y="213055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53048" y="2587752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a model using real injury outcomes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/ 3D pose estimation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and automated training-load integration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sports and movement coverage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athlete monitoring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 is a transparent screening and decision-support platform — designed to help teams decide where to look next.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0" y="654710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KinetIQ</a:t>
            </a:r>
            <a:r>
              <a:rPr lang="en-US" sz="9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AI Sports Injury Risk 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916</Words>
  <Application>Microsoft Office PowerPoint</Application>
  <PresentationFormat>Widescreen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Jayita Pal</cp:lastModifiedBy>
  <cp:revision>2</cp:revision>
  <dcterms:created xsi:type="dcterms:W3CDTF">2026-08-19T20:48:07Z</dcterms:created>
  <dcterms:modified xsi:type="dcterms:W3CDTF">2026-08-19T20:54:55Z</dcterms:modified>
</cp:coreProperties>
</file>