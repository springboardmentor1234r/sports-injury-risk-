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5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4" userDrawn="1">
          <p15:clr>
            <a:srgbClr val="A4A3A4"/>
          </p15:clr>
        </p15:guide>
        <p15:guide id="2" pos="2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74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svg"/><Relationship Id="rId8" Type="http://schemas.openxmlformats.org/officeDocument/2006/relationships/image" Target="../media/image3.png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6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.svg"/><Relationship Id="rId6" Type="http://schemas.openxmlformats.org/officeDocument/2006/relationships/image" Target="../media/image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Freeform 2"/>
          <p:cNvSpPr/>
          <p:nvPr/>
        </p:nvSpPr>
        <p:spPr>
          <a:xfrm>
            <a:off x="0" y="0"/>
            <a:ext cx="12191365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555" b="-555"/>
            </a:stretch>
          </a:blipFill>
        </p:spPr>
        <p:txBody>
          <a:bodyPr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25170" y="1874520"/>
            <a:ext cx="6042025" cy="1276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8FAFC"/>
                </a:solidFill>
                <a:latin typeface="Aptos Display"/>
              </a:defRPr>
            </a:pPr>
            <a:r>
              <a:t>SPORTS </a:t>
            </a:r>
            <a:r>
              <a:rPr sz="4300"/>
              <a:t>INJ</a:t>
            </a:r>
            <a:r>
              <a:rPr lang="en-IN" sz="4300"/>
              <a:t> </a:t>
            </a:r>
            <a:r>
              <a:rPr sz="4300"/>
              <a:t>URY</a:t>
            </a:r>
            <a:endParaRPr sz="4300"/>
          </a:p>
          <a:p>
            <a:pPr>
              <a:defRPr sz="3400" b="1">
                <a:solidFill>
                  <a:srgbClr val="06B6D4"/>
                </a:solidFill>
                <a:latin typeface="Aptos Display"/>
              </a:defRPr>
            </a:pPr>
            <a:r>
              <a:t>RISK DETECTION FROM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5297" y="3246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E2E8F0"/>
                </a:solidFill>
                <a:latin typeface="Aptos"/>
              </a:defRPr>
            </a:pPr>
            <a:r>
              <a:t>AI-powered movement intelligence for proactive injury prevention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251960"/>
            <a:ext cx="141732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Computer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4251960"/>
            <a:ext cx="141732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Pose Estimation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4251960"/>
            <a:ext cx="123444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Biomechanics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4251960"/>
            <a:ext cx="160020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Predictive Analytics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0" y="662025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8FAFC"/>
                </a:solidFill>
              </a:defRPr>
            </a:pPr>
            <a:r>
              <a:t>01</a:t>
            </a:r>
          </a:p>
        </p:txBody>
      </p:sp>
      <p:sp>
        <p:nvSpPr>
          <p:cNvPr id="14" name="Freeform 3"/>
          <p:cNvSpPr/>
          <p:nvPr/>
        </p:nvSpPr>
        <p:spPr>
          <a:xfrm>
            <a:off x="0" y="65405"/>
            <a:ext cx="5988685" cy="6719570"/>
          </a:xfrm>
          <a:custGeom>
            <a:avLst/>
            <a:gdLst/>
            <a:ahLst/>
            <a:cxnLst/>
            <a:rect l="l" t="t" r="r" b="b"/>
            <a:pathLst>
              <a:path w="11167232" h="22168203">
                <a:moveTo>
                  <a:pt x="0" y="0"/>
                </a:moveTo>
                <a:lnTo>
                  <a:pt x="11167232" y="0"/>
                </a:lnTo>
                <a:lnTo>
                  <a:pt x="11167232" y="22168203"/>
                </a:lnTo>
                <a:lnTo>
                  <a:pt x="0" y="22168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</a:blip>
            <a:stretch>
              <a:fillRect/>
            </a:stretch>
          </a:blipFill>
        </p:spPr>
        <p:txBody>
          <a:bodyPr/>
          <a:p>
            <a:endParaRPr lang="en-US"/>
          </a:p>
        </p:txBody>
      </p:sp>
      <p:sp>
        <p:nvSpPr>
          <p:cNvPr id="20" name="Freeform 5"/>
          <p:cNvSpPr/>
          <p:nvPr/>
        </p:nvSpPr>
        <p:spPr>
          <a:xfrm>
            <a:off x="8230870" y="-3557905"/>
            <a:ext cx="6508750" cy="5338445"/>
          </a:xfrm>
          <a:custGeom>
            <a:avLst/>
            <a:gdLst/>
            <a:ahLst/>
            <a:cxnLst/>
            <a:rect l="l" t="t" r="r" b="b"/>
            <a:pathLst>
              <a:path w="5216487" h="5216487">
                <a:moveTo>
                  <a:pt x="0" y="0"/>
                </a:moveTo>
                <a:lnTo>
                  <a:pt x="5216487" y="0"/>
                </a:lnTo>
                <a:lnTo>
                  <a:pt x="5216487" y="5216487"/>
                </a:lnTo>
                <a:lnTo>
                  <a:pt x="0" y="52164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Rectangle 2"/>
          <p:cNvSpPr/>
          <p:nvPr/>
        </p:nvSpPr>
        <p:spPr>
          <a:xfrm>
            <a:off x="776923" y="5700395"/>
            <a:ext cx="3763645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l"/>
            <a:r>
              <a:rPr lang="en-IN" altLang="en-US" sz="2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Microsoft YaHei" panose="020B0503020204020204" charset="-122"/>
              </a:rPr>
              <a:t>By:</a:t>
            </a:r>
            <a:endParaRPr lang="en-IN" altLang="en-US" sz="20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Microsoft YaHei" panose="020B0503020204020204" charset="-122"/>
            </a:endParaRPr>
          </a:p>
          <a:p>
            <a:pPr algn="l"/>
            <a:r>
              <a:rPr lang="en-IN" altLang="en-US" sz="2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Microsoft YaHei" panose="020B0503020204020204" charset="-122"/>
              </a:rPr>
              <a:t>Devarakonda Venkateshwarlu</a:t>
            </a:r>
            <a:endParaRPr lang="en-IN" altLang="en-US" sz="20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Freeform 2"/>
          <p:cNvSpPr/>
          <p:nvPr/>
        </p:nvSpPr>
        <p:spPr>
          <a:xfrm>
            <a:off x="0" y="0"/>
            <a:ext cx="12191365" cy="685736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555" b="-555"/>
            </a:stretch>
          </a:blipFill>
        </p:spPr>
      </p:sp>
      <p:sp>
        <p:nvSpPr>
          <p:cNvPr id="2" name="TextBox 1"/>
          <p:cNvSpPr txBox="1"/>
          <p:nvPr/>
        </p:nvSpPr>
        <p:spPr>
          <a:xfrm>
            <a:off x="594360" y="320040"/>
            <a:ext cx="6547485" cy="629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rPr sz="3500">
                <a:solidFill>
                  <a:schemeClr val="bg1"/>
                </a:solidFill>
              </a:rPr>
              <a:t>Objective &amp; Expected Outcomes</a:t>
            </a:r>
            <a:endParaRPr sz="3500">
              <a:solidFill>
                <a:schemeClr val="bg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flipH="1">
            <a:off x="634365" y="1837690"/>
            <a:ext cx="76200" cy="35655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472184"/>
            <a:ext cx="2324735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What the platform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375" y="1828165"/>
            <a:ext cx="5029200" cy="38595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b="1"/>
              <a:t>Analyzes athlete movement videos to identify biomechanical issues, abnormal patterns and injury risk factors before an injury occurs.</a:t>
            </a:r>
            <a:endParaRPr b="1"/>
          </a:p>
        </p:txBody>
      </p:sp>
      <p:sp>
        <p:nvSpPr>
          <p:cNvPr id="7" name="TextBox 6"/>
          <p:cNvSpPr txBox="1"/>
          <p:nvPr/>
        </p:nvSpPr>
        <p:spPr>
          <a:xfrm>
            <a:off x="960120" y="2350135"/>
            <a:ext cx="4754880" cy="23279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 b="1"/>
              <a:t>Monitor movement continuously from uploaded video.</a:t>
            </a:r>
            <a:endParaRPr b="1"/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 b="1"/>
              <a:t>Estimate body pose, joint motion and movement trajectories.</a:t>
            </a:r>
            <a:endParaRPr b="1"/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 b="1"/>
              <a:t>Quantify biomechanical deviations and asymmetry.</a:t>
            </a:r>
            <a:endParaRPr b="1"/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 b="1"/>
              <a:t>Predict risk and classify it from Low to Critical.</a:t>
            </a:r>
            <a:endParaRPr b="1"/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 b="1"/>
              <a:t>Recommend corrective exercises, recovery and training changes.</a:t>
            </a:r>
            <a:endParaRPr b="1"/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 b="1"/>
              <a:t>Give coaches and medical teams actionable analytics.</a:t>
            </a:r>
            <a:endParaRPr b="1"/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73152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47218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AI-powered injury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892807"/>
            <a:ext cx="484632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b="1"/>
              <a:t>Computer vision → biomechanics → prediction → recommendations</a:t>
            </a:r>
            <a:endParaRPr b="1"/>
          </a:p>
        </p:txBody>
      </p:sp>
      <p:sp>
        <p:nvSpPr>
          <p:cNvPr id="12" name="Rounded Rectangle 11"/>
          <p:cNvSpPr/>
          <p:nvPr/>
        </p:nvSpPr>
        <p:spPr>
          <a:xfrm>
            <a:off x="6309360" y="2697480"/>
            <a:ext cx="52120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697480"/>
            <a:ext cx="7315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7301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Athletes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022094"/>
            <a:ext cx="484632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b="1"/>
              <a:t>Safer training &amp; movement feedback</a:t>
            </a:r>
            <a:endParaRPr b="1"/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120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474720"/>
            <a:ext cx="73152" cy="6217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258" y="3429254"/>
            <a:ext cx="1016635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rPr lang="en-IN"/>
              <a:t>  </a:t>
            </a:r>
            <a:r>
              <a:t>Coaches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659762"/>
            <a:ext cx="484632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b="1"/>
              <a:t>Team risk visibility &amp; training decisions</a:t>
            </a:r>
            <a:endParaRPr b="1"/>
          </a:p>
        </p:txBody>
      </p:sp>
      <p:sp>
        <p:nvSpPr>
          <p:cNvPr id="20" name="Rounded Rectangle 19"/>
          <p:cNvSpPr/>
          <p:nvPr/>
        </p:nvSpPr>
        <p:spPr>
          <a:xfrm>
            <a:off x="6309360" y="4251960"/>
            <a:ext cx="52120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251960"/>
            <a:ext cx="73152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430301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Physiotherapists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539744"/>
            <a:ext cx="484632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b="1"/>
              <a:t>Rehabilitation &amp; correction analytics</a:t>
            </a:r>
            <a:endParaRPr b="1"/>
          </a:p>
        </p:txBody>
      </p:sp>
      <p:sp>
        <p:nvSpPr>
          <p:cNvPr id="24" name="Rounded Rectangle 23"/>
          <p:cNvSpPr/>
          <p:nvPr/>
        </p:nvSpPr>
        <p:spPr>
          <a:xfrm>
            <a:off x="6309360" y="5029200"/>
            <a:ext cx="52120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5029200"/>
            <a:ext cx="73152" cy="6217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502500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Sports Scientists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5337939"/>
            <a:ext cx="484632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b="1"/>
              <a:t>Research-grade movement intelligence</a:t>
            </a:r>
            <a:endParaRPr b="1"/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81360" y="662025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8FAFC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Freeform 2"/>
          <p:cNvSpPr/>
          <p:nvPr/>
        </p:nvSpPr>
        <p:spPr>
          <a:xfrm>
            <a:off x="0" y="0"/>
            <a:ext cx="12205335" cy="685736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555" b="-55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4105275" cy="6299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rPr sz="3500">
                <a:solidFill>
                  <a:schemeClr val="bg1"/>
                </a:solidFill>
              </a:rPr>
              <a:t>System Architecture</a:t>
            </a:r>
            <a:endParaRPr sz="350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ptos"/>
              </a:defRPr>
            </a:pPr>
            <a:r>
              <a:t>End-to-end pipeline from video capture to actionable injury prevention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234440"/>
            <a:ext cx="1014984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316736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Users &amp;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325880"/>
            <a:ext cx="7680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Athlete • Coach • Physiotherapist • Sports Scientist •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020824"/>
            <a:ext cx="1014984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1031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Web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12264"/>
            <a:ext cx="7680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React.js / Next.js • Dashboards • Reports •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807208"/>
            <a:ext cx="1014984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889504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API &amp;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98648"/>
            <a:ext cx="7680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FastAPI • JWT/OAuth2 • Video Processing • FFmpeg/OpenCV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593592"/>
            <a:ext cx="1014984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67588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AI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685032"/>
            <a:ext cx="7680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Pose Estimation • Biomechanics • Anomaly Detection • Risk Prediction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379976"/>
            <a:ext cx="1014984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46227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Data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471416"/>
            <a:ext cx="7680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PostgreSQL • MongoDB • Athlete History • Movement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5166360"/>
            <a:ext cx="1014984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5248656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257800"/>
            <a:ext cx="7680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Docker • AWS / Azure • Monitoring &amp; Logging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662025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8FAFC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Freeform 2"/>
          <p:cNvSpPr/>
          <p:nvPr/>
        </p:nvSpPr>
        <p:spPr>
          <a:xfrm>
            <a:off x="0" y="0"/>
            <a:ext cx="12192000" cy="729615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555" b="-555"/>
            </a:stretch>
          </a:blipFill>
        </p:spPr>
      </p:sp>
      <p:sp>
        <p:nvSpPr>
          <p:cNvPr id="2" name="TextBox 1"/>
          <p:cNvSpPr txBox="1"/>
          <p:nvPr/>
        </p:nvSpPr>
        <p:spPr>
          <a:xfrm>
            <a:off x="594360" y="320040"/>
            <a:ext cx="5644515" cy="629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rPr sz="3500">
                <a:solidFill>
                  <a:schemeClr val="bg1"/>
                </a:solidFill>
              </a:rPr>
              <a:t>Core AI &amp; Analysis Modules</a:t>
            </a:r>
            <a:endParaRPr sz="3500">
              <a:solidFill>
                <a:schemeClr val="bg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58825" y="113411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73152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426463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01  Video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847088"/>
            <a:ext cx="4892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Upload, validate, preprocess, frame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3411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73152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426463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02  Pose Estimation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847088"/>
            <a:ext cx="4892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Skeleton tracking, keypoints, motion trajectories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4950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514600"/>
            <a:ext cx="73152" cy="9875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66090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03  Biomechanics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81528"/>
            <a:ext cx="4892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Angles, ROM, symmetry, posture, alignment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350135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514600"/>
            <a:ext cx="73152" cy="9875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66090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04  Risk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3081528"/>
            <a:ext cx="4892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Risk factors, injury probability, trend monitoring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84574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749039"/>
            <a:ext cx="73152" cy="9875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89534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05  Anomaly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315968"/>
            <a:ext cx="4892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Technique deviation, fatigue, performance decline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613784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749039"/>
            <a:ext cx="73152" cy="9875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89534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06  Risk 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15968"/>
            <a:ext cx="4892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Weighted risk score and Low → Critical categories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81965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983480"/>
            <a:ext cx="73152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12978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07  Recommendations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5550408"/>
            <a:ext cx="4892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Mobility, strength, recovery and training changes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81838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983480"/>
            <a:ext cx="73152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512978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08 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5550408"/>
            <a:ext cx="4892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Athlete, coach, physio and scientist dashboards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-635" y="7040118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81360" y="662025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8FAFC"/>
                </a:solidFill>
              </a:defRPr>
            </a:pPr>
            <a:r>
              <a:t>04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887095" y="5856605"/>
            <a:ext cx="10643235" cy="12363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0" lvl="0" indent="0" algn="just">
              <a:lnSpc>
                <a:spcPts val="3385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Calibri Light" panose="020F0302020204030204" charset="0"/>
                <a:ea typeface="Poppins" panose="00000500000000000000"/>
                <a:cs typeface="Calibri Light" panose="020F0302020204030204" charset="0"/>
                <a:sym typeface="Poppins" panose="00000500000000000000"/>
              </a:rPr>
              <a:t>Frame Extraction  →  Pose Detection  →  Joint Angle Analysis  →  Movement Pattern Recognition  →  Risk Scoring</a:t>
            </a:r>
            <a:endParaRPr lang="en-US" b="1" dirty="0">
              <a:solidFill>
                <a:srgbClr val="FFFFFF"/>
              </a:solidFill>
              <a:latin typeface="Calibri Light" panose="020F0302020204030204" charset="0"/>
              <a:ea typeface="Poppins" panose="00000500000000000000"/>
              <a:cs typeface="Calibri Light" panose="020F0302020204030204" charset="0"/>
              <a:sym typeface="Poppins" panose="00000500000000000000"/>
            </a:endParaRPr>
          </a:p>
          <a:p>
            <a:pPr marL="0" lvl="0" indent="0" algn="just">
              <a:lnSpc>
                <a:spcPts val="3385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Calibri Light" panose="020F0302020204030204" charset="0"/>
                <a:ea typeface="Poppins" panose="00000500000000000000"/>
                <a:cs typeface="Calibri Light" panose="020F0302020204030204" charset="0"/>
                <a:sym typeface="Poppins" panose="00000500000000000000"/>
              </a:rPr>
              <a:t>Each stage processes video input through specialized ML models to produce real-time injury risk scores.</a:t>
            </a:r>
            <a:endParaRPr lang="en-US" b="1" dirty="0">
              <a:solidFill>
                <a:srgbClr val="FFFFFF"/>
              </a:solidFill>
              <a:latin typeface="Calibri Light" panose="020F0302020204030204" charset="0"/>
              <a:ea typeface="Poppins" panose="00000500000000000000"/>
              <a:cs typeface="Calibri Light" panose="020F0302020204030204" charset="0"/>
              <a:sym typeface="Poppins" panose="00000500000000000000"/>
            </a:endParaRPr>
          </a:p>
          <a:p>
            <a:pPr algn="l"/>
            <a:endParaRPr lang="en-US" sz="1800" b="1">
              <a:latin typeface="Calibri Light" panose="020F0302020204030204" charset="0"/>
              <a:ea typeface="Microsoft YaHei" panose="020B0503020204020204" charset="-122"/>
              <a:cs typeface="Calibri Light" panose="020F03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Freeform 2"/>
          <p:cNvSpPr/>
          <p:nvPr/>
        </p:nvSpPr>
        <p:spPr>
          <a:xfrm>
            <a:off x="0" y="0"/>
            <a:ext cx="12185015" cy="712216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555" b="-55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8128635" cy="629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rPr sz="3500">
                <a:solidFill>
                  <a:schemeClr val="bg1"/>
                </a:solidFill>
              </a:rPr>
              <a:t>Movement &amp; Biomechanical Intelligence</a:t>
            </a:r>
            <a:endParaRPr sz="3500">
              <a:solidFill>
                <a:schemeClr val="bg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84200" y="960120"/>
            <a:ext cx="3383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flipH="1">
            <a:off x="588010" y="1280160"/>
            <a:ext cx="76200" cy="3881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426463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Pose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645793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Key body points tracked across frames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965960"/>
            <a:ext cx="123444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965960"/>
            <a:ext cx="123444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Shoulder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560320"/>
            <a:ext cx="123444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Elbow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2560320"/>
            <a:ext cx="123444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Wrist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154680"/>
            <a:ext cx="123444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3154680"/>
            <a:ext cx="123444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Knee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749039"/>
            <a:ext cx="123444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Ankle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3749039"/>
            <a:ext cx="123444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Foot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42435" y="94996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8785" y="1287145"/>
            <a:ext cx="76200" cy="38741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1426463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Biomechanical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9473" y="1645793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Quantifies movement quality and 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7555" y="2044064"/>
            <a:ext cx="283464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Knee valgus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Hip stability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Trunk lean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Landing mechanics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Stride length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Joint alignment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Balance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99568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34630" y="1287145"/>
            <a:ext cx="76200" cy="3876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8" y="1426463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Supported activities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3898" y="1645793"/>
            <a:ext cx="3246120" cy="384048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Designed for common athletic movement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184" y="2052954"/>
            <a:ext cx="297180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Running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Sprinting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Jumping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Squatting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Landing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Throwing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Cutting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Sport-specific drills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-6985" y="6895338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0" y="662025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8FAFC"/>
                </a:solidFill>
              </a:defRPr>
            </a:pPr>
            <a:r>
              <a:t>05</a:t>
            </a:r>
          </a:p>
        </p:txBody>
      </p:sp>
      <p:sp>
        <p:nvSpPr>
          <p:cNvPr id="27" name="Text Box 26"/>
          <p:cNvSpPr txBox="1"/>
          <p:nvPr/>
        </p:nvSpPr>
        <p:spPr>
          <a:xfrm>
            <a:off x="1809115" y="5728970"/>
            <a:ext cx="8352155" cy="95948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0" lvl="0" indent="0" algn="just">
              <a:lnSpc>
                <a:spcPts val="3385"/>
              </a:lnSpc>
              <a:spcBef>
                <a:spcPct val="0"/>
              </a:spcBef>
            </a:pPr>
            <a:r>
              <a:rPr lang="en-US" sz="2000" b="1">
                <a:solidFill>
                  <a:schemeClr val="tx1"/>
                </a:solidFill>
                <a:latin typeface="Calibri Light" panose="020F0302020204030204" charset="0"/>
                <a:ea typeface="Poppins" panose="00000500000000000000"/>
                <a:cs typeface="Calibri Light" panose="020F0302020204030204" charset="0"/>
                <a:sym typeface="Poppins" panose="00000500000000000000"/>
              </a:rPr>
              <a:t>Real-time movement analytics with joint-stress overlays, velocity tracking, and automated alert thresholds — flagging high-risk athletes instantly.</a:t>
            </a:r>
            <a:endParaRPr lang="en-US" sz="2000" b="1">
              <a:solidFill>
                <a:schemeClr val="tx1"/>
              </a:solidFill>
              <a:latin typeface="Calibri Light" panose="020F0302020204030204" charset="0"/>
              <a:ea typeface="Poppins" panose="00000500000000000000"/>
              <a:cs typeface="Calibri Light" panose="020F0302020204030204" charset="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" name="Freeform 2"/>
          <p:cNvSpPr/>
          <p:nvPr/>
        </p:nvSpPr>
        <p:spPr>
          <a:xfrm>
            <a:off x="0" y="0"/>
            <a:ext cx="12191365" cy="721804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555" b="-555"/>
            </a:stretch>
          </a:blipFill>
        </p:spPr>
      </p:sp>
      <p:sp>
        <p:nvSpPr>
          <p:cNvPr id="2" name="TextBox 1"/>
          <p:cNvSpPr txBox="1"/>
          <p:nvPr/>
        </p:nvSpPr>
        <p:spPr>
          <a:xfrm>
            <a:off x="594360" y="320040"/>
            <a:ext cx="6386195" cy="629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rPr sz="3500">
                <a:solidFill>
                  <a:schemeClr val="bg1"/>
                </a:solidFill>
              </a:rPr>
              <a:t>Injury Risk Prediction &amp; Scoring</a:t>
            </a:r>
            <a:endParaRPr sz="350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ptos"/>
              </a:defRPr>
            </a:pPr>
            <a:r>
              <a:t>A transparent weighted model converts movement evidence into an interpretable risk 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5836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63624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Biomechanical deviations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847088"/>
            <a:ext cx="621792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35% contribution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80" y="1645920"/>
            <a:ext cx="196596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83480" y="1645920"/>
            <a:ext cx="196596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58568"/>
            <a:ext cx="65836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258568"/>
            <a:ext cx="73152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404872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Historical injury factors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688336"/>
            <a:ext cx="621792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20% contribution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2487168"/>
            <a:ext cx="196596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3480" y="2487168"/>
            <a:ext cx="1123405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099816"/>
            <a:ext cx="65836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099816"/>
            <a:ext cx="73152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24612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Movement asymmetry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547999"/>
            <a:ext cx="621792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20% contribution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80" y="3328416"/>
            <a:ext cx="196596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83480" y="3328416"/>
            <a:ext cx="1123405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941064"/>
            <a:ext cx="65836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941064"/>
            <a:ext cx="73152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087368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Training load indicators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370832"/>
            <a:ext cx="621792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15% contribution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83480" y="4169664"/>
            <a:ext cx="196596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3480" y="4169664"/>
            <a:ext cx="842554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4782312"/>
            <a:ext cx="65836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782312"/>
            <a:ext cx="73152" cy="7132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928616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Fatigue indicators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267325"/>
            <a:ext cx="621792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10% contribution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83480" y="5010912"/>
            <a:ext cx="196596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83480" y="5010912"/>
            <a:ext cx="561702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26679" y="1417320"/>
            <a:ext cx="36576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23505" y="1847215"/>
            <a:ext cx="76200" cy="3444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27848" y="1563624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Risk categories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27848" y="1984248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Use risk level to trigger the right action.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2258695"/>
            <a:ext cx="265176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LOW RISK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2862072"/>
            <a:ext cx="265176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MODERATE RISK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3575304"/>
            <a:ext cx="2651760" cy="34747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HIGH RISK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4288536"/>
            <a:ext cx="265176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CRITICAL RISK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516636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Risk score = weighted evidence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970903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81360" y="662025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8FAFC"/>
                </a:solidFill>
              </a:defRPr>
            </a:pPr>
            <a:r>
              <a:t>06</a:t>
            </a:r>
          </a:p>
        </p:txBody>
      </p:sp>
      <p:sp>
        <p:nvSpPr>
          <p:cNvPr id="45" name="Text Box 44"/>
          <p:cNvSpPr txBox="1"/>
          <p:nvPr/>
        </p:nvSpPr>
        <p:spPr>
          <a:xfrm>
            <a:off x="1120775" y="5825490"/>
            <a:ext cx="9760585" cy="9594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0" lvl="0" indent="0" algn="just">
              <a:lnSpc>
                <a:spcPts val="3385"/>
              </a:lnSpc>
              <a:spcBef>
                <a:spcPct val="0"/>
              </a:spcBef>
            </a:pPr>
            <a:r>
              <a:rPr lang="en-US" b="1">
                <a:solidFill>
                  <a:srgbClr val="FFFFFF"/>
                </a:solidFill>
                <a:latin typeface="Calibri Light" panose="020F0302020204030204" charset="0"/>
                <a:ea typeface="Poppins" panose="00000500000000000000"/>
                <a:cs typeface="Calibri Light" panose="020F0302020204030204" charset="0"/>
                <a:sym typeface="Poppins" panose="00000500000000000000"/>
              </a:rPr>
              <a:t>Risk heatmaps overlay joints in real-time. Stress indicators flag high-load zones. Movement deviation scores quantify biomechanical anomalies. Injury probability metrics ranked per athlete per session.</a:t>
            </a:r>
            <a:endParaRPr lang="en-US" sz="1800" b="1">
              <a:latin typeface="Calibri Light" panose="020F0302020204030204" charset="0"/>
              <a:ea typeface="Microsoft YaHei" panose="020B0503020204020204" charset="-122"/>
              <a:cs typeface="Calibri Light" panose="020F030202020403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" name="Freeform 2"/>
          <p:cNvSpPr/>
          <p:nvPr/>
        </p:nvSpPr>
        <p:spPr>
          <a:xfrm>
            <a:off x="0" y="0"/>
            <a:ext cx="12191365" cy="685736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555" b="-555"/>
            </a:stretch>
          </a:blipFill>
        </p:spPr>
      </p:sp>
      <p:sp>
        <p:nvSpPr>
          <p:cNvPr id="2" name="TextBox 1"/>
          <p:cNvSpPr txBox="1"/>
          <p:nvPr/>
        </p:nvSpPr>
        <p:spPr>
          <a:xfrm>
            <a:off x="594360" y="320040"/>
            <a:ext cx="10972800" cy="94932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rPr sz="3500">
                <a:solidFill>
                  <a:schemeClr val="bg1"/>
                </a:solidFill>
              </a:rPr>
              <a:t>Dashboards, Alerts &amp; Recommendations</a:t>
            </a:r>
            <a:endParaRPr sz="3500">
              <a:solidFill>
                <a:schemeClr val="bg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73152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38074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Athlete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801368"/>
            <a:ext cx="4892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Risk score • movement reports • progress • exercises • performance trends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73152" cy="9875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38074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Coach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801368"/>
            <a:ext cx="4892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Team risk overview • athlete analytics • movement quality • training recommendations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6888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468880"/>
            <a:ext cx="73152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61518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Physiotherapist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035808"/>
            <a:ext cx="4892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Rehabilitation tracking • risk monitoring • correction analytics • recovery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46888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468880"/>
            <a:ext cx="73152" cy="9875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61518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Sports Scientist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35808"/>
            <a:ext cx="4892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Biomechanics • team trends • prediction insights • research reports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703320"/>
            <a:ext cx="73152" cy="9875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84962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Admin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270248"/>
            <a:ext cx="4892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User management • platform analytics • monitoring • report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22370"/>
            <a:ext cx="5257800" cy="919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744595"/>
            <a:ext cx="76200" cy="889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384962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Alert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270248"/>
            <a:ext cx="48920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High-risk movement • injury warning • training load • recovery reminder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0" y="662025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8FAFC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" name="Freeform 2"/>
          <p:cNvSpPr/>
          <p:nvPr/>
        </p:nvSpPr>
        <p:spPr>
          <a:xfrm>
            <a:off x="0" y="0"/>
            <a:ext cx="12191365" cy="685736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555" b="-555"/>
            </a:stretch>
          </a:blipFill>
        </p:spPr>
      </p:sp>
      <p:sp>
        <p:nvSpPr>
          <p:cNvPr id="2" name="TextBox 1"/>
          <p:cNvSpPr txBox="1"/>
          <p:nvPr/>
        </p:nvSpPr>
        <p:spPr>
          <a:xfrm>
            <a:off x="594360" y="320040"/>
            <a:ext cx="5913755" cy="629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rPr sz="3500">
                <a:solidFill>
                  <a:schemeClr val="bg1"/>
                </a:solidFill>
              </a:rPr>
              <a:t>Datasets &amp; Technology Stack</a:t>
            </a:r>
            <a:endParaRPr sz="3500">
              <a:solidFill>
                <a:schemeClr val="bg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53492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flipH="1">
            <a:off x="593725" y="1391285"/>
            <a:ext cx="76835" cy="187769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380744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Recommended 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801368"/>
            <a:ext cx="49834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Human3.6M • MPII Human Pose • COCO Keypoints • SportsPose • FIFA Injury Dataset (reference)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11880"/>
            <a:ext cx="53492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3725" y="3749040"/>
            <a:ext cx="76200" cy="19278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758184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AI / ML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4178808"/>
            <a:ext cx="49834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OpenCV • YOLOv8 • MediaPipe • TensorFlow • PyTorch • Scikit-learn • XGBoost • NumPy • Pandas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9830" y="1386840"/>
            <a:ext cx="76835" cy="191706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38074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Application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801368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Python • FastAPI • React.js / Next.js • Tailwind CSS • JWT / OAuth2 • PostgreSQL • MongoDB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11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0465" y="3749040"/>
            <a:ext cx="76200" cy="191960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375818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Video, cloud &amp; DevOps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4178808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FFmpeg • DeepSORT • Plotly • Matplotlib • Chart.js • Docker • AWS / Azure • GitHub Actions • Postman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0" y="662025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8FAFC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Freeform 2"/>
          <p:cNvSpPr/>
          <p:nvPr/>
        </p:nvSpPr>
        <p:spPr>
          <a:xfrm>
            <a:off x="0" y="0"/>
            <a:ext cx="12191365" cy="680656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555" b="-55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8382000" cy="629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rPr sz="3500">
                <a:solidFill>
                  <a:schemeClr val="bg1"/>
                </a:solidFill>
              </a:rPr>
              <a:t>Evaluation &amp; Performance Metrics</a:t>
            </a:r>
            <a:r>
              <a:rPr lang="en-IN" sz="3500">
                <a:solidFill>
                  <a:schemeClr val="bg1"/>
                </a:solidFill>
              </a:rPr>
              <a:t> Results</a:t>
            </a:r>
            <a:endParaRPr lang="en-IN" sz="3500">
              <a:solidFill>
                <a:schemeClr val="bg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73152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38074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Pose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801368"/>
            <a:ext cx="489204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Keypoint detection • pose tracking • joint localization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73152" cy="10789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38074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Biomechanics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801368"/>
            <a:ext cx="489204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Joint-angle accuracy • symmetry • movement quality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60320"/>
            <a:ext cx="73152" cy="10789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70662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Injury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127248"/>
            <a:ext cx="489204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Prediction accuracy • precision • false positives • early warning effectiveness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6032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560320"/>
            <a:ext cx="73152" cy="10789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70662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127248"/>
            <a:ext cx="489204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Relevance • corrective exercise effectiveness • recovery improvement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8620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886200"/>
            <a:ext cx="73152" cy="1078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403250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System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453128"/>
            <a:ext cx="489204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Video latency • API response • dashboard speed • concurrent processing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5380990"/>
            <a:ext cx="10561320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Goal: detect meaningful movement risk early enough to support proactive intervention.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0" y="662025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8FAF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Freeform 2"/>
          <p:cNvSpPr/>
          <p:nvPr/>
        </p:nvSpPr>
        <p:spPr>
          <a:xfrm>
            <a:off x="0" y="0"/>
            <a:ext cx="12208510" cy="685736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555" b="-555"/>
            </a:stretch>
          </a:blipFill>
        </p:spPr>
      </p:sp>
      <p:sp>
        <p:nvSpPr>
          <p:cNvPr id="2" name="TextBox 1"/>
          <p:cNvSpPr txBox="1"/>
          <p:nvPr/>
        </p:nvSpPr>
        <p:spPr>
          <a:xfrm>
            <a:off x="594360" y="320040"/>
            <a:ext cx="7146925" cy="629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rPr sz="3500">
                <a:solidFill>
                  <a:schemeClr val="bg1"/>
                </a:solidFill>
              </a:rPr>
              <a:t>Security, Integration &amp; Deployment</a:t>
            </a:r>
            <a:endParaRPr sz="3500">
              <a:solidFill>
                <a:schemeClr val="bg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47218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Secure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892807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JWT authentication • OAuth2 • role-based permissions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325880"/>
            <a:ext cx="73152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47218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Data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1892807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Athlete profiles, injury history and reports stored with controlled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2588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325880"/>
            <a:ext cx="73152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47218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1892807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Frontend + backend APIs • validation • end-to-end workflows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7472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474720"/>
            <a:ext cx="73152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62102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0416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Functional • security • performance • API • end-to-end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47472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3474720"/>
            <a:ext cx="73152" cy="1737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8" y="362102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40416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Docker containers • AWS/Azure • monitoring • logging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47472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3474720"/>
            <a:ext cx="73152" cy="1737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362102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ptos"/>
              </a:defRPr>
            </a:pPr>
            <a:r>
              <a:t>Deliverables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40416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Production build • documentation • user guides • final demonstration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0" y="662025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8FAF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Freeform 2"/>
          <p:cNvSpPr/>
          <p:nvPr/>
        </p:nvSpPr>
        <p:spPr>
          <a:xfrm>
            <a:off x="0" y="0"/>
            <a:ext cx="1216914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555" b="-55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864870" y="725170"/>
            <a:ext cx="2765425" cy="629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rPr sz="3500"/>
              <a:t>F</a:t>
            </a:r>
            <a:r>
              <a:rPr lang="en-IN" sz="3500"/>
              <a:t>uture Scope</a:t>
            </a:r>
            <a:endParaRPr lang="en-IN" sz="3500"/>
          </a:p>
        </p:txBody>
      </p:sp>
      <p:sp>
        <p:nvSpPr>
          <p:cNvPr id="13" name="TextBox 12"/>
          <p:cNvSpPr txBox="1"/>
          <p:nvPr/>
        </p:nvSpPr>
        <p:spPr>
          <a:xfrm>
            <a:off x="864870" y="1586230"/>
            <a:ext cx="7161530" cy="3415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Calibri Light" panose="020F0302020204030204" charset="0"/>
                <a:ea typeface="Poppins" panose="00000500000000000000"/>
                <a:cs typeface="Calibri Light" panose="020F0302020204030204" charset="0"/>
                <a:sym typeface="Poppins" panose="00000500000000000000"/>
              </a:rPr>
              <a:t>•  Multi-Camera 3D Pose Analysis </a:t>
            </a:r>
            <a:endParaRPr lang="en-US" b="1" dirty="0">
              <a:solidFill>
                <a:srgbClr val="FFFFFF"/>
              </a:solidFill>
              <a:latin typeface="Calibri Light" panose="020F0302020204030204" charset="0"/>
              <a:ea typeface="Poppins" panose="00000500000000000000"/>
              <a:cs typeface="Calibri Light" panose="020F0302020204030204" charset="0"/>
              <a:sym typeface="Poppins" panose="00000500000000000000"/>
            </a:endParaRPr>
          </a:p>
          <a:p>
            <a:pPr marL="1371600" lvl="3" indent="457200" algn="l">
              <a:lnSpc>
                <a:spcPct val="150000"/>
              </a:lnSpc>
              <a:spcBef>
                <a:spcPct val="0"/>
              </a:spcBef>
            </a:pPr>
            <a:r>
              <a:rPr lang="en-IN" altLang="en-US" b="1" dirty="0">
                <a:solidFill>
                  <a:srgbClr val="FFFFFF"/>
                </a:solidFill>
                <a:latin typeface="Calibri Light" panose="020F0302020204030204" charset="0"/>
                <a:ea typeface="Poppins" panose="00000500000000000000"/>
                <a:cs typeface="Calibri Light" panose="020F0302020204030204" charset="0"/>
                <a:sym typeface="Poppins" panose="00000500000000000000"/>
              </a:rPr>
              <a:t>  </a:t>
            </a:r>
            <a:r>
              <a:rPr lang="en-US" b="1" dirty="0">
                <a:solidFill>
                  <a:srgbClr val="FFFFFF"/>
                </a:solidFill>
                <a:latin typeface="Calibri Light" panose="020F0302020204030204" charset="0"/>
                <a:ea typeface="Poppins" panose="00000500000000000000"/>
                <a:cs typeface="Calibri Light" panose="020F0302020204030204" charset="0"/>
                <a:sym typeface="Poppins" panose="00000500000000000000"/>
              </a:rPr>
              <a:t>— Full volumetric biomechanical reconstruction</a:t>
            </a:r>
            <a:endParaRPr lang="en-US" b="1" dirty="0">
              <a:solidFill>
                <a:srgbClr val="FFFFFF"/>
              </a:solidFill>
              <a:latin typeface="Calibri Light" panose="020F0302020204030204" charset="0"/>
              <a:ea typeface="Poppins" panose="00000500000000000000"/>
              <a:cs typeface="Calibri Light" panose="020F0302020204030204" charset="0"/>
              <a:sym typeface="Poppins" panose="00000500000000000000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Calibri Light" panose="020F0302020204030204" charset="0"/>
                <a:ea typeface="Poppins" panose="00000500000000000000"/>
                <a:cs typeface="Calibri Light" panose="020F0302020204030204" charset="0"/>
                <a:sym typeface="Poppins" panose="00000500000000000000"/>
              </a:rPr>
              <a:t>•  Sport-Specific AI Models</a:t>
            </a:r>
            <a:endParaRPr lang="en-US" b="1" dirty="0">
              <a:solidFill>
                <a:srgbClr val="FFFFFF"/>
              </a:solidFill>
              <a:latin typeface="Calibri Light" panose="020F0302020204030204" charset="0"/>
              <a:ea typeface="Poppins" panose="00000500000000000000"/>
              <a:cs typeface="Calibri Light" panose="020F0302020204030204" charset="0"/>
              <a:sym typeface="Poppins" panose="00000500000000000000"/>
            </a:endParaRPr>
          </a:p>
          <a:p>
            <a:pPr marL="1371600" lvl="3" indent="457200" algn="l">
              <a:lnSpc>
                <a:spcPct val="15000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Calibri Light" panose="020F0302020204030204" charset="0"/>
                <a:ea typeface="Poppins" panose="00000500000000000000"/>
                <a:cs typeface="Calibri Light" panose="020F0302020204030204" charset="0"/>
                <a:sym typeface="Poppins" panose="00000500000000000000"/>
              </a:rPr>
              <a:t> — Tailored risk profiles for football, basketball, athletics</a:t>
            </a:r>
            <a:endParaRPr lang="en-US" b="1" dirty="0">
              <a:solidFill>
                <a:srgbClr val="FFFFFF"/>
              </a:solidFill>
              <a:latin typeface="Calibri Light" panose="020F0302020204030204" charset="0"/>
              <a:ea typeface="Poppins" panose="00000500000000000000"/>
              <a:cs typeface="Calibri Light" panose="020F0302020204030204" charset="0"/>
              <a:sym typeface="Poppins" panose="00000500000000000000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Calibri Light" panose="020F0302020204030204" charset="0"/>
                <a:ea typeface="Poppins" panose="00000500000000000000"/>
                <a:cs typeface="Calibri Light" panose="020F0302020204030204" charset="0"/>
                <a:sym typeface="Poppins" panose="00000500000000000000"/>
              </a:rPr>
              <a:t>•  Wearable Sensor Fusion </a:t>
            </a:r>
            <a:endParaRPr lang="en-US" b="1" dirty="0">
              <a:solidFill>
                <a:srgbClr val="FFFFFF"/>
              </a:solidFill>
              <a:latin typeface="Calibri Light" panose="020F0302020204030204" charset="0"/>
              <a:ea typeface="Poppins" panose="00000500000000000000"/>
              <a:cs typeface="Calibri Light" panose="020F0302020204030204" charset="0"/>
              <a:sym typeface="Poppins" panose="00000500000000000000"/>
            </a:endParaRPr>
          </a:p>
          <a:p>
            <a:pPr marL="1371600" lvl="3" indent="457200" algn="l">
              <a:lnSpc>
                <a:spcPct val="15000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Calibri Light" panose="020F0302020204030204" charset="0"/>
                <a:ea typeface="Poppins" panose="00000500000000000000"/>
                <a:cs typeface="Calibri Light" panose="020F0302020204030204" charset="0"/>
                <a:sym typeface="Poppins" panose="00000500000000000000"/>
              </a:rPr>
              <a:t>— IMU + EMG data integrated with video inference</a:t>
            </a:r>
            <a:endParaRPr lang="en-US" b="1" dirty="0">
              <a:solidFill>
                <a:srgbClr val="FFFFFF"/>
              </a:solidFill>
              <a:latin typeface="Calibri Light" panose="020F0302020204030204" charset="0"/>
              <a:ea typeface="Poppins" panose="00000500000000000000"/>
              <a:cs typeface="Calibri Light" panose="020F0302020204030204" charset="0"/>
              <a:sym typeface="Poppins" panose="00000500000000000000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Calibri Light" panose="020F0302020204030204" charset="0"/>
                <a:ea typeface="Poppins" panose="00000500000000000000"/>
                <a:cs typeface="Calibri Light" panose="020F0302020204030204" charset="0"/>
                <a:sym typeface="Poppins" panose="00000500000000000000"/>
              </a:rPr>
              <a:t>•  Real-Time Coaching Feedback</a:t>
            </a:r>
            <a:endParaRPr lang="en-US" b="1" dirty="0">
              <a:solidFill>
                <a:srgbClr val="FFFFFF"/>
              </a:solidFill>
              <a:latin typeface="Calibri Light" panose="020F0302020204030204" charset="0"/>
              <a:ea typeface="Poppins" panose="00000500000000000000"/>
              <a:cs typeface="Calibri Light" panose="020F0302020204030204" charset="0"/>
              <a:sym typeface="Poppins" panose="00000500000000000000"/>
            </a:endParaRPr>
          </a:p>
          <a:p>
            <a:pPr marL="1371600" lvl="3" indent="457200" algn="l">
              <a:lnSpc>
                <a:spcPct val="15000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Calibri Light" panose="020F0302020204030204" charset="0"/>
                <a:ea typeface="Poppins" panose="00000500000000000000"/>
                <a:cs typeface="Calibri Light" panose="020F0302020204030204" charset="0"/>
                <a:sym typeface="Poppins" panose="00000500000000000000"/>
              </a:rPr>
              <a:t> — Live audio-visual alerts during training sessions</a:t>
            </a:r>
            <a:endParaRPr b="1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81360" y="6620256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8FAFC"/>
                </a:solidFill>
              </a:defRPr>
            </a:pPr>
            <a:r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0383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5"/>
          <p:cNvSpPr/>
          <p:nvPr/>
        </p:nvSpPr>
        <p:spPr>
          <a:xfrm>
            <a:off x="6396355" y="-664845"/>
            <a:ext cx="6508750" cy="5338445"/>
          </a:xfrm>
          <a:custGeom>
            <a:avLst/>
            <a:gdLst/>
            <a:ahLst/>
            <a:cxnLst/>
            <a:rect l="l" t="t" r="r" b="b"/>
            <a:pathLst>
              <a:path w="5216487" h="5216487">
                <a:moveTo>
                  <a:pt x="0" y="0"/>
                </a:moveTo>
                <a:lnTo>
                  <a:pt x="5216487" y="0"/>
                </a:lnTo>
                <a:lnTo>
                  <a:pt x="5216487" y="5216487"/>
                </a:lnTo>
                <a:lnTo>
                  <a:pt x="0" y="52164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00000">
            <a:off x="7522845" y="440055"/>
            <a:ext cx="5136515" cy="73285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368935" y="0"/>
            <a:ext cx="12560300" cy="701421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555" b="-55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 Box 6"/>
          <p:cNvSpPr txBox="1"/>
          <p:nvPr/>
        </p:nvSpPr>
        <p:spPr>
          <a:xfrm>
            <a:off x="745914" y="532045"/>
            <a:ext cx="4063789" cy="706755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rPr lang="en-IN" sz="4000">
                <a:solidFill>
                  <a:schemeClr val="bg1"/>
                </a:solidFill>
                <a:sym typeface="+mn-ea"/>
              </a:rPr>
              <a:t>Results</a:t>
            </a:r>
            <a:endParaRPr lang="en-US" sz="4000" b="1">
              <a:latin typeface="Franklin Gothic Heavy" panose="020B0903020102020204" charset="0"/>
              <a:ea typeface="Microsoft YaHei" panose="020B0503020204020204" charset="-122"/>
              <a:cs typeface="Franklin Gothic Heavy" panose="020B0903020102020204" charset="0"/>
            </a:endParaRPr>
          </a:p>
        </p:txBody>
      </p:sp>
      <p:sp>
        <p:nvSpPr>
          <p:cNvPr id="8" name="Freeform 3"/>
          <p:cNvSpPr/>
          <p:nvPr/>
        </p:nvSpPr>
        <p:spPr>
          <a:xfrm>
            <a:off x="-187960" y="1162050"/>
            <a:ext cx="11844655" cy="5080635"/>
          </a:xfrm>
          <a:custGeom>
            <a:avLst/>
            <a:gdLst/>
            <a:ahLst/>
            <a:cxnLst/>
            <a:rect l="l" t="t" r="r" b="b"/>
            <a:pathLst>
              <a:path w="12432752" h="10241480">
                <a:moveTo>
                  <a:pt x="0" y="0"/>
                </a:moveTo>
                <a:lnTo>
                  <a:pt x="12432753" y="0"/>
                </a:lnTo>
                <a:lnTo>
                  <a:pt x="12432753" y="10241480"/>
                </a:lnTo>
                <a:lnTo>
                  <a:pt x="0" y="1024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/>
            </a:stretch>
          </a:blipFill>
        </p:spPr>
        <p:txBody>
          <a:bodyPr/>
          <a:p>
            <a:endParaRPr lang="en-US"/>
          </a:p>
        </p:txBody>
      </p:sp>
      <p:sp>
        <p:nvSpPr>
          <p:cNvPr id="14" name="Freeform 3"/>
          <p:cNvSpPr/>
          <p:nvPr/>
        </p:nvSpPr>
        <p:spPr>
          <a:xfrm>
            <a:off x="-2105025" y="1012190"/>
            <a:ext cx="8851900" cy="6910070"/>
          </a:xfrm>
          <a:custGeom>
            <a:avLst/>
            <a:gdLst/>
            <a:ahLst/>
            <a:cxnLst/>
            <a:rect l="l" t="t" r="r" b="b"/>
            <a:pathLst>
              <a:path w="8852053" h="8852053">
                <a:moveTo>
                  <a:pt x="0" y="0"/>
                </a:moveTo>
                <a:lnTo>
                  <a:pt x="8852053" y="0"/>
                </a:lnTo>
                <a:lnTo>
                  <a:pt x="8852053" y="8852054"/>
                </a:lnTo>
                <a:lnTo>
                  <a:pt x="0" y="88520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99" r="15112" b="8314"/>
          <a:stretch>
            <a:fillRect/>
          </a:stretch>
        </p:blipFill>
        <p:spPr>
          <a:xfrm>
            <a:off x="401955" y="1872615"/>
            <a:ext cx="4909185" cy="3669665"/>
          </a:xfrm>
          <a:prstGeom prst="rect">
            <a:avLst/>
          </a:prstGeom>
        </p:spPr>
      </p:pic>
      <p:sp>
        <p:nvSpPr>
          <p:cNvPr id="13" name="Freeform 6"/>
          <p:cNvSpPr/>
          <p:nvPr/>
        </p:nvSpPr>
        <p:spPr>
          <a:xfrm>
            <a:off x="-3460223" y="161530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0" y="0"/>
                </a:moveTo>
                <a:lnTo>
                  <a:pt x="7315200" y="0"/>
                </a:lnTo>
                <a:lnTo>
                  <a:pt x="7315200" y="1077330"/>
                </a:lnTo>
                <a:lnTo>
                  <a:pt x="0" y="1077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5"/>
          <p:cNvSpPr/>
          <p:nvPr/>
        </p:nvSpPr>
        <p:spPr>
          <a:xfrm>
            <a:off x="10121900" y="3860165"/>
            <a:ext cx="5216525" cy="8766810"/>
          </a:xfrm>
          <a:custGeom>
            <a:avLst/>
            <a:gdLst/>
            <a:ahLst/>
            <a:cxnLst/>
            <a:rect l="l" t="t" r="r" b="b"/>
            <a:pathLst>
              <a:path w="5216487" h="5216487">
                <a:moveTo>
                  <a:pt x="0" y="0"/>
                </a:moveTo>
                <a:lnTo>
                  <a:pt x="5216487" y="0"/>
                </a:lnTo>
                <a:lnTo>
                  <a:pt x="5216487" y="5216487"/>
                </a:lnTo>
                <a:lnTo>
                  <a:pt x="0" y="52164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1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505" y="1718945"/>
            <a:ext cx="5517515" cy="39763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2190730" cy="685736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555" b="-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445" y="223520"/>
            <a:ext cx="11947525" cy="6616065"/>
          </a:xfrm>
          <a:custGeom>
            <a:avLst/>
            <a:gdLst/>
            <a:ahLst/>
            <a:cxnLst/>
            <a:rect l="l" t="t" r="r" b="b"/>
            <a:pathLst>
              <a:path w="12432752" h="10241480">
                <a:moveTo>
                  <a:pt x="0" y="0"/>
                </a:moveTo>
                <a:lnTo>
                  <a:pt x="12432753" y="0"/>
                </a:lnTo>
                <a:lnTo>
                  <a:pt x="12432753" y="10241480"/>
                </a:lnTo>
                <a:lnTo>
                  <a:pt x="0" y="1024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/>
            </a:stretch>
          </a:blipFill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4" t="18577" r="14563" b="5193"/>
          <a:stretch>
            <a:fillRect/>
          </a:stretch>
        </p:blipFill>
        <p:spPr>
          <a:xfrm>
            <a:off x="688340" y="630555"/>
            <a:ext cx="5916930" cy="27006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4" r="4541" b="4715"/>
          <a:stretch>
            <a:fillRect/>
          </a:stretch>
        </p:blipFill>
        <p:spPr>
          <a:xfrm>
            <a:off x="639445" y="3596005"/>
            <a:ext cx="5922010" cy="26701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270" y="630555"/>
            <a:ext cx="5193665" cy="54768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2191365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555" b="-555"/>
            </a:stretch>
          </a:blipFill>
        </p:spPr>
      </p:sp>
      <p:sp>
        <p:nvSpPr>
          <p:cNvPr id="5" name="Text Box 4"/>
          <p:cNvSpPr txBox="1"/>
          <p:nvPr/>
        </p:nvSpPr>
        <p:spPr>
          <a:xfrm>
            <a:off x="2031894" y="2998800"/>
            <a:ext cx="8127577" cy="11684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en-IN" sz="7000" b="1">
                <a:solidFill>
                  <a:schemeClr val="bg1"/>
                </a:solidFill>
                <a:sym typeface="+mn-ea"/>
              </a:rPr>
              <a:t>Thank You</a:t>
            </a:r>
            <a:endParaRPr lang="en-IN" sz="7000" b="1" spc="40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4" name="Freeform 6"/>
          <p:cNvSpPr/>
          <p:nvPr/>
        </p:nvSpPr>
        <p:spPr>
          <a:xfrm rot="10800000">
            <a:off x="213252" y="2686925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0" y="0"/>
                </a:moveTo>
                <a:lnTo>
                  <a:pt x="7315200" y="0"/>
                </a:lnTo>
                <a:lnTo>
                  <a:pt x="7315200" y="1077330"/>
                </a:lnTo>
                <a:lnTo>
                  <a:pt x="0" y="107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581417" y="3307320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0" y="0"/>
                </a:moveTo>
                <a:lnTo>
                  <a:pt x="7315200" y="0"/>
                </a:lnTo>
                <a:lnTo>
                  <a:pt x="7315200" y="1077330"/>
                </a:lnTo>
                <a:lnTo>
                  <a:pt x="0" y="107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220000">
            <a:off x="903605" y="0"/>
            <a:ext cx="9948545" cy="10511790"/>
          </a:xfrm>
          <a:custGeom>
            <a:avLst/>
            <a:gdLst/>
            <a:ahLst/>
            <a:cxnLst/>
            <a:rect l="l" t="t" r="r" b="b"/>
            <a:pathLst>
              <a:path w="8852053" h="8852053">
                <a:moveTo>
                  <a:pt x="0" y="0"/>
                </a:moveTo>
                <a:lnTo>
                  <a:pt x="8852053" y="0"/>
                </a:lnTo>
                <a:lnTo>
                  <a:pt x="8852053" y="8852054"/>
                </a:lnTo>
                <a:lnTo>
                  <a:pt x="0" y="8852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5"/>
          <p:cNvSpPr/>
          <p:nvPr/>
        </p:nvSpPr>
        <p:spPr>
          <a:xfrm>
            <a:off x="-3329305" y="-4683125"/>
            <a:ext cx="5216525" cy="8447405"/>
          </a:xfrm>
          <a:custGeom>
            <a:avLst/>
            <a:gdLst/>
            <a:ahLst/>
            <a:cxnLst/>
            <a:rect l="l" t="t" r="r" b="b"/>
            <a:pathLst>
              <a:path w="5216487" h="5216487">
                <a:moveTo>
                  <a:pt x="0" y="0"/>
                </a:moveTo>
                <a:lnTo>
                  <a:pt x="5216487" y="0"/>
                </a:lnTo>
                <a:lnTo>
                  <a:pt x="5216487" y="5216487"/>
                </a:lnTo>
                <a:lnTo>
                  <a:pt x="0" y="52164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1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5"/>
          <p:cNvSpPr/>
          <p:nvPr/>
        </p:nvSpPr>
        <p:spPr>
          <a:xfrm>
            <a:off x="10487025" y="-3364865"/>
            <a:ext cx="5216525" cy="7014210"/>
          </a:xfrm>
          <a:custGeom>
            <a:avLst/>
            <a:gdLst/>
            <a:ahLst/>
            <a:cxnLst/>
            <a:rect l="l" t="t" r="r" b="b"/>
            <a:pathLst>
              <a:path w="5216487" h="5216487">
                <a:moveTo>
                  <a:pt x="0" y="0"/>
                </a:moveTo>
                <a:lnTo>
                  <a:pt x="5216487" y="0"/>
                </a:lnTo>
                <a:lnTo>
                  <a:pt x="5216487" y="5216487"/>
                </a:lnTo>
                <a:lnTo>
                  <a:pt x="0" y="52164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1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5888</Words>
  <Application>WPS Presentation</Application>
  <PresentationFormat>On-screen Show (4:3)</PresentationFormat>
  <Paragraphs>335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SimSun</vt:lpstr>
      <vt:lpstr>Wingdings</vt:lpstr>
      <vt:lpstr>Arial</vt:lpstr>
      <vt:lpstr>Aptos Display</vt:lpstr>
      <vt:lpstr>Segoe UI Variable Display</vt:lpstr>
      <vt:lpstr>Aptos</vt:lpstr>
      <vt:lpstr>Calibri Light</vt:lpstr>
      <vt:lpstr>Poppins</vt:lpstr>
      <vt:lpstr>Microsoft YaHei</vt:lpstr>
      <vt:lpstr>Franklin Gothic Heavy</vt:lpstr>
      <vt:lpstr>Calibri</vt:lpstr>
      <vt:lpstr>Segoe UI</vt:lpstr>
      <vt:lpstr>Arial Unicode MS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Injury Risk Detection from Video</dc:title>
  <dc:creator>OpenAI</dc:creator>
  <cp:keywords>sports injury, computer vision, pose estimation, biomechanics, AI</cp:keywords>
  <dc:description>generated using python-pptx</dc:description>
  <dc:subject>AI-powered sports injury intelligence platform</dc:subject>
  <cp:lastModifiedBy>venka</cp:lastModifiedBy>
  <cp:revision>11</cp:revision>
  <dcterms:created xsi:type="dcterms:W3CDTF">2013-01-27T09:14:00Z</dcterms:created>
  <dcterms:modified xsi:type="dcterms:W3CDTF">2026-08-20T16:59:32Z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49B48EC099A44B7DAEA5D3D32428CC4E_12</vt:lpwstr>
  </property>
</Properties>
</file>