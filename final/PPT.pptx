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F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00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7D8A-74DA-EE38-EA40-C90EAB6F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219F0-EC4D-B411-6A74-5F9692D74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28191-0A6F-DC20-27A1-A80FECE8A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20BBC-9ECC-9F64-6AC5-D7C20EC6C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63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06B3-6A03-B61E-BD0B-9B5E4246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EF125-3645-63CF-F868-AEF09BE1F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C3A98-C17E-3A08-DA6E-948D160F9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281EC-BCC9-645A-59DF-E26C124ED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66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872C-5342-AB98-8DB9-8EEE07E6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08458-37A8-C68B-3212-9D47C120F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634F0-B104-1CCF-6E59-F80BF9B7B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59A8F-C7E8-8D33-4207-B1C77D41A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8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7F68D-3F1C-6834-4193-F5137424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CBECC-DB22-8DBC-219A-C5206D7CC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5" t="1016" r="1226" b="916"/>
          <a:stretch>
            <a:fillRect/>
          </a:stretch>
        </p:blipFill>
        <p:spPr>
          <a:xfrm>
            <a:off x="5546785" y="103516"/>
            <a:ext cx="6512943" cy="6616461"/>
          </a:xfrm>
          <a:prstGeom prst="rect">
            <a:avLst/>
          </a:prstGeom>
        </p:spPr>
      </p:pic>
      <p:sp>
        <p:nvSpPr>
          <p:cNvPr id="33" name="Text 31">
            <a:extLst>
              <a:ext uri="{FF2B5EF4-FFF2-40B4-BE49-F238E27FC236}">
                <a16:creationId xmlns:a16="http://schemas.microsoft.com/office/drawing/2014/main" id="{333EB08B-1C21-FFB5-FDC5-56CAFE91C570}"/>
              </a:ext>
            </a:extLst>
          </p:cNvPr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48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1520740-AC0E-7218-2EE0-F76EDD74C937}"/>
              </a:ext>
            </a:extLst>
          </p:cNvPr>
          <p:cNvSpPr/>
          <p:nvPr/>
        </p:nvSpPr>
        <p:spPr>
          <a:xfrm>
            <a:off x="640080" y="26517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Injury Risk Detection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Video</a:t>
            </a:r>
            <a:endParaRPr lang="en-US" sz="40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38A5C0D-7452-6C55-FA6A-4CC9DBCFFAFE}"/>
              </a:ext>
            </a:extLst>
          </p:cNvPr>
          <p:cNvSpPr/>
          <p:nvPr/>
        </p:nvSpPr>
        <p:spPr>
          <a:xfrm>
            <a:off x="640080" y="4343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platform for proactive athlete injury prevention — pose estimation, biomechanics, and an explainable injury risk score.</a:t>
            </a:r>
            <a:endParaRPr lang="en-US" sz="15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2C3517D-0B2B-F155-B072-48FA80A8A12B}"/>
              </a:ext>
            </a:extLst>
          </p:cNvPr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1–4  —  Full-stack build, tested end to end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D35E2-D98B-9813-26A6-5A80CC50A5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-1" y="0"/>
            <a:ext cx="5546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7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2EC68-CFD2-3CBD-4BA5-5B65A46A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122E1A-ACDA-5B99-BEFA-A426619AD949}"/>
              </a:ext>
            </a:extLst>
          </p:cNvPr>
          <p:cNvSpPr/>
          <p:nvPr/>
        </p:nvSpPr>
        <p:spPr>
          <a:xfrm>
            <a:off x="640080" y="502920"/>
            <a:ext cx="10561320" cy="549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- Overview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E87D1E-C0E1-91AD-9E9B-5EA7CA034732}"/>
              </a:ext>
            </a:extLst>
          </p:cNvPr>
          <p:cNvSpPr/>
          <p:nvPr/>
        </p:nvSpPr>
        <p:spPr>
          <a:xfrm>
            <a:off x="640080" y="1084341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live Application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F3C971F-A049-D431-2AA7-F382B4C376FF}"/>
              </a:ext>
            </a:extLst>
          </p:cNvPr>
          <p:cNvSpPr/>
          <p:nvPr/>
        </p:nvSpPr>
        <p:spPr>
          <a:xfrm>
            <a:off x="100584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60D095-0FEA-5A02-48EB-E1FDD3F695EF}"/>
              </a:ext>
            </a:extLst>
          </p:cNvPr>
          <p:cNvSpPr/>
          <p:nvPr/>
        </p:nvSpPr>
        <p:spPr>
          <a:xfrm>
            <a:off x="100584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951F6A6-DEE4-A9AC-4877-003355868166}"/>
              </a:ext>
            </a:extLst>
          </p:cNvPr>
          <p:cNvSpPr/>
          <p:nvPr/>
        </p:nvSpPr>
        <p:spPr>
          <a:xfrm>
            <a:off x="475488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EC59746-01CF-EB98-F256-D7965B64482C}"/>
              </a:ext>
            </a:extLst>
          </p:cNvPr>
          <p:cNvSpPr/>
          <p:nvPr/>
        </p:nvSpPr>
        <p:spPr>
          <a:xfrm>
            <a:off x="475488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5338374-F8D0-FA4F-A732-804FC4DB6991}"/>
              </a:ext>
            </a:extLst>
          </p:cNvPr>
          <p:cNvSpPr/>
          <p:nvPr/>
        </p:nvSpPr>
        <p:spPr>
          <a:xfrm>
            <a:off x="850392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4B2018F-EF3D-0018-8337-E609AD492F8F}"/>
              </a:ext>
            </a:extLst>
          </p:cNvPr>
          <p:cNvSpPr/>
          <p:nvPr/>
        </p:nvSpPr>
        <p:spPr>
          <a:xfrm>
            <a:off x="850392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605D5D-D85B-3142-FA43-38644C595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20" y="1639019"/>
            <a:ext cx="6226536" cy="448573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D7D2647-818D-8065-D599-6137B9F80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51" y="69011"/>
            <a:ext cx="5291902" cy="653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8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61320" cy="549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84341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proactive, video-based screening matters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77440"/>
            <a:ext cx="685800" cy="685800"/>
          </a:xfrm>
          <a:prstGeom prst="ellipse">
            <a:avLst/>
          </a:prstGeom>
          <a:solidFill>
            <a:srgbClr val="3A2020"/>
          </a:solidFill>
          <a:ln/>
        </p:spPr>
      </p:sp>
      <p:pic>
        <p:nvPicPr>
          <p:cNvPr id="6" name="Image 0" descr="/home/claude/pptx_build/icon_alert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25557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0584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injury prevention happens after the injury — once it's too late to change the outcome.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2377440"/>
            <a:ext cx="685800" cy="685800"/>
          </a:xfrm>
          <a:prstGeom prst="ellipse">
            <a:avLst/>
          </a:prstGeom>
          <a:solidFill>
            <a:srgbClr val="3A2E10"/>
          </a:solidFill>
          <a:ln/>
        </p:spPr>
      </p:sp>
      <p:pic>
        <p:nvPicPr>
          <p:cNvPr id="11" name="Image 1" descr="/home/claude/pptx_build/icon_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25557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75488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movement screening depends heavily on who's watching and how experienced they are.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2377440"/>
            <a:ext cx="685800" cy="68580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16" name="Image 2" descr="/home/claude/pptx_build/icon_char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25557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Unscalable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50392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physiotherapist can't personally screen every athlete on a roster, every week.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70560" y="1254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from raw footage to an explainable risk score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74520" y="3749040"/>
            <a:ext cx="8442655" cy="0"/>
          </a:xfrm>
          <a:prstGeom prst="line">
            <a:avLst/>
          </a:prstGeom>
          <a:noFill/>
          <a:ln w="25400">
            <a:solidFill>
              <a:srgbClr val="26325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02920" y="3063240"/>
            <a:ext cx="1371600" cy="137160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6" name="Image 0" descr="/home/claude/pptx_build/icon_video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41985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063240"/>
            <a:ext cx="1371600" cy="1371600"/>
          </a:xfrm>
          <a:prstGeom prst="ellipse">
            <a:avLst/>
          </a:prstGeom>
          <a:ln w="19050">
            <a:solidFill>
              <a:srgbClr val="22D3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-22860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-32004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or match clip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828800" y="3493008"/>
            <a:ext cx="1991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774338" y="3063240"/>
            <a:ext cx="1371600" cy="137160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12" name="Image 1" descr="/home/claude/pptx_build/icon_sca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954" y="3419856"/>
            <a:ext cx="658368" cy="6583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774338" y="3063240"/>
            <a:ext cx="1371600" cy="1371600"/>
          </a:xfrm>
          <a:prstGeom prst="ellipse">
            <a:avLst/>
          </a:prstGeom>
          <a:ln w="19050">
            <a:solidFill>
              <a:srgbClr val="22D3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42818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Pose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51378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body keypoints per frame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100218" y="3493008"/>
            <a:ext cx="1991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045757" y="3063240"/>
            <a:ext cx="1371600" cy="137160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18" name="Image 2" descr="/home/claude/pptx_build/icon_activity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373" y="3419856"/>
            <a:ext cx="658368" cy="6583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045757" y="3063240"/>
            <a:ext cx="1371600" cy="1371600"/>
          </a:xfrm>
          <a:prstGeom prst="ellipse">
            <a:avLst/>
          </a:prstGeom>
          <a:ln w="19050">
            <a:solidFill>
              <a:srgbClr val="22D3C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14237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Biomechanics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22797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angles, symmetry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71637" y="3493008"/>
            <a:ext cx="1991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10317175" y="3063240"/>
            <a:ext cx="1371600" cy="1371600"/>
          </a:xfrm>
          <a:prstGeom prst="ellipse">
            <a:avLst/>
          </a:prstGeom>
          <a:solidFill>
            <a:srgbClr val="241F44"/>
          </a:solidFill>
          <a:ln/>
        </p:spPr>
      </p:sp>
      <p:pic>
        <p:nvPicPr>
          <p:cNvPr id="24" name="Image 3" descr="/home/claude/pptx_build/icon_shield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3791" y="3419856"/>
            <a:ext cx="658368" cy="65836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317175" y="3063240"/>
            <a:ext cx="1371600" cy="1371600"/>
          </a:xfrm>
          <a:prstGeom prst="ellipse">
            <a:avLst/>
          </a:prstGeom>
          <a:ln w="19050">
            <a:solidFill>
              <a:srgbClr val="7C6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585655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 Score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494215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0–100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920240"/>
            <a:ext cx="640080" cy="64008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5" name="Image 0" descr="/home/claude/pptx_build/icon_lo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81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51560" y="3026664"/>
            <a:ext cx="82296" cy="82296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2816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51560" y="3648456"/>
            <a:ext cx="82296" cy="82296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34381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Alembic migrations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51560" y="4270248"/>
            <a:ext cx="82296" cy="82296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OpenCV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51560" y="4892040"/>
            <a:ext cx="82296" cy="82296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4681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17920" y="150876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29400" y="1920240"/>
            <a:ext cx="640080" cy="640080"/>
          </a:xfrm>
          <a:prstGeom prst="ellipse">
            <a:avLst/>
          </a:prstGeom>
          <a:solidFill>
            <a:srgbClr val="241F44"/>
          </a:solidFill>
          <a:ln/>
        </p:spPr>
      </p:sp>
      <p:pic>
        <p:nvPicPr>
          <p:cNvPr id="17" name="Image 1" descr="/home/claude/pptx_build/icon_dashboard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208666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629400" y="3026664"/>
            <a:ext cx="82296" cy="82296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0" y="2816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629400" y="3648456"/>
            <a:ext cx="82296" cy="82296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34381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629400" y="4270248"/>
            <a:ext cx="82296" cy="82296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0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629400" y="4892040"/>
            <a:ext cx="82296" cy="82296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0" y="4681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Testing Library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5320" y="72603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Roles &amp; Athlete Records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94360" cy="59436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6" name="Image 0" descr="/home/claude/pptx_build/icon_lo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login; every permission enforced server-side, not just hidden in the UI.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920240"/>
            <a:ext cx="594360" cy="594360"/>
          </a:xfrm>
          <a:prstGeom prst="ellipse">
            <a:avLst/>
          </a:prstGeom>
          <a:solidFill>
            <a:srgbClr val="241F44"/>
          </a:solidFill>
          <a:ln/>
        </p:spPr>
      </p:sp>
      <p:pic>
        <p:nvPicPr>
          <p:cNvPr id="11" name="Image 1" descr="/home/claude/pptx_build/icon_users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20747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Athlete, Coach, Physiotherapist, Sports Scientist, Admin — each with distinct read/write rules.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4206240"/>
            <a:ext cx="594360" cy="594360"/>
          </a:xfrm>
          <a:prstGeom prst="ellipse">
            <a:avLst/>
          </a:prstGeom>
          <a:solidFill>
            <a:srgbClr val="3A2E10"/>
          </a:solidFill>
          <a:ln/>
        </p:spPr>
      </p:sp>
      <p:pic>
        <p:nvPicPr>
          <p:cNvPr id="16" name="Image 2" descr="/home/claude/pptx_build/icon_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4" y="43607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0120" y="4937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Injuries, performance, assessments, training load — one table each, not free-text fields.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206240"/>
            <a:ext cx="594360" cy="594360"/>
          </a:xfrm>
          <a:prstGeom prst="ellipse">
            <a:avLst/>
          </a:prstGeom>
          <a:solidFill>
            <a:srgbClr val="1C3324"/>
          </a:solidFill>
          <a:ln/>
        </p:spPr>
      </p:sp>
      <p:pic>
        <p:nvPicPr>
          <p:cNvPr id="21" name="Image 3" descr="/home/claude/pptx_build/icon_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494" y="43607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Migration-Managed Schema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937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change is a reviewable, reversible Alembic migration.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&amp; Biomechanics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54546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keypoints tracked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video frame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54580" y="4709160"/>
            <a:ext cx="777240" cy="77724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8" name="Image 0" descr="/home/claude/pptx_build/icon_sca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662" y="4911242"/>
            <a:ext cx="373075" cy="3730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212080" y="1691640"/>
            <a:ext cx="594360" cy="594360"/>
          </a:xfrm>
          <a:prstGeom prst="ellipse">
            <a:avLst/>
          </a:prstGeom>
          <a:solidFill>
            <a:srgbClr val="1B2439"/>
          </a:solidFill>
          <a:ln/>
        </p:spPr>
      </p:sp>
      <p:pic>
        <p:nvPicPr>
          <p:cNvPr id="10" name="Image 1" descr="/home/claude/pptx_build/icon_video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614" y="18461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9320" y="16459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Overlay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989320" y="203911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draws a live skeleton over the uploaded video, frame by frame.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212080" y="2990088"/>
            <a:ext cx="594360" cy="594360"/>
          </a:xfrm>
          <a:prstGeom prst="ellipse">
            <a:avLst/>
          </a:prstGeom>
          <a:solidFill>
            <a:srgbClr val="1B2439"/>
          </a:solidFill>
          <a:ln/>
        </p:spPr>
      </p:sp>
      <p:pic>
        <p:nvPicPr>
          <p:cNvPr id="14" name="Image 2" descr="/home/claude/pptx_build/icon_activity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6614" y="314462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89320" y="294436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 Calculation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989320" y="3337560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Knee, hip, and elbow flexion angles — plus a frontal-plane knee valgus proxy.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212080" y="4288536"/>
            <a:ext cx="594360" cy="594360"/>
          </a:xfrm>
          <a:prstGeom prst="ellipse">
            <a:avLst/>
          </a:prstGeom>
          <a:solidFill>
            <a:srgbClr val="1B2439"/>
          </a:solidFill>
          <a:ln/>
        </p:spPr>
      </p:sp>
      <p:pic>
        <p:nvPicPr>
          <p:cNvPr id="18" name="Image 3" descr="/home/claude/pptx_build/icon_char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614" y="4443070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89320" y="4242816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Symmetry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989320" y="4636008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motion compared as a clinical Limb Symmetry Index (LSI %).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 Scoring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6297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weighted, explainable 0–100 score — not a black box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Deviations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06240" y="1920240"/>
            <a:ext cx="6217920" cy="384048"/>
          </a:xfrm>
          <a:prstGeom prst="roundRect">
            <a:avLst>
              <a:gd name="adj" fmla="val 14286"/>
            </a:avLst>
          </a:prstGeom>
          <a:solidFill>
            <a:srgbClr val="1B2439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920240"/>
            <a:ext cx="6217920" cy="384048"/>
          </a:xfrm>
          <a:prstGeom prst="roundRect">
            <a:avLst>
              <a:gd name="adj" fmla="val 14286"/>
            </a:avLst>
          </a:prstGeom>
          <a:solidFill>
            <a:srgbClr val="22D3C7"/>
          </a:solidFill>
          <a:ln/>
        </p:spPr>
      </p:sp>
      <p:sp>
        <p:nvSpPr>
          <p:cNvPr id="8" name="Text 6"/>
          <p:cNvSpPr/>
          <p:nvPr/>
        </p:nvSpPr>
        <p:spPr>
          <a:xfrm>
            <a:off x="1056132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Asymmetry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06240" y="2542032"/>
            <a:ext cx="6217920" cy="384048"/>
          </a:xfrm>
          <a:prstGeom prst="roundRect">
            <a:avLst>
              <a:gd name="adj" fmla="val 14286"/>
            </a:avLst>
          </a:prstGeom>
          <a:solidFill>
            <a:srgbClr val="1B2439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2542032"/>
            <a:ext cx="3553097" cy="384048"/>
          </a:xfrm>
          <a:prstGeom prst="roundRect">
            <a:avLst>
              <a:gd name="adj" fmla="val 14286"/>
            </a:avLst>
          </a:prstGeom>
          <a:solidFill>
            <a:srgbClr val="7C6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61320" y="24963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1181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Injury Factors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163824"/>
            <a:ext cx="6217920" cy="384048"/>
          </a:xfrm>
          <a:prstGeom prst="roundRect">
            <a:avLst>
              <a:gd name="adj" fmla="val 14286"/>
            </a:avLst>
          </a:prstGeom>
          <a:solidFill>
            <a:srgbClr val="1B2439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3163824"/>
            <a:ext cx="3553097" cy="384048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61320" y="31181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7398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206240" y="3785616"/>
            <a:ext cx="6217920" cy="384048"/>
          </a:xfrm>
          <a:prstGeom prst="roundRect">
            <a:avLst>
              <a:gd name="adj" fmla="val 14286"/>
            </a:avLst>
          </a:prstGeom>
          <a:solidFill>
            <a:srgbClr val="1B2439"/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0" y="3785616"/>
            <a:ext cx="2664823" cy="384048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61320" y="37398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3616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206240" y="4407408"/>
            <a:ext cx="6217920" cy="384048"/>
          </a:xfrm>
          <a:prstGeom prst="roundRect">
            <a:avLst>
              <a:gd name="adj" fmla="val 14286"/>
            </a:avLst>
          </a:prstGeom>
          <a:solidFill>
            <a:srgbClr val="1B2439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0" y="4407408"/>
            <a:ext cx="1776549" cy="384048"/>
          </a:xfrm>
          <a:prstGeom prst="roundRect">
            <a:avLst>
              <a:gd name="adj" fmla="val 14286"/>
            </a:avLst>
          </a:prstGeom>
          <a:solidFill>
            <a:srgbClr val="4ADE80"/>
          </a:solidFill>
          <a:ln/>
        </p:spPr>
      </p:sp>
      <p:sp>
        <p:nvSpPr>
          <p:cNvPr id="24" name="Text 22"/>
          <p:cNvSpPr/>
          <p:nvPr/>
        </p:nvSpPr>
        <p:spPr>
          <a:xfrm>
            <a:off x="10561320" y="43616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published sports-science thresholds — Acute:Chronic Workload Ratio, Limb Symmetry Index, Frontal Plane Projection Angle — with every score fully traceable to its contributing factors.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755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Reports &amp;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199"/>
            <a:ext cx="5257800" cy="3083943"/>
          </a:xfrm>
          <a:prstGeom prst="roundRect">
            <a:avLst>
              <a:gd name="adj" fmla="val 5581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94360" cy="59436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6" name="Image 0" descr="/home/claude/pptx_build/icon_dashboar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Roster-wide risk view for coaches — highest risk athletes surfaced first.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19" y="1600200"/>
            <a:ext cx="5257799" cy="3083942"/>
          </a:xfrm>
          <a:prstGeom prst="roundRect">
            <a:avLst>
              <a:gd name="adj" fmla="val 5581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920240"/>
            <a:ext cx="594360" cy="594360"/>
          </a:xfrm>
          <a:prstGeom prst="ellipse">
            <a:avLst/>
          </a:prstGeom>
          <a:solidFill>
            <a:srgbClr val="241F44"/>
          </a:solidFill>
          <a:ln/>
        </p:spPr>
      </p:sp>
      <p:pic>
        <p:nvPicPr>
          <p:cNvPr id="11" name="Image 1" descr="/home/claude/pptx_build/icon_sheet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20747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Excel Reports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risk assessment reports and training-load spreadsheets.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Verified, Not Just Written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 + frontend)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141B2E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7380" y="3840480"/>
            <a:ext cx="777240" cy="777240"/>
          </a:xfrm>
          <a:prstGeom prst="ellipse">
            <a:avLst/>
          </a:prstGeom>
          <a:solidFill>
            <a:srgbClr val="1C3324"/>
          </a:solidFill>
          <a:ln/>
        </p:spPr>
      </p:sp>
      <p:pic>
        <p:nvPicPr>
          <p:cNvPr id="8" name="Image 0" descr="/home/claude/pptx_build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462" y="40425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Postgres in every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— not mocked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3484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bugs, actually caught: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434840" y="2148840"/>
            <a:ext cx="548640" cy="548640"/>
          </a:xfrm>
          <a:prstGeom prst="ellipse">
            <a:avLst/>
          </a:prstGeom>
          <a:solidFill>
            <a:srgbClr val="3A2020"/>
          </a:solidFill>
          <a:ln/>
        </p:spPr>
      </p:sp>
      <p:pic>
        <p:nvPicPr>
          <p:cNvPr id="12" name="Image 1" descr="/home/claude/pptx_build/icon_bug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486" y="22914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codec mismatch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120640" y="24688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wrote MPEG-4 video, but browsers only play H.264 — caught before it shipped, fixed with an ffmpeg transcode step.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34840" y="3447288"/>
            <a:ext cx="548640" cy="548640"/>
          </a:xfrm>
          <a:prstGeom prst="ellipse">
            <a:avLst/>
          </a:prstGeom>
          <a:solidFill>
            <a:srgbClr val="3A2020"/>
          </a:solidFill>
          <a:ln/>
        </p:spPr>
      </p:sp>
      <p:pic>
        <p:nvPicPr>
          <p:cNvPr id="16" name="Image 2" descr="/home/claude/pptx_build/icon_bug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486" y="358993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34015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cleanup bug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120640" y="37673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ENUM types weren't dropped on downgrade — caught by actually round-tripping every migration, twice.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434840" y="4745736"/>
            <a:ext cx="548640" cy="548640"/>
          </a:xfrm>
          <a:prstGeom prst="ellipse">
            <a:avLst/>
          </a:prstGeom>
          <a:solidFill>
            <a:srgbClr val="3A2020"/>
          </a:solidFill>
          <a:ln/>
        </p:spPr>
      </p:sp>
      <p:pic>
        <p:nvPicPr>
          <p:cNvPr id="20" name="Image 3" descr="/home/claude/pptx_build/icon_bug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486" y="4888382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0" y="47000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click-handler bug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120640" y="506577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UI component silently dropped an onClick prop — caught by a test proven to fail on the broken version first.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— an honest self-assessment matters more than a polished pitch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41B2E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3A2020"/>
          </a:solidFill>
          <a:ln/>
        </p:spPr>
      </p:sp>
      <p:pic>
        <p:nvPicPr>
          <p:cNvPr id="6" name="Image 0" descr="/home/claude/pptx_build/icon_alert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8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7884" y="278892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6974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 against real injury outcomes yet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7884" y="377190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6118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Team/Organization model — staff see every athlete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7884" y="4647395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526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 storage &amp; in-process jobs, not multi-server scale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60020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41B2E"/>
          </a:solidFill>
          <a:ln w="12700">
            <a:solidFill>
              <a:srgbClr val="22D3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12332F"/>
          </a:solidFill>
          <a:ln/>
        </p:spPr>
      </p:sp>
      <p:pic>
        <p:nvPicPr>
          <p:cNvPr id="16" name="Image 1" descr="/home/claude/pptx_build/icon_ma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10860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566168" y="2788920"/>
            <a:ext cx="82296" cy="82296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26974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outcome data to validate the risk formula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566168" y="3671316"/>
            <a:ext cx="82296" cy="82296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36118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Team/Organization model to scope staff access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565909" y="4632946"/>
            <a:ext cx="82296" cy="82296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4526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managed cloud storage and a real task queue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1769F-10DA-C2F0-F038-174A6088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3FC624-83B8-393A-5CEA-EE06F7CC57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004560" y="1"/>
            <a:ext cx="6187440" cy="6795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7ABD68-947C-E8FB-4962-9A28BA1C447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0" y="0"/>
            <a:ext cx="6116128" cy="679594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CB3281D-9DAC-D63F-73E4-1E6901B24DD7}"/>
              </a:ext>
            </a:extLst>
          </p:cNvPr>
          <p:cNvSpPr/>
          <p:nvPr/>
        </p:nvSpPr>
        <p:spPr>
          <a:xfrm>
            <a:off x="508240" y="2884673"/>
            <a:ext cx="10561320" cy="549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910BA8-CBA0-CEF6-9A97-E9C71EB3D274}"/>
              </a:ext>
            </a:extLst>
          </p:cNvPr>
          <p:cNvSpPr/>
          <p:nvPr/>
        </p:nvSpPr>
        <p:spPr>
          <a:xfrm>
            <a:off x="640080" y="1084341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B988270-6532-17EA-35ED-428F83AE2CAB}"/>
              </a:ext>
            </a:extLst>
          </p:cNvPr>
          <p:cNvSpPr/>
          <p:nvPr/>
        </p:nvSpPr>
        <p:spPr>
          <a:xfrm>
            <a:off x="100584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B303A8-B480-4530-4468-290CFBBCB869}"/>
              </a:ext>
            </a:extLst>
          </p:cNvPr>
          <p:cNvSpPr/>
          <p:nvPr/>
        </p:nvSpPr>
        <p:spPr>
          <a:xfrm>
            <a:off x="100584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BF9B811-CA22-A152-E0B3-4E75029A7DA4}"/>
              </a:ext>
            </a:extLst>
          </p:cNvPr>
          <p:cNvSpPr/>
          <p:nvPr/>
        </p:nvSpPr>
        <p:spPr>
          <a:xfrm>
            <a:off x="475488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A8414F3-0928-A946-B04F-5B030DA4C01D}"/>
              </a:ext>
            </a:extLst>
          </p:cNvPr>
          <p:cNvSpPr/>
          <p:nvPr/>
        </p:nvSpPr>
        <p:spPr>
          <a:xfrm>
            <a:off x="475488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B0B6D41-CE48-938C-F256-FE62AE7E7D20}"/>
              </a:ext>
            </a:extLst>
          </p:cNvPr>
          <p:cNvSpPr/>
          <p:nvPr/>
        </p:nvSpPr>
        <p:spPr>
          <a:xfrm>
            <a:off x="850392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CA00AFC-AA10-50C0-16C4-65DCE49C7AC5}"/>
              </a:ext>
            </a:extLst>
          </p:cNvPr>
          <p:cNvSpPr/>
          <p:nvPr/>
        </p:nvSpPr>
        <p:spPr>
          <a:xfrm>
            <a:off x="8503920" y="40233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834231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616</Words>
  <Application>Microsoft Office PowerPoint</Application>
  <PresentationFormat>Widescreen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RANJITH GOWTHAMAN</cp:lastModifiedBy>
  <cp:revision>15</cp:revision>
  <dcterms:created xsi:type="dcterms:W3CDTF">2026-08-13T06:02:42Z</dcterms:created>
  <dcterms:modified xsi:type="dcterms:W3CDTF">2026-08-18T10:50:46Z</dcterms:modified>
</cp:coreProperties>
</file>