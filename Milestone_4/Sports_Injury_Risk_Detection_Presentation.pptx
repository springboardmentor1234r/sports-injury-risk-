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27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R_USERNAME/YOUR_REPOSITORY" TargetMode="External"/><Relationship Id="rId7" Type="http://schemas.openxmlformats.org/officeDocument/2006/relationships/hyperlink" Target="https://drive.google.com/YOUR-GOOGLE-DRIVE-VIDEO-LINK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ove-iq-theta.vercel.app/" TargetMode="External"/><Relationship Id="rId5" Type="http://schemas.openxmlformats.org/officeDocument/2006/relationships/hyperlink" Target="https://YOUR-LIVE-PROJECT-LINK" TargetMode="External"/><Relationship Id="rId4" Type="http://schemas.openxmlformats.org/officeDocument/2006/relationships/hyperlink" Target="https://github.com/springboardmentor1234r/Sports-Injury-Risk-/tree/debabrata-projec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66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INFOSYS SPRINGBOARD INTERNSHIP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AI-Based Sports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</a:rPr>
              <a:t>Injury Risk Detection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21792" y="27889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0EA"/>
                </a:solidFill>
              </a:rPr>
              <a:t>Video-based athlete movement analysis using computer vision and biomechanical features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7947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005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A4B8"/>
                </a:solidFill>
              </a:rPr>
              <a:t>Presented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Debabrata Dey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0" y="9144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1325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VIDEO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1261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1A4B8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72600" y="1325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</a:rPr>
              <a:t>POSE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0" y="1600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1A4B8"/>
                </a:solidFill>
              </a:rPr>
              <a:t>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778240" y="20025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BIOMECHANICS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0" y="2275923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1A4B8"/>
                </a:solidFill>
              </a:rPr>
              <a:t>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32520" y="26563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7316"/>
                </a:solidFill>
              </a:rPr>
              <a:t>RISK SCORE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80960" y="4069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0EA"/>
                </a:solidFill>
              </a:rPr>
              <a:t>Movement analysis → Risk assessment → Recommendations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Why video-based sports movement analysis is needed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" cy="173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Manual Movement Analysis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Athlete movement is often evaluated through observation, which can be time-consuming and subjective.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417320"/>
            <a:ext cx="73152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Risky Movement Patterns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48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Poor biomechanics, movement asymmetry and incorrect joint mechanics may contribute to injury risk.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657600"/>
            <a:ext cx="73152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Limited Accessibility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389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Advanced motion-analysis systems can require specialized equipment and controlled environments.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657600"/>
            <a:ext cx="73152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Early Risk Identification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4389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Video analysis can help identify potentially risky movement patterns before they lead to serious problems.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The main goals of the proposed 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Detect human body landmarks from athlete movement videos.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32588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6916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15087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Calculate biomechanical measurements such as joint angles and movement symmetry.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27432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01752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08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9260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Identify potentially abnormal or risky movement patterns.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01752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1089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29260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Generate an interpretable injury-risk score.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262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08760" y="43434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Provide corrective recommendations based on detected issues.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44348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52628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0EA"/>
                </a:solidFill>
              </a:rPr>
              <a:t>Provide a platform for authorized users to review analysis results.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&amp;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From athlete video to injury-risk assessment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82880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011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11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0EA"/>
                </a:solidFill>
              </a:rPr>
              <a:t>Athlete movement video is uploaded to the system.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1A4B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4640" y="155448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828800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011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11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Pose Detection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0EA"/>
                </a:solidFill>
              </a:rPr>
              <a:t>MediaPipe detects body landmarks for each video frame.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1A4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66360" y="155448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828800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011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11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Biomechanical Analysis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0EA"/>
                </a:solidFill>
              </a:rPr>
              <a:t>Joint angles, symmetry, trunk lean and movement features are calculated.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7804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1A4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98080" y="155448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83880" y="182880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2011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11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Scoring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2668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0EA"/>
                </a:solidFill>
              </a:rPr>
              <a:t>Movement deviations and other available factors are combined to calculate risk.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50976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1A4B8"/>
                </a:solidFill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829800" y="155448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15600" y="1828800"/>
            <a:ext cx="640080" cy="64008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2011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111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1268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3246120"/>
            <a:ext cx="1554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0EA"/>
                </a:solidFill>
              </a:rPr>
              <a:t>Detected issues are mapped to suitable corrective recommendations.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5349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</a:rPr>
              <a:t>Video → Pose Landmarks → Biomechanical Features → Risk Score → Recommendations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Technology stack used to build, process, deploy and operate the platform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00200"/>
            <a:ext cx="2971800" cy="347472"/>
          </a:xfrm>
          <a:prstGeom prst="roundRect">
            <a:avLst>
              <a:gd name="adj" fmla="val 10526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642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Computer Vision &amp; AI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2311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4884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386584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304288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OpenCV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42032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45973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MediaPipe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697480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261518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NumPy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2852928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770632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Pandas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1371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600200"/>
            <a:ext cx="2971800" cy="347472"/>
          </a:xfrm>
          <a:prstGeom prst="roundRect">
            <a:avLst>
              <a:gd name="adj" fmla="val 10526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6642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Backend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3113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4884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FastAPI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42544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4315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REST APIs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61975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3746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JWT Authentication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14066"/>
            <a:ext cx="73152" cy="731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3177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Role-Based Access Control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83880" y="137160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12480" y="1600200"/>
            <a:ext cx="2971800" cy="347472"/>
          </a:xfrm>
          <a:prstGeom prst="roundRect">
            <a:avLst>
              <a:gd name="adj" fmla="val 10526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16642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Databases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22311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214884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PostgreSQL / Supabase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03920" y="242544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234315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MongoDB Atlas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03920" y="261975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253746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User &amp; profile data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03920" y="281406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0" y="273177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Analysis/session data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35204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22960" y="3749040"/>
            <a:ext cx="2971800" cy="347472"/>
          </a:xfrm>
          <a:prstGeom prst="roundRect">
            <a:avLst>
              <a:gd name="adj" fmla="val 10526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3813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Async &amp; Real-Time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14400" y="437997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429768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Celery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4400" y="457428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7280" y="449199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Redis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4400" y="476859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468630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WebSockets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4400" y="4962906"/>
            <a:ext cx="73152" cy="731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488061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Webhooks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89120" y="35204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17720" y="3749040"/>
            <a:ext cx="2971800" cy="347472"/>
          </a:xfrm>
          <a:prstGeom prst="roundRect">
            <a:avLst>
              <a:gd name="adj" fmla="val 10526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3813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</a:rPr>
              <a:t>Storage &amp; DevOps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09160" y="4379976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429768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Cloudinary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09160" y="4574286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449199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Docker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4768596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68630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Git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09160" y="4962906"/>
            <a:ext cx="73152" cy="7315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92040" y="488061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GitHub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83880" y="352044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412480" y="3749040"/>
            <a:ext cx="2971800" cy="347472"/>
          </a:xfrm>
          <a:prstGeom prst="roundRect">
            <a:avLst>
              <a:gd name="adj" fmla="val 10526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12480" y="38130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503920" y="437997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86800" y="429768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Render - Backend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503920" y="457428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86800" y="449199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Railway - Workers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503920" y="476859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0" y="468630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Vercel - Frontend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503920" y="496290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686800" y="4880610"/>
            <a:ext cx="2560320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CI/CD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FastAPI architecture with asynchronous processing and real-time communication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43000"/>
            <a:ext cx="73152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29844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0EA"/>
                </a:solidFill>
              </a:rPr>
              <a:t>React Dashboard  |  User Interface  |  Vercel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06440" y="17190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A4B8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011680"/>
            <a:ext cx="73152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67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16712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0EA"/>
                </a:solidFill>
              </a:rPr>
              <a:t>FastAPI  |  JWT Authentication  |  RBAC  |  REST APIs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A4B8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880360"/>
            <a:ext cx="73152" cy="6217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35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AI &amp; Video 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03580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0EA"/>
                </a:solidFill>
              </a:rPr>
              <a:t>OpenCV  |  MediaPipe  |  Biomechanical Analysis  |  Risk Scoring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06440" y="3456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A4B8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74904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749040"/>
            <a:ext cx="73152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04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Background Processing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9044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0EA"/>
                </a:solidFill>
              </a:rPr>
              <a:t>Celery Workers  |  Redis Broker / Cache  |  Railway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06440" y="4325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1A4B8"/>
                </a:solidFill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461772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617720"/>
            <a:ext cx="73152" cy="62179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7731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</a:rPr>
              <a:t>Data &amp; 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47731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0EA"/>
                </a:solidFill>
              </a:rPr>
              <a:t>PostgreSQL / Supabase  |  MongoDB Atlas  |  Cloudinary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" y="553212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16263A"/>
          </a:solidFill>
          <a:ln w="12700">
            <a:solidFill>
              <a:srgbClr val="1626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60120" y="56967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</a:rPr>
              <a:t>Real-Time Layer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569671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0EA"/>
                </a:solidFill>
              </a:rPr>
              <a:t>WebSocket → Real-time Chat     |     Webhooks → Frontend Updates &amp; Notifications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&amp; Key Features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Major components implemented in the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0078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Authentication &amp; RBAC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JWT-based authentication with role-based access control.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160020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70078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6052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Athlete 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Athlete profiles and relevant information management.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63640" y="1371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160020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0078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Video Upload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Movement video upload followed by asynchronous processing.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144000" y="137160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72600" y="1600200"/>
            <a:ext cx="411480" cy="4114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70078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92124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Pose Extraction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7260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MediaPipe and OpenCV extract body landmarks from video frames.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02920" y="35204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8496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8016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Biomechanical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389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Joint angles, symmetry and other movement-related metrics.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383280" y="35204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11880" y="374904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8496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6052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Assessment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4389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Detected movement deviations and available factors are used for risk scoring.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263640" y="35204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374904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8496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7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4088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Celery + Redis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4389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Background workers handle time-consuming video processing and asynchronous tasks.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144000" y="352044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372600" y="374904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3849624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111F"/>
                </a:solidFill>
              </a:rPr>
              <a:t>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92124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 Features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372600" y="4389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WebSockets support real-time chat while webhooks support frontend updates and notifications.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Analysis &amp;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Movement metrics used by the system to assess potential risk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Biomechanical Analysis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2311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48840"/>
            <a:ext cx="4206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Joint angle measurements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5785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75560"/>
            <a:ext cx="4206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Movement symmetry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0845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02280"/>
            <a:ext cx="4206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Range of motion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51129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29000"/>
            <a:ext cx="4206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Trunk lean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393801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855720"/>
            <a:ext cx="4206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Knee movement / valgus indicators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36473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282440"/>
            <a:ext cx="4206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Fatigue-related movement changes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263A"/>
          </a:solidFill>
          <a:ln w="12700">
            <a:solidFill>
              <a:srgbClr val="1626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Assessment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21031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0EA"/>
                </a:solidFill>
              </a:rPr>
              <a:t>The system combines detected movement deviations and available athlete factors to produce an interpretable risk assessment.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063240"/>
            <a:ext cx="4389120" cy="384048"/>
          </a:xfrm>
          <a:prstGeom prst="roundRect">
            <a:avLst>
              <a:gd name="adj" fmla="val 9524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1363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LOW 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3657600"/>
            <a:ext cx="4389120" cy="384048"/>
          </a:xfrm>
          <a:prstGeom prst="roundRect">
            <a:avLst>
              <a:gd name="adj" fmla="val 9524"/>
            </a:avLst>
          </a:prstGeom>
          <a:solidFill>
            <a:srgbClr val="FACC15">
              <a:alpha val="25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730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CC15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46520" y="4251960"/>
            <a:ext cx="4389120" cy="384048"/>
          </a:xfrm>
          <a:prstGeom prst="roundRect">
            <a:avLst>
              <a:gd name="adj" fmla="val 9524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325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HIGH RISK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1A4B8"/>
                </a:solidFill>
              </a:rPr>
              <a:t>Actual numerical results and screenshots can be added here from your final test sessions.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Demonstration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Demonstration workflow and project resources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</a:rPr>
              <a:t>Login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User authenticates and accesses the appropriate dashboard.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5544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8249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66360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Athlete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Athlete information is created or selected.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68249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0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Upload Video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Movement video is uploaded for analysis.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4845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547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Video 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Celery worker processes the video using MediaPipe and OpenCV.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97680" y="32918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3520440"/>
            <a:ext cx="457200" cy="45720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64845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6360" y="3547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CC15"/>
                </a:solidFill>
              </a:rPr>
              <a:t>Risk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Biomechanical metrics and risk assessment are displayed.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092440" y="32918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35204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64845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61120" y="35478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6676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D7E0EA"/>
                </a:solidFill>
              </a:rPr>
              <a:t>Corrective recommendations and reports are provided.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40080" y="5166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Resources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0" y="5074920"/>
            <a:ext cx="2423160" cy="502920"/>
          </a:xfrm>
          <a:prstGeom prst="roundRect">
            <a:avLst>
              <a:gd name="adj" fmla="val 9091"/>
            </a:avLst>
          </a:prstGeom>
          <a:solidFill>
            <a:srgbClr val="16263A"/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38" name="Text 36">
            <a:hlinkClick r:id="rId3"/>
          </p:cNvPr>
          <p:cNvSpPr/>
          <p:nvPr/>
        </p:nvSpPr>
        <p:spPr>
          <a:xfrm>
            <a:off x="2743200" y="5221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38BDF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49240" y="507492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16263A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40" name="Text 38">
            <a:hlinkClick r:id="rId5"/>
          </p:cNvPr>
          <p:cNvSpPr/>
          <p:nvPr/>
        </p:nvSpPr>
        <p:spPr>
          <a:xfrm>
            <a:off x="5349240" y="5221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22C55E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Project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635240" y="5074920"/>
            <a:ext cx="2423160" cy="502920"/>
          </a:xfrm>
          <a:prstGeom prst="roundRect">
            <a:avLst>
              <a:gd name="adj" fmla="val 9091"/>
            </a:avLst>
          </a:prstGeom>
          <a:solidFill>
            <a:srgbClr val="16263A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42" name="Text 40">
            <a:hlinkClick r:id="rId7"/>
          </p:cNvPr>
          <p:cNvSpPr/>
          <p:nvPr/>
        </p:nvSpPr>
        <p:spPr>
          <a:xfrm>
            <a:off x="7635240" y="5221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F97316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Video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11680" y="58704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1A4B8"/>
                </a:solidFill>
              </a:rPr>
              <a:t>Click the buttons during the presentation to open the project resources.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5303520"/>
            <a:ext cx="2560320" cy="256032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1A4B8"/>
                </a:solidFill>
              </a:rPr>
              <a:t>Summary of the project and possible improvements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111D2E"/>
          </a:solidFill>
          <a:ln w="12700">
            <a:solidFill>
              <a:srgbClr val="111D2E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3225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The system uses video-based pose estimation to analyze athlete movement.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7797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Biomechanical features can be extracted from body landmark coordinates.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369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154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Movement deviations can be converted into an interpretable risk assessment.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6941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The system provides recommendations based on identified movement issues.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1513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The platform combines AI processing with backend services and a user dashboard.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6085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Asynchronous processing helps handle video-processing workloads efficiently.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16263A"/>
          </a:solidFill>
          <a:ln w="12700">
            <a:solidFill>
              <a:srgbClr val="16263A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645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92240" y="23225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240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Train machine-learning models using larger and better-labelled datasets.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92240" y="27797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697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Improve accuracy through more advanced biomechanical analysis.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2369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Support real-time movement analysis.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6941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6118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Add sport-specific injury-risk models.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41513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Integrate wearable and training-load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4608576"/>
            <a:ext cx="73152" cy="7315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7E0EA"/>
                </a:solidFill>
              </a:rPr>
              <a:t>Improve visualization and athlete performance analytics.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0" y="59184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lgerian" panose="04020705040A02060702" pitchFamily="82" charset="0"/>
              </a:rPr>
              <a:t>Thank You</a:t>
            </a:r>
            <a:endParaRPr lang="en-US" sz="4000" dirty="0">
              <a:latin typeface="Algerian" panose="04020705040A02060702" pitchFamily="8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1A4B8"/>
                </a:solidFill>
              </a:rPr>
              <a:t>Infosys Springboard Internship  |  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882</Words>
  <Application>Microsoft Office PowerPoint</Application>
  <PresentationFormat>Widescreen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Infosys Springboard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Sports Injury Risk Detection from Video</dc:title>
  <dc:subject>AI-Based Sports Injury Risk Detection</dc:subject>
  <dc:creator>Debabrata</dc:creator>
  <cp:lastModifiedBy>Debabrata Dey</cp:lastModifiedBy>
  <cp:revision>2</cp:revision>
  <dcterms:created xsi:type="dcterms:W3CDTF">2026-08-15T03:22:24Z</dcterms:created>
  <dcterms:modified xsi:type="dcterms:W3CDTF">2026-08-15T04:02:30Z</dcterms:modified>
</cp:coreProperties>
</file>