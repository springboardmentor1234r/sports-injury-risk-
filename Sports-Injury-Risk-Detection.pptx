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lgerian" panose="04020705040A02060702" pitchFamily="82" charset="0"/>
      <p:regular r:id="rId15"/>
    </p:embeddedFont>
    <p:embeddedFont>
      <p:font typeface="Arial Rounded MT Bold" panose="020F0704030504030204" pitchFamily="34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Iag3UzWnSG1OqD8DEzcqGxpM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0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10" Type="http://schemas.openxmlformats.org/officeDocument/2006/relationships/image" Target="../media/image15.jpeg"/><Relationship Id="rId4" Type="http://schemas.openxmlformats.org/officeDocument/2006/relationships/image" Target="../media/image11.jpeg"/><Relationship Id="rId9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EDF1EC-65FD-C553-7AE3-4F59BBC04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688" y="51982"/>
            <a:ext cx="18331688" cy="102497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D92D80-752D-61EF-C478-83261A2D6F7C}"/>
              </a:ext>
            </a:extLst>
          </p:cNvPr>
          <p:cNvSpPr txBox="1"/>
          <p:nvPr/>
        </p:nvSpPr>
        <p:spPr>
          <a:xfrm>
            <a:off x="523567" y="1135626"/>
            <a:ext cx="101468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rgbClr val="00B0F0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EA4C-5B24-F6DF-7EFE-39A02E8E373D}"/>
              </a:ext>
            </a:extLst>
          </p:cNvPr>
          <p:cNvSpPr txBox="1"/>
          <p:nvPr/>
        </p:nvSpPr>
        <p:spPr>
          <a:xfrm>
            <a:off x="523567" y="2936886"/>
            <a:ext cx="17240865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Sports injuries can happen because of improper posture and movement.</a:t>
            </a:r>
          </a:p>
          <a:p>
            <a:r>
              <a:rPr lang="en-US" sz="4400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Identifying risky movements manually can be difficult and time-consuming.</a:t>
            </a:r>
          </a:p>
          <a:p>
            <a:r>
              <a:rPr lang="en-US" sz="4400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Athletes need a simple way to analyze their movements using video.</a:t>
            </a:r>
          </a:p>
          <a:p>
            <a:r>
              <a:rPr lang="en-US" sz="4400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Our project uses computer vision and AI techniques to analyze sports movements.</a:t>
            </a:r>
          </a:p>
          <a:p>
            <a:r>
              <a:rPr lang="en-US" sz="4400" dirty="0">
                <a:solidFill>
                  <a:schemeClr val="bg1">
                    <a:lumMod val="9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The system helps identify potential injury-risk factors and provides useful feedback.</a:t>
            </a:r>
            <a:r>
              <a:rPr lang="en-IN" sz="4400" dirty="0">
                <a:solidFill>
                  <a:schemeClr val="bg1">
                    <a:lumMod val="95000"/>
                  </a:schemeClr>
                </a:solidFill>
              </a:rPr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/>
        </p:nvSpPr>
        <p:spPr>
          <a:xfrm>
            <a:off x="1538288" y="7866653"/>
            <a:ext cx="40100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" name="Google Shape;135;p3"/>
          <p:cNvSpPr txBox="1"/>
          <p:nvPr/>
        </p:nvSpPr>
        <p:spPr>
          <a:xfrm>
            <a:off x="398207" y="1396165"/>
            <a:ext cx="1078030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Project Objectives:</a:t>
            </a:r>
            <a:endParaRPr sz="72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3F3648-34E0-939D-89B1-E7E72FF78DC6}"/>
              </a:ext>
            </a:extLst>
          </p:cNvPr>
          <p:cNvSpPr txBox="1"/>
          <p:nvPr/>
        </p:nvSpPr>
        <p:spPr>
          <a:xfrm>
            <a:off x="243348" y="3258524"/>
            <a:ext cx="1127698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>
                    <a:lumMod val="95000"/>
                  </a:schemeClr>
                </a:solidFill>
              </a:rPr>
              <a:t>1.  🎥 Analyse sports videos to understand athlete movements.</a:t>
            </a:r>
          </a:p>
          <a:p>
            <a:r>
              <a:rPr lang="en-IN" sz="3600" dirty="0">
                <a:solidFill>
                  <a:schemeClr val="bg1">
                    <a:lumMod val="95000"/>
                  </a:schemeClr>
                </a:solidFill>
              </a:rPr>
              <a:t>2. 🧍 Detect body landmarks using </a:t>
            </a:r>
            <a:r>
              <a:rPr lang="en-IN" sz="3600" dirty="0" err="1">
                <a:solidFill>
                  <a:schemeClr val="bg1">
                    <a:lumMod val="95000"/>
                  </a:schemeClr>
                </a:solidFill>
              </a:rPr>
              <a:t>MediaPipe</a:t>
            </a:r>
            <a:r>
              <a:rPr lang="en-IN" sz="3600" dirty="0">
                <a:solidFill>
                  <a:schemeClr val="bg1">
                    <a:lumMod val="95000"/>
                  </a:schemeClr>
                </a:solidFill>
              </a:rPr>
              <a:t> Pose.</a:t>
            </a:r>
          </a:p>
          <a:p>
            <a:r>
              <a:rPr lang="en-IN" sz="3600" dirty="0">
                <a:solidFill>
                  <a:schemeClr val="bg1">
                    <a:lumMod val="95000"/>
                  </a:schemeClr>
                </a:solidFill>
              </a:rPr>
              <a:t>3.  📐 Analyse movement and joint angles to identify abnormal   patterns.</a:t>
            </a:r>
          </a:p>
          <a:p>
            <a:r>
              <a:rPr lang="en-IN" sz="3600" dirty="0">
                <a:solidFill>
                  <a:schemeClr val="bg1">
                    <a:lumMod val="95000"/>
                  </a:schemeClr>
                </a:solidFill>
              </a:rPr>
              <a:t>4.  ⚠️ Predict potential injury risk based on movement analysis.</a:t>
            </a:r>
          </a:p>
          <a:p>
            <a:r>
              <a:rPr lang="en-IN" sz="3600" dirty="0">
                <a:solidFill>
                  <a:schemeClr val="bg1">
                    <a:lumMod val="95000"/>
                  </a:schemeClr>
                </a:solidFill>
              </a:rPr>
              <a:t>5.  📄 Generate recommendations and reports for the analysed athlete.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89F5E-8CDD-A63A-4222-FD2AE717A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508" y="3597738"/>
            <a:ext cx="5531949" cy="36879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607755" y="978035"/>
            <a:ext cx="965712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Technology Stack:</a:t>
            </a:r>
            <a:endParaRPr sz="72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433999" y="7691063"/>
            <a:ext cx="47486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4"/>
          <p:cNvSpPr txBox="1"/>
          <p:nvPr/>
        </p:nvSpPr>
        <p:spPr>
          <a:xfrm>
            <a:off x="12819036" y="7242466"/>
            <a:ext cx="4748625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987404-5785-A179-6E9F-39135DDC2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81" y="3031940"/>
            <a:ext cx="2948686" cy="27343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AE4E4-D9C1-F8EE-7579-C12D3EDC1F73}"/>
              </a:ext>
            </a:extLst>
          </p:cNvPr>
          <p:cNvSpPr txBox="1"/>
          <p:nvPr/>
        </p:nvSpPr>
        <p:spPr>
          <a:xfrm>
            <a:off x="872081" y="5929354"/>
            <a:ext cx="41318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>
                    <a:lumMod val="95000"/>
                  </a:schemeClr>
                </a:solidFill>
              </a:rPr>
              <a:t>Used for Programming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96526D-879F-C205-F449-804CDBDCE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942" y="2917157"/>
            <a:ext cx="3130411" cy="27343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BBDFCB-ED64-509F-E441-88E8F65F9E88}"/>
              </a:ext>
            </a:extLst>
          </p:cNvPr>
          <p:cNvSpPr txBox="1"/>
          <p:nvPr/>
        </p:nvSpPr>
        <p:spPr>
          <a:xfrm>
            <a:off x="5117942" y="5876219"/>
            <a:ext cx="3097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>
                    <a:lumMod val="95000"/>
                  </a:schemeClr>
                </a:solidFill>
              </a:rPr>
              <a:t>Used for Backend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DEB3B2-8D04-7166-4137-930BA4923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5528" y="2947503"/>
            <a:ext cx="3004720" cy="28419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1689EF-2214-AF35-5DB7-D9E5F8752DF2}"/>
              </a:ext>
            </a:extLst>
          </p:cNvPr>
          <p:cNvSpPr txBox="1"/>
          <p:nvPr/>
        </p:nvSpPr>
        <p:spPr>
          <a:xfrm>
            <a:off x="9451737" y="5936477"/>
            <a:ext cx="33672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>
                    <a:lumMod val="95000"/>
                  </a:schemeClr>
                </a:solidFill>
              </a:rPr>
              <a:t>Used for Pose Estimation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AECA92C-34C7-8BA1-214A-4F6DA82D1B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11346" y="2917158"/>
            <a:ext cx="3692482" cy="27343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54CA1BD-0EB7-2216-F40E-A3B9C3553BEC}"/>
              </a:ext>
            </a:extLst>
          </p:cNvPr>
          <p:cNvSpPr txBox="1"/>
          <p:nvPr/>
        </p:nvSpPr>
        <p:spPr>
          <a:xfrm>
            <a:off x="13922800" y="5895161"/>
            <a:ext cx="38695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>
                    <a:lumMod val="95000"/>
                  </a:schemeClr>
                </a:solidFill>
              </a:rPr>
              <a:t>Used for Computer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9E6533-28B9-2D9E-C8E7-ABCE3C23F769}"/>
              </a:ext>
            </a:extLst>
          </p:cNvPr>
          <p:cNvSpPr txBox="1"/>
          <p:nvPr/>
        </p:nvSpPr>
        <p:spPr>
          <a:xfrm>
            <a:off x="501445" y="412956"/>
            <a:ext cx="10618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System Workflow: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B60C63-3E5A-934A-F126-12A26F86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160" y="2375410"/>
            <a:ext cx="12528200" cy="74986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327536" y="788106"/>
            <a:ext cx="1332946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Dataset &amp; Pose Estimation:</a:t>
            </a:r>
            <a:endParaRPr sz="72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C9877F-3B9A-7AC4-5F61-F5164F963264}"/>
              </a:ext>
            </a:extLst>
          </p:cNvPr>
          <p:cNvSpPr txBox="1"/>
          <p:nvPr/>
        </p:nvSpPr>
        <p:spPr>
          <a:xfrm>
            <a:off x="327536" y="2772696"/>
            <a:ext cx="9244168" cy="6931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Dataset:</a:t>
            </a: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-&gt; Sports movement videos are used as input for analysis.</a:t>
            </a: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-&gt; The videos contain different body movements relevant to sports activity.</a:t>
            </a: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-&gt; The processed data is used for movement and risk analysis.</a:t>
            </a:r>
          </a:p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</a:rPr>
              <a:t>Pose Estimation:</a:t>
            </a: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-&gt;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</a:rPr>
              <a:t>MediaPipe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 Pose is used to detect human body landmarks.</a:t>
            </a: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-&gt; Body landmarks provide the position of important body parts.</a:t>
            </a: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-&gt; These landmarks are used to calculate movement-related measurements.</a:t>
            </a:r>
          </a:p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-&gt; OpenCV is used for video processing</a:t>
            </a:r>
            <a:endParaRPr lang="en-IN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C9B9A-A996-7D00-5336-9772FEEC2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865" y="3532237"/>
            <a:ext cx="7182463" cy="541265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"/>
          <p:cNvSpPr txBox="1"/>
          <p:nvPr/>
        </p:nvSpPr>
        <p:spPr>
          <a:xfrm>
            <a:off x="221226" y="1017640"/>
            <a:ext cx="1719354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7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Movement Analysis &amp; Risk prediction:</a:t>
            </a:r>
            <a:endParaRPr sz="7200" dirty="0">
              <a:solidFill>
                <a:srgbClr val="00B0F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FD8699-9A1C-505A-5B8B-5DBFC54C0D5E}"/>
              </a:ext>
            </a:extLst>
          </p:cNvPr>
          <p:cNvSpPr txBox="1"/>
          <p:nvPr/>
        </p:nvSpPr>
        <p:spPr>
          <a:xfrm>
            <a:off x="427703" y="3627106"/>
            <a:ext cx="948321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Movement Analysis:</a:t>
            </a:r>
          </a:p>
          <a:p>
            <a:r>
              <a:rPr lang="en-US" sz="2800" dirty="0">
                <a:solidFill>
                  <a:schemeClr val="bg1"/>
                </a:solidFill>
              </a:rPr>
              <a:t>-&gt;Extract body landmarks from each video frame.</a:t>
            </a:r>
          </a:p>
          <a:p>
            <a:r>
              <a:rPr lang="en-US" sz="2800" dirty="0">
                <a:solidFill>
                  <a:schemeClr val="bg1"/>
                </a:solidFill>
              </a:rPr>
              <a:t>-&gt;Calculate important joint angles.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-&gt;Analyze movement patterns and posture.</a:t>
            </a:r>
          </a:p>
          <a:p>
            <a:r>
              <a:rPr lang="en-US" sz="2800" dirty="0">
                <a:solidFill>
                  <a:schemeClr val="bg1"/>
                </a:solidFill>
              </a:rPr>
              <a:t>-&gt;Identify abnormal or risky movement patterns.</a:t>
            </a:r>
          </a:p>
          <a:p>
            <a:r>
              <a:rPr lang="en-US" sz="3600" dirty="0">
                <a:solidFill>
                  <a:schemeClr val="bg1"/>
                </a:solidFill>
              </a:rPr>
              <a:t>Risk Prediction:</a:t>
            </a:r>
          </a:p>
          <a:p>
            <a:r>
              <a:rPr lang="en-US" sz="2800" dirty="0">
                <a:solidFill>
                  <a:schemeClr val="bg1"/>
                </a:solidFill>
              </a:rPr>
              <a:t>-&gt;The analyzed movement data is passed to the risk module.</a:t>
            </a:r>
          </a:p>
          <a:p>
            <a:r>
              <a:rPr lang="en-US" sz="2800" dirty="0">
                <a:solidFill>
                  <a:schemeClr val="bg1"/>
                </a:solidFill>
              </a:rPr>
              <a:t>-&gt;The system identifies potential injury-risk factors.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-&gt;Results are presented in an easy-to-understand format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795C9-02FE-5F37-1782-E5E8192D4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046" y="3731344"/>
            <a:ext cx="5604577" cy="519211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223E01-C1DF-FBA8-EF11-BACFE6E584DA}"/>
              </a:ext>
            </a:extLst>
          </p:cNvPr>
          <p:cNvSpPr txBox="1"/>
          <p:nvPr/>
        </p:nvSpPr>
        <p:spPr>
          <a:xfrm>
            <a:off x="309716" y="375120"/>
            <a:ext cx="146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Project Screens/Working Demo: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996A5-0B12-376D-68F7-2F9198821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97" y="2322869"/>
            <a:ext cx="3082413" cy="22860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5F4C8E-6665-4578-0FA6-A4948972E47D}"/>
              </a:ext>
            </a:extLst>
          </p:cNvPr>
          <p:cNvSpPr txBox="1"/>
          <p:nvPr/>
        </p:nvSpPr>
        <p:spPr>
          <a:xfrm>
            <a:off x="4188541" y="2952585"/>
            <a:ext cx="9925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</a:rPr>
              <a:t>=&gt;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E88B81-0C25-0C2C-DF03-A8238EC33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080" y="2322869"/>
            <a:ext cx="2330246" cy="24039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C7CB31-A80B-ABC1-2E13-682BA7729FDA}"/>
              </a:ext>
            </a:extLst>
          </p:cNvPr>
          <p:cNvSpPr txBox="1"/>
          <p:nvPr/>
        </p:nvSpPr>
        <p:spPr>
          <a:xfrm>
            <a:off x="8415454" y="2955493"/>
            <a:ext cx="1297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</a:rPr>
              <a:t>=&gt;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75EBB4-FAE6-7C06-6ABB-9D93853C4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235" y="2315496"/>
            <a:ext cx="2717875" cy="24039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F5A8C0-00AE-2870-A063-7AE324737D68}"/>
              </a:ext>
            </a:extLst>
          </p:cNvPr>
          <p:cNvSpPr txBox="1"/>
          <p:nvPr/>
        </p:nvSpPr>
        <p:spPr>
          <a:xfrm>
            <a:off x="13421033" y="3055824"/>
            <a:ext cx="1356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</a:rPr>
              <a:t>=&gt;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454779-1673-2710-AF15-9818C0A6A1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08611" y="2212257"/>
            <a:ext cx="2727221" cy="26104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33F81E-D6DE-C7ED-1C97-38DDAA591D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397" y="6479904"/>
            <a:ext cx="3156388" cy="29684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1D18B56-E69A-FC4A-65B1-94D8634C5204}"/>
              </a:ext>
            </a:extLst>
          </p:cNvPr>
          <p:cNvSpPr txBox="1"/>
          <p:nvPr/>
        </p:nvSpPr>
        <p:spPr>
          <a:xfrm>
            <a:off x="4188541" y="7211961"/>
            <a:ext cx="992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</a:rPr>
              <a:t>=&gt;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F8E56AA-326D-AB26-24A0-7B423234E3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8073" y="6479904"/>
            <a:ext cx="2880374" cy="30098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AE1076F-AF5D-36E0-023F-08F5E28AB0E6}"/>
              </a:ext>
            </a:extLst>
          </p:cNvPr>
          <p:cNvSpPr txBox="1"/>
          <p:nvPr/>
        </p:nvSpPr>
        <p:spPr>
          <a:xfrm>
            <a:off x="8538140" y="7315201"/>
            <a:ext cx="1211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</a:rPr>
              <a:t>=&gt;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84F0E1D-6A7D-217D-7513-C4EFAF8F2A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43735" y="6479904"/>
            <a:ext cx="2891189" cy="30098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1179B17-3951-3E0B-BCB9-76EB676F6CB5}"/>
              </a:ext>
            </a:extLst>
          </p:cNvPr>
          <p:cNvSpPr txBox="1"/>
          <p:nvPr/>
        </p:nvSpPr>
        <p:spPr>
          <a:xfrm>
            <a:off x="13228800" y="7315201"/>
            <a:ext cx="16813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solidFill>
                  <a:schemeClr val="bg1"/>
                </a:solidFill>
              </a:rPr>
              <a:t>=&gt;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AC0D94A-DCAA-9D11-F720-B16BF858B7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94027" y="6632808"/>
            <a:ext cx="3156388" cy="28838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0B2702-F0C6-1B55-F700-827E2EC57CFD}"/>
              </a:ext>
            </a:extLst>
          </p:cNvPr>
          <p:cNvSpPr txBox="1"/>
          <p:nvPr/>
        </p:nvSpPr>
        <p:spPr>
          <a:xfrm>
            <a:off x="280219" y="988142"/>
            <a:ext cx="13465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Results &amp; Generated Reports: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C84A4-666C-B53F-80AA-8E2D1CB47FFB}"/>
              </a:ext>
            </a:extLst>
          </p:cNvPr>
          <p:cNvSpPr txBox="1"/>
          <p:nvPr/>
        </p:nvSpPr>
        <p:spPr>
          <a:xfrm>
            <a:off x="280219" y="2987802"/>
            <a:ext cx="1050085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Successfully implemented the user registration and login system.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Video upload and processing workflow is working.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Pose landmarks are generated using </a:t>
            </a:r>
            <a:r>
              <a:rPr lang="en-US" sz="3600" dirty="0" err="1">
                <a:solidFill>
                  <a:schemeClr val="bg1"/>
                </a:solidFill>
              </a:rPr>
              <a:t>MediaPipe</a:t>
            </a:r>
            <a:r>
              <a:rPr lang="en-US" sz="3600" dirty="0">
                <a:solidFill>
                  <a:schemeClr val="bg1"/>
                </a:solidFill>
              </a:rPr>
              <a:t>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Movement analysis results are generated from the detected landmarks.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Risk prediction results are displayed to the user.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Reports are generated based on the analysis results.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566B6-640A-B01D-0072-79E6FF051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772" y="3480619"/>
            <a:ext cx="6518787" cy="474898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9A8D15-1F45-37E5-C1D2-D6D908CC6104}"/>
              </a:ext>
            </a:extLst>
          </p:cNvPr>
          <p:cNvSpPr txBox="1"/>
          <p:nvPr/>
        </p:nvSpPr>
        <p:spPr>
          <a:xfrm>
            <a:off x="258098" y="1398368"/>
            <a:ext cx="5501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Conclusion: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B0C46-5B38-7BF6-1C91-87DB66663C58}"/>
              </a:ext>
            </a:extLst>
          </p:cNvPr>
          <p:cNvSpPr txBox="1"/>
          <p:nvPr/>
        </p:nvSpPr>
        <p:spPr>
          <a:xfrm>
            <a:off x="206478" y="3256321"/>
            <a:ext cx="1110553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The project demonstrates how AI and computer vision can be used for sports movement analysis.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 err="1">
                <a:solidFill>
                  <a:schemeClr val="bg1"/>
                </a:solidFill>
              </a:rPr>
              <a:t>MediaPipe</a:t>
            </a:r>
            <a:r>
              <a:rPr lang="en-US" sz="3600" dirty="0">
                <a:solidFill>
                  <a:schemeClr val="bg1"/>
                </a:solidFill>
              </a:rPr>
              <a:t> helps detect body landmarks from sports videos.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The detected movements can be analyzed to identify potential injury-risk factors.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The system combines video processing, pose estimation, movement analysis and risk prediction.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The project provides a foundation for intelligent sports injury prevention.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16F37-C758-D302-1BA3-9D2CA9158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014" y="3728269"/>
            <a:ext cx="6575015" cy="43833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C787D2-C593-DF6D-B4BB-47CD5BFC5331}"/>
              </a:ext>
            </a:extLst>
          </p:cNvPr>
          <p:cNvSpPr txBox="1"/>
          <p:nvPr/>
        </p:nvSpPr>
        <p:spPr>
          <a:xfrm>
            <a:off x="471948" y="1942853"/>
            <a:ext cx="7787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rgbClr val="00B0F0"/>
                </a:solidFill>
                <a:latin typeface="Arial Rounded MT Bold" panose="020F0704030504030204" pitchFamily="34" charset="0"/>
              </a:rPr>
              <a:t>Future Scope: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E83AA-A928-9327-AF50-24CFD555CB0E}"/>
              </a:ext>
            </a:extLst>
          </p:cNvPr>
          <p:cNvSpPr txBox="1"/>
          <p:nvPr/>
        </p:nvSpPr>
        <p:spPr>
          <a:xfrm>
            <a:off x="471948" y="3819832"/>
            <a:ext cx="121674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Improve prediction accuracy using larger and more diverse datasets.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Support more sports and different types of movements.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Improve the risk-prediction model using machine learning.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Add real-time camera-based movement analysis.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Provide more detailed athlete performance analytics.</a:t>
            </a:r>
          </a:p>
          <a:p>
            <a:r>
              <a:rPr lang="en-US" sz="36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sz="3600" dirty="0">
                <a:solidFill>
                  <a:schemeClr val="bg1"/>
                </a:solidFill>
              </a:rPr>
              <a:t>Develop a mobile or cloud-based version in the future.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FF9750-AB3A-8FD3-2A1B-0CB7EB32E91B}"/>
              </a:ext>
            </a:extLst>
          </p:cNvPr>
          <p:cNvSpPr txBox="1"/>
          <p:nvPr/>
        </p:nvSpPr>
        <p:spPr>
          <a:xfrm>
            <a:off x="4719484" y="3805083"/>
            <a:ext cx="131408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0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Microsoft Office PowerPoint</Application>
  <PresentationFormat>Custom</PresentationFormat>
  <Paragraphs>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Rounded MT Bold</vt:lpstr>
      <vt:lpstr>Calibri</vt:lpstr>
      <vt:lpstr>Algerian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GOPIKA DESAMSETTI</dc:creator>
  <cp:lastModifiedBy>GOPIKA DESAMSETTI</cp:lastModifiedBy>
  <cp:revision>1</cp:revision>
  <dcterms:created xsi:type="dcterms:W3CDTF">2006-08-16T00:00:00Z</dcterms:created>
  <dcterms:modified xsi:type="dcterms:W3CDTF">2026-08-17T09:12:52Z</dcterms:modified>
</cp:coreProperties>
</file>